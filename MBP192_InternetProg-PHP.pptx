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3"/>
  </p:notesMasterIdLst>
  <p:sldIdLst>
    <p:sldId id="300" r:id="rId2"/>
    <p:sldId id="277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23" r:id="rId11"/>
    <p:sldId id="295" r:id="rId12"/>
    <p:sldId id="325" r:id="rId13"/>
    <p:sldId id="297" r:id="rId14"/>
    <p:sldId id="347" r:id="rId15"/>
    <p:sldId id="348" r:id="rId16"/>
    <p:sldId id="298" r:id="rId17"/>
    <p:sldId id="299" r:id="rId18"/>
    <p:sldId id="326" r:id="rId19"/>
    <p:sldId id="327" r:id="rId20"/>
    <p:sldId id="324" r:id="rId21"/>
    <p:sldId id="328" r:id="rId22"/>
    <p:sldId id="332" r:id="rId23"/>
    <p:sldId id="341" r:id="rId24"/>
    <p:sldId id="329" r:id="rId25"/>
    <p:sldId id="333" r:id="rId26"/>
    <p:sldId id="331" r:id="rId27"/>
    <p:sldId id="334" r:id="rId28"/>
    <p:sldId id="335" r:id="rId29"/>
    <p:sldId id="336" r:id="rId30"/>
    <p:sldId id="337" r:id="rId31"/>
    <p:sldId id="338" r:id="rId32"/>
    <p:sldId id="339" r:id="rId33"/>
    <p:sldId id="342" r:id="rId34"/>
    <p:sldId id="340" r:id="rId35"/>
    <p:sldId id="343" r:id="rId36"/>
    <p:sldId id="344" r:id="rId37"/>
    <p:sldId id="345" r:id="rId38"/>
    <p:sldId id="346" r:id="rId39"/>
    <p:sldId id="349" r:id="rId40"/>
    <p:sldId id="330" r:id="rId41"/>
    <p:sldId id="296" r:id="rId42"/>
  </p:sldIdLst>
  <p:sldSz cx="9144000" cy="6858000" type="screen4x3"/>
  <p:notesSz cx="6858000" cy="9144000"/>
  <p:defaultTextStyle>
    <a:defPPr>
      <a:defRPr lang="tr-T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5ADC7D-A98C-46F0-97F9-D36673ACC048}">
          <p14:sldIdLst>
            <p14:sldId id="300"/>
            <p14:sldId id="277"/>
            <p14:sldId id="301"/>
            <p14:sldId id="302"/>
            <p14:sldId id="303"/>
            <p14:sldId id="304"/>
            <p14:sldId id="305"/>
            <p14:sldId id="306"/>
            <p14:sldId id="307"/>
            <p14:sldId id="323"/>
          </p14:sldIdLst>
        </p14:section>
        <p14:section name="PHP" id="{86299DF3-6C76-480D-81E7-2E6D67302A55}">
          <p14:sldIdLst>
            <p14:sldId id="295"/>
            <p14:sldId id="325"/>
            <p14:sldId id="297"/>
            <p14:sldId id="347"/>
            <p14:sldId id="348"/>
            <p14:sldId id="298"/>
            <p14:sldId id="299"/>
            <p14:sldId id="326"/>
            <p14:sldId id="327"/>
            <p14:sldId id="324"/>
            <p14:sldId id="328"/>
            <p14:sldId id="332"/>
            <p14:sldId id="341"/>
            <p14:sldId id="329"/>
            <p14:sldId id="333"/>
            <p14:sldId id="331"/>
            <p14:sldId id="334"/>
            <p14:sldId id="335"/>
            <p14:sldId id="336"/>
            <p14:sldId id="337"/>
            <p14:sldId id="338"/>
            <p14:sldId id="339"/>
            <p14:sldId id="342"/>
            <p14:sldId id="340"/>
            <p14:sldId id="343"/>
            <p14:sldId id="344"/>
            <p14:sldId id="345"/>
            <p14:sldId id="346"/>
            <p14:sldId id="349"/>
            <p14:sldId id="330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147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72718-A7A1-441B-92EE-52AB5A57D098}" type="datetimeFigureOut">
              <a:rPr lang="tr-TR" smtClean="0"/>
              <a:t>24.02.2026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015CA-0535-4196-B2E9-ADF59506902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8330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015CA-0535-4196-B2E9-ADF595069020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5968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E221E4AF-2403-8C3A-C05C-75359A9DE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3" name="Line 40">
            <a:extLst>
              <a:ext uri="{FF2B5EF4-FFF2-40B4-BE49-F238E27FC236}">
                <a16:creationId xmlns:a16="http://schemas.microsoft.com/office/drawing/2014/main" id="{E9E9DE81-9BC6-1F70-8A95-F63530228A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tr-TR" altLang="en-US" noProof="0"/>
              <a:t>Click to edit Master title style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tr-TR" altLang="en-US" noProof="0"/>
              <a:t>Click to edit Master subtitle style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37DE09-09D1-A12C-0BE7-D784972161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496EAD-23A3-AE76-DDCF-B17FAED296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737AC37-AA7B-536E-CFC1-1E071F9D94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99C005-2252-4D91-A870-DC350F15EDD9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  <p:pic>
        <p:nvPicPr>
          <p:cNvPr id="1026" name="Picture 2" descr="PHP logo PNG">
            <a:extLst>
              <a:ext uri="{FF2B5EF4-FFF2-40B4-BE49-F238E27FC236}">
                <a16:creationId xmlns:a16="http://schemas.microsoft.com/office/drawing/2014/main" id="{32FFDC25-812C-6D0B-D427-75DCED1DB0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810" y="3392171"/>
            <a:ext cx="1675553" cy="167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39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41C00-FD51-D964-C06A-007FF7ED9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A47BF-B04C-C8AA-97B3-432F36D1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64DB5-AA18-3A98-6A57-4ACF1898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E76B57-1749-484A-BC30-43D176F9D50D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864907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47AB4-20D8-5BDF-D2EC-442E08DA7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FA3D3-46AB-804C-5198-95416FD68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0336A-805F-5ABC-9A51-7A50271A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5FC94F7-A0AE-4E96-A679-1DD2EA013B42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7110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DF938-720F-5505-BC9F-DCCCE240D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F8393-DDE7-6D05-436E-0C386F112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F7435-455E-5D77-838F-AF0E6942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6F56FD2-7595-4018-8F18-DCE15FFDB08C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9372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E5D91D-E05F-B872-1836-38E458D63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CBA85D-DF49-0039-BF00-2A205D9E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3991B4-B697-1FB2-C26E-9CE44371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5E22D41-3B2A-46A0-852A-5E39E51C087C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63506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83AAD-4411-9CDD-9F8D-E24491FA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6545F-8241-8233-0DF0-EC1B5F13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159B3-90A1-39EF-6641-AFF840E72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222A9E6-ABA4-432A-A7CC-69D592EEE659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810265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8A0463-882E-6B9D-5B28-DDE0D097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7E507C-358B-0631-B53F-D9FEC4D4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8A1A7-50B7-9543-057C-CA7F907C9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1AC9E5A-6918-48B3-A5F8-1CBE2A004D66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89034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58C73-1DE5-38B0-AA4C-A3CCAC0B9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FA23A-D96D-1B2B-3139-4E08D3A3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356A7-D10A-3EC9-CBB6-99EFD37CC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1F9D9B3-D101-425F-8527-D210206DC283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980297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4D0AA-AB10-3FD1-AEED-091098394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C66FE-D3AB-02AB-AAE0-3B32A3A3F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A00D3-B9F9-BD07-08F8-4ED2EC333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DE363C8-47ED-4AA3-BD4A-E4B3DA000185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82203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84E96-1FD3-D4C5-A38C-18E03291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F2F4F-103B-9AEC-E2F1-5633A82C1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43B1A-D148-F416-DA46-4CD53FDBC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FB8BC8C-4400-4021-95D1-4F718D8078A6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93786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295A3-205C-13EB-A45D-B3F22AE0B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445C-7C89-E84D-8A78-45D443367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435E6-055A-BCA4-29EB-F15F07D8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389DCDB-510D-491B-B179-55541A2E4CFB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892361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pPr lvl="0"/>
            <a:endParaRPr lang="tr-T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44C9D-B8DA-4345-A5AA-C2B5B88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51F46-260F-4835-21DA-1A89C617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52C59-0C39-BDAB-91EC-1086BC1B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B1C8322-D6B7-46FC-8ECA-2025FA20BE6D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016267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1F392488-DC08-F8CA-EE30-F2B197DC7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E123801-03F9-3247-DA45-651BA23C2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/>
              <a:t>Click to edit Master text styles</a:t>
            </a:r>
          </a:p>
          <a:p>
            <a:pPr lvl="1"/>
            <a:r>
              <a:rPr lang="tr-TR" altLang="en-US"/>
              <a:t>Second level</a:t>
            </a:r>
          </a:p>
          <a:p>
            <a:pPr lvl="2"/>
            <a:r>
              <a:rPr lang="tr-TR" altLang="en-US"/>
              <a:t>Third level</a:t>
            </a:r>
          </a:p>
          <a:p>
            <a:pPr lvl="3"/>
            <a:r>
              <a:rPr lang="tr-TR" altLang="en-US"/>
              <a:t>Fourth level</a:t>
            </a:r>
          </a:p>
          <a:p>
            <a:pPr lvl="4"/>
            <a:r>
              <a:rPr lang="tr-TR" altLang="en-US"/>
              <a:t>Fifth level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0520A8E-BB7F-CE91-1C1D-D087A0BEC3E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E55E42D-118F-546E-D66B-F1371E3A3A8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endParaRPr lang="tr-TR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8DCC78BC-5158-ECC0-2DA9-0E647691069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ACBB69AA-FD98-4EA7-A8C4-45EF88C0AB01}" type="slidenum">
              <a:rPr lang="tr-TR" altLang="en-US"/>
              <a:pPr>
                <a:defRPr/>
              </a:pPr>
              <a:t>‹#›</a:t>
            </a:fld>
            <a:endParaRPr lang="tr-T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AABD07D-09E6-E0BC-749E-4C04BD6A3F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4584">
            <a:off x="7722122" y="375970"/>
            <a:ext cx="1344807" cy="725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tr.wikipedia.org/wiki/%C4%B0%C5%9Faretleme_dili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hp/online-compiler/" TargetMode="External"/><Relationship Id="rId2" Type="http://schemas.openxmlformats.org/officeDocument/2006/relationships/hyperlink" Target="https://www.w3schools.com/php/phptryit.asp?filename=tryphp_compil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necompiler.com/php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p.net/manual/en/function.settype.php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php.net/manual/en/function.intval.php" TargetMode="Externa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WG70T7fePg" TargetMode="External"/><Relationship Id="rId2" Type="http://schemas.openxmlformats.org/officeDocument/2006/relationships/hyperlink" Target="https://htmlcheatsheet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lexboxfroggy.com/#tr" TargetMode="External"/><Relationship Id="rId4" Type="http://schemas.openxmlformats.org/officeDocument/2006/relationships/hyperlink" Target="https://css-trick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C61D-E1BD-D22B-AEDF-8ACD444473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HTML </a:t>
            </a:r>
            <a:r>
              <a:rPr lang="en-US" sz="4000" dirty="0"/>
              <a:t>/</a:t>
            </a:r>
            <a:r>
              <a:rPr lang="en-US" sz="4400" dirty="0"/>
              <a:t> CSS – DUYARLI(RESPONSİVE) TASARIM</a:t>
            </a:r>
            <a:endParaRPr lang="tr-TR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B5925-4CD9-3AFD-9A7A-1697A235D0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tr-TR" sz="2800" dirty="0"/>
              <a:t>HTML ve CSS Temelleri</a:t>
            </a:r>
            <a:endParaRPr lang="en-US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tr-TR" sz="2800" dirty="0"/>
              <a:t>Duyarlı (</a:t>
            </a:r>
            <a:r>
              <a:rPr lang="tr-TR" sz="2800" dirty="0" err="1"/>
              <a:t>Responsive</a:t>
            </a:r>
            <a:r>
              <a:rPr lang="tr-TR" sz="2800" dirty="0"/>
              <a:t>) Tasarım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1F044-DDA2-E98D-6624-3A8CBE09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0B4907-0757-4FB1-AC4C-D0B974A19098}" type="slidenum">
              <a:rPr lang="tr-TR" altLang="en-US" smtClean="0"/>
              <a:pPr>
                <a:defRPr/>
              </a:pPr>
              <a:t>1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552885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5DA7E2A-17FE-EC65-EF16-F5AA2A061B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sz="3200" dirty="0"/>
              <a:t>HTML – Hyper Text Markup Language </a:t>
            </a:r>
            <a:r>
              <a:rPr lang="en-US" altLang="tr-TR" sz="3200" b="0" dirty="0"/>
              <a:t>(Yüksek Metin </a:t>
            </a:r>
            <a:r>
              <a:rPr lang="en-US" altLang="tr-TR" sz="3200" b="0" dirty="0" err="1"/>
              <a:t>İşaretleme</a:t>
            </a:r>
            <a:r>
              <a:rPr lang="en-US" altLang="tr-TR" sz="3200" b="0" dirty="0"/>
              <a:t> Dili) </a:t>
            </a:r>
            <a:endParaRPr lang="tr-TR" altLang="tr-TR" sz="3200" b="0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3E09069-21A9-F7AE-A44C-2F71B294F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HTML, </a:t>
            </a:r>
            <a:r>
              <a:rPr lang="tr-TR" dirty="0"/>
              <a:t>web sayfalarını oluşturmak için kullanılan standart </a:t>
            </a:r>
            <a:r>
              <a:rPr lang="tr-TR" dirty="0">
                <a:hlinkClick r:id="rId2"/>
              </a:rPr>
              <a:t>metin işaretleme dilidir</a:t>
            </a:r>
            <a:r>
              <a:rPr lang="en-US" dirty="0"/>
              <a:t>.</a:t>
            </a:r>
          </a:p>
          <a:p>
            <a:pPr eaLnBrk="1" hangingPunct="1"/>
            <a:r>
              <a:rPr lang="en-US" dirty="0"/>
              <a:t>Web </a:t>
            </a:r>
            <a:r>
              <a:rPr lang="en-US" dirty="0" err="1"/>
              <a:t>sitelerinin</a:t>
            </a:r>
            <a:r>
              <a:rPr lang="en-US" dirty="0"/>
              <a:t> </a:t>
            </a:r>
            <a:r>
              <a:rPr lang="en-US" dirty="0" err="1"/>
              <a:t>şekillendirilmesinde</a:t>
            </a:r>
            <a:r>
              <a:rPr lang="en-US" dirty="0"/>
              <a:t>, </a:t>
            </a:r>
            <a:r>
              <a:rPr lang="en-US" dirty="0" err="1"/>
              <a:t>içerik</a:t>
            </a:r>
            <a:r>
              <a:rPr lang="en-US" dirty="0"/>
              <a:t> </a:t>
            </a:r>
            <a:r>
              <a:rPr lang="en-US" dirty="0" err="1"/>
              <a:t>düzenleme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yapılandırma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pPr eaLnBrk="1" hangingPunct="1"/>
            <a:r>
              <a:rPr lang="tr-TR" dirty="0"/>
              <a:t>HTML dosyasının uzantısı </a:t>
            </a:r>
            <a:r>
              <a:rPr lang="en-US" dirty="0"/>
              <a:t>*.</a:t>
            </a:r>
            <a:r>
              <a:rPr lang="tr-TR" b="1" dirty="0" err="1"/>
              <a:t>htm</a:t>
            </a:r>
            <a:r>
              <a:rPr lang="tr-TR" b="1" dirty="0"/>
              <a:t> </a:t>
            </a:r>
            <a:r>
              <a:rPr lang="tr-TR" dirty="0"/>
              <a:t>veya </a:t>
            </a:r>
            <a:r>
              <a:rPr lang="en-US" dirty="0"/>
              <a:t>*.</a:t>
            </a:r>
            <a:r>
              <a:rPr lang="tr-TR" b="1" dirty="0"/>
              <a:t>html </a:t>
            </a:r>
            <a:r>
              <a:rPr lang="tr-TR" dirty="0"/>
              <a:t>olmak zorundadır</a:t>
            </a:r>
            <a:r>
              <a:rPr lang="en-US" dirty="0"/>
              <a:t> </a:t>
            </a:r>
            <a:r>
              <a:rPr lang="en-US" sz="1600" dirty="0"/>
              <a:t>(</a:t>
            </a:r>
            <a:r>
              <a:rPr lang="en-US" sz="1600" dirty="0" err="1"/>
              <a:t>farklı</a:t>
            </a:r>
            <a:r>
              <a:rPr lang="en-US" sz="1600" dirty="0"/>
              <a:t> </a:t>
            </a:r>
            <a:r>
              <a:rPr lang="en-US" sz="1600" dirty="0" err="1"/>
              <a:t>amaçlar</a:t>
            </a:r>
            <a:r>
              <a:rPr lang="en-US" sz="1600" dirty="0"/>
              <a:t> </a:t>
            </a:r>
            <a:r>
              <a:rPr lang="en-US" sz="1600" dirty="0" err="1"/>
              <a:t>ile</a:t>
            </a:r>
            <a:r>
              <a:rPr lang="en-US" sz="1600" dirty="0"/>
              <a:t> framework </a:t>
            </a:r>
            <a:r>
              <a:rPr lang="en-US" sz="1600" dirty="0" err="1"/>
              <a:t>veya</a:t>
            </a:r>
            <a:r>
              <a:rPr lang="en-US" sz="1600" dirty="0"/>
              <a:t> </a:t>
            </a:r>
            <a:r>
              <a:rPr lang="en-US" sz="1600" dirty="0" err="1"/>
              <a:t>uygulamaya</a:t>
            </a:r>
            <a:r>
              <a:rPr lang="en-US" sz="1600" dirty="0"/>
              <a:t> </a:t>
            </a:r>
            <a:r>
              <a:rPr lang="en-US" sz="1600" dirty="0" err="1"/>
              <a:t>özel</a:t>
            </a:r>
            <a:r>
              <a:rPr lang="en-US" sz="1600" dirty="0"/>
              <a:t> </a:t>
            </a:r>
            <a:r>
              <a:rPr lang="en-US" sz="1600" dirty="0" err="1"/>
              <a:t>dosya</a:t>
            </a:r>
            <a:r>
              <a:rPr lang="en-US" sz="1600" dirty="0"/>
              <a:t> tipi </a:t>
            </a:r>
            <a:r>
              <a:rPr lang="en-US" sz="1600" dirty="0" err="1"/>
              <a:t>kullanılmadıkça</a:t>
            </a:r>
            <a:r>
              <a:rPr lang="en-US" sz="1600" dirty="0"/>
              <a:t>).</a:t>
            </a:r>
            <a:endParaRPr lang="tr-TR" altLang="tr-TR" dirty="0"/>
          </a:p>
        </p:txBody>
      </p:sp>
      <p:sp>
        <p:nvSpPr>
          <p:cNvPr id="3076" name="Line 4">
            <a:extLst>
              <a:ext uri="{FF2B5EF4-FFF2-40B4-BE49-F238E27FC236}">
                <a16:creationId xmlns:a16="http://schemas.microsoft.com/office/drawing/2014/main" id="{8D28E940-2E72-EFB8-5F9E-21BE3B36CA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1557338"/>
            <a:ext cx="7775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F5E95E-B9E2-DA25-AA16-8825C329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2</a:t>
            </a:fld>
            <a:endParaRPr lang="tr-T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6CC4-5529-BC26-6FBD-D575D0D4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</a:t>
            </a:r>
            <a:r>
              <a:rPr lang="en-US" dirty="0" err="1"/>
              <a:t>Sayfası</a:t>
            </a:r>
            <a:r>
              <a:rPr lang="en-US" dirty="0"/>
              <a:t> Temel </a:t>
            </a:r>
            <a:r>
              <a:rPr lang="en-US" dirty="0" err="1"/>
              <a:t>Yapısı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F2594-1208-E961-3F13-52D5AE64A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sz="2800" dirty="0">
                <a:latin typeface="Consolas" panose="020B0609020204030204" pitchFamily="49" charset="0"/>
              </a:rPr>
              <a:t>&lt;!DOCTYPE Html&gt;</a:t>
            </a:r>
          </a:p>
          <a:p>
            <a:pPr marL="0" indent="0">
              <a:buNone/>
            </a:pPr>
            <a:r>
              <a:rPr lang="tr-TR" sz="2800" dirty="0">
                <a:latin typeface="Consolas" panose="020B0609020204030204" pitchFamily="49" charset="0"/>
              </a:rPr>
              <a:t>&lt;html&gt;</a:t>
            </a:r>
          </a:p>
          <a:p>
            <a:pPr marL="349250" lvl="1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&lt;</a:t>
            </a:r>
            <a:r>
              <a:rPr lang="tr-TR" sz="2400" dirty="0" err="1">
                <a:latin typeface="Consolas" panose="020B0609020204030204" pitchFamily="49" charset="0"/>
              </a:rPr>
              <a:t>head</a:t>
            </a:r>
            <a:r>
              <a:rPr lang="tr-TR" sz="2400" dirty="0">
                <a:latin typeface="Consolas" panose="020B0609020204030204" pitchFamily="49" charset="0"/>
              </a:rPr>
              <a:t>&gt;</a:t>
            </a:r>
          </a:p>
          <a:p>
            <a:pPr marL="349250" lvl="1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tr-TR" sz="2400" dirty="0">
                <a:latin typeface="Consolas" panose="020B0609020204030204" pitchFamily="49" charset="0"/>
              </a:rPr>
              <a:t>&lt;</a:t>
            </a:r>
            <a:r>
              <a:rPr lang="tr-TR" sz="2400" dirty="0" err="1">
                <a:latin typeface="Consolas" panose="020B0609020204030204" pitchFamily="49" charset="0"/>
              </a:rPr>
              <a:t>title</a:t>
            </a:r>
            <a:r>
              <a:rPr lang="tr-TR" sz="2400" dirty="0">
                <a:latin typeface="Consolas" panose="020B0609020204030204" pitchFamily="49" charset="0"/>
              </a:rPr>
              <a:t>&gt; Benim Sayfam &lt;/</a:t>
            </a:r>
            <a:r>
              <a:rPr lang="tr-TR" sz="2400" dirty="0" err="1">
                <a:latin typeface="Consolas" panose="020B0609020204030204" pitchFamily="49" charset="0"/>
              </a:rPr>
              <a:t>title</a:t>
            </a:r>
            <a:r>
              <a:rPr lang="tr-TR" sz="2400" dirty="0">
                <a:latin typeface="Consolas" panose="020B0609020204030204" pitchFamily="49" charset="0"/>
              </a:rPr>
              <a:t>&gt;</a:t>
            </a:r>
            <a:endParaRPr lang="en-US" sz="2400" dirty="0">
              <a:latin typeface="Consolas" panose="020B0609020204030204" pitchFamily="49" charset="0"/>
            </a:endParaRPr>
          </a:p>
          <a:p>
            <a:pPr marL="349250" lvl="1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tr-TR" sz="2400" dirty="0">
                <a:latin typeface="Consolas" panose="020B0609020204030204" pitchFamily="49" charset="0"/>
              </a:rPr>
              <a:t>&lt;meta </a:t>
            </a:r>
            <a:r>
              <a:rPr lang="tr-TR" sz="2400" dirty="0" err="1">
                <a:latin typeface="Consolas" panose="020B0609020204030204" pitchFamily="49" charset="0"/>
              </a:rPr>
              <a:t>charset</a:t>
            </a:r>
            <a:r>
              <a:rPr lang="tr-TR" sz="2400" dirty="0">
                <a:latin typeface="Consolas" panose="020B0609020204030204" pitchFamily="49" charset="0"/>
              </a:rPr>
              <a:t>=”UTF-8”&gt;</a:t>
            </a:r>
          </a:p>
          <a:p>
            <a:pPr marL="349250" lvl="1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&lt;/</a:t>
            </a:r>
            <a:r>
              <a:rPr lang="tr-TR" sz="2400" dirty="0" err="1">
                <a:latin typeface="Consolas" panose="020B0609020204030204" pitchFamily="49" charset="0"/>
              </a:rPr>
              <a:t>head</a:t>
            </a:r>
            <a:r>
              <a:rPr lang="tr-TR" sz="2400" dirty="0">
                <a:latin typeface="Consolas" panose="020B0609020204030204" pitchFamily="49" charset="0"/>
              </a:rPr>
              <a:t>&gt;</a:t>
            </a:r>
          </a:p>
          <a:p>
            <a:pPr marL="349250" lvl="1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&lt;body&gt;</a:t>
            </a:r>
          </a:p>
          <a:p>
            <a:pPr marL="349250" lvl="1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&lt;h1&gt;</a:t>
            </a:r>
            <a:r>
              <a:rPr lang="tr-TR" sz="2400" dirty="0">
                <a:latin typeface="Consolas" panose="020B0609020204030204" pitchFamily="49" charset="0"/>
              </a:rPr>
              <a:t>Sayfama Hoş geldiniz!</a:t>
            </a:r>
            <a:r>
              <a:rPr lang="en-US" sz="2400" dirty="0">
                <a:latin typeface="Consolas" panose="020B0609020204030204" pitchFamily="49" charset="0"/>
              </a:rPr>
              <a:t>&lt;/h1&gt;</a:t>
            </a:r>
            <a:endParaRPr lang="tr-TR" sz="2400" dirty="0">
              <a:latin typeface="Consolas" panose="020B0609020204030204" pitchFamily="49" charset="0"/>
            </a:endParaRPr>
          </a:p>
          <a:p>
            <a:pPr marL="349250" lvl="1" indent="0">
              <a:buNone/>
            </a:pPr>
            <a:r>
              <a:rPr lang="tr-TR" sz="2400" dirty="0">
                <a:latin typeface="Consolas" panose="020B0609020204030204" pitchFamily="49" charset="0"/>
              </a:rPr>
              <a:t>&lt;/body&gt;</a:t>
            </a:r>
          </a:p>
          <a:p>
            <a:pPr marL="0" indent="0">
              <a:buNone/>
            </a:pPr>
            <a:r>
              <a:rPr lang="tr-TR" sz="2800" dirty="0">
                <a:latin typeface="Consolas" panose="020B0609020204030204" pitchFamily="49" charset="0"/>
              </a:rPr>
              <a:t>&lt;/html&gt;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C25F6-6338-311C-BA2F-ABEB4E58F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3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953682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F4AC0-DBDB-09A0-EE62-A9785941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Etiketleri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6C335-93AB-5CA5-58E5-DC9706699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tr-TR" b="1" dirty="0"/>
              <a:t>Başlık etiketleri:</a:t>
            </a:r>
            <a:r>
              <a:rPr lang="en-US" b="1" dirty="0"/>
              <a:t> </a:t>
            </a:r>
            <a:r>
              <a:rPr lang="tr-TR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&lt;h1&gt;</a:t>
            </a:r>
            <a:r>
              <a:rPr lang="tr-TR" b="1" i="1" dirty="0">
                <a:solidFill>
                  <a:srgbClr val="0070C0"/>
                </a:solidFill>
              </a:rPr>
              <a:t> </a:t>
            </a:r>
            <a:r>
              <a:rPr lang="tr-TR" dirty="0"/>
              <a:t>ve </a:t>
            </a:r>
            <a:r>
              <a:rPr lang="tr-TR" sz="2600" i="1" dirty="0">
                <a:solidFill>
                  <a:srgbClr val="0070C0"/>
                </a:solidFill>
              </a:rPr>
              <a:t>&lt;h6&gt; </a:t>
            </a:r>
            <a:r>
              <a:rPr lang="tr-TR" dirty="0"/>
              <a:t>dâhil olmak üzere aradaki tüm rakamlar kullanılarak tanımlanabilir</a:t>
            </a:r>
            <a:endParaRPr lang="en-US" dirty="0"/>
          </a:p>
          <a:p>
            <a:r>
              <a:rPr lang="tr-TR" b="1" dirty="0"/>
              <a:t>Paragraf etiketi:</a:t>
            </a:r>
            <a:r>
              <a:rPr lang="en-US" b="1" dirty="0"/>
              <a:t> </a:t>
            </a:r>
            <a:r>
              <a:rPr lang="pt-BR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&lt;p&gt; Bu bir paragraf &lt;/p&gt;</a:t>
            </a:r>
          </a:p>
          <a:p>
            <a:r>
              <a:rPr lang="tr-TR" b="1" dirty="0"/>
              <a:t>Satır etiketi :</a:t>
            </a:r>
            <a:r>
              <a:rPr lang="en-US" b="1" dirty="0"/>
              <a:t> </a:t>
            </a:r>
            <a:r>
              <a:rPr lang="tr-TR" dirty="0"/>
              <a:t>Satır</a:t>
            </a:r>
            <a:r>
              <a:rPr lang="en-US" dirty="0"/>
              <a:t> </a:t>
            </a:r>
            <a:r>
              <a:rPr lang="tr-TR" dirty="0"/>
              <a:t>atlama etiketi </a:t>
            </a:r>
            <a:r>
              <a:rPr lang="tr-TR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tr-TR" sz="2600" i="1" dirty="0" err="1">
                <a:solidFill>
                  <a:srgbClr val="0070C0"/>
                </a:solidFill>
                <a:latin typeface="Consolas" panose="020B0609020204030204" pitchFamily="49" charset="0"/>
              </a:rPr>
              <a:t>br</a:t>
            </a:r>
            <a:r>
              <a:rPr lang="tr-TR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  <a:r>
              <a:rPr lang="en-US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/>
              <a:t>veya</a:t>
            </a:r>
            <a:r>
              <a:rPr lang="en-US" i="1" dirty="0"/>
              <a:t> </a:t>
            </a:r>
            <a:r>
              <a:rPr lang="tr-TR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tr-TR" sz="2600" i="1" dirty="0" err="1">
                <a:solidFill>
                  <a:srgbClr val="0070C0"/>
                </a:solidFill>
                <a:latin typeface="Consolas" panose="020B0609020204030204" pitchFamily="49" charset="0"/>
              </a:rPr>
              <a:t>br</a:t>
            </a:r>
            <a:r>
              <a:rPr lang="tr-TR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/&gt; </a:t>
            </a:r>
            <a:r>
              <a:rPr lang="tr-TR" dirty="0"/>
              <a:t>etiketidir, bu etiketin bitiş etiketi yoktur.</a:t>
            </a:r>
            <a:endParaRPr lang="en-US" dirty="0"/>
          </a:p>
          <a:p>
            <a:r>
              <a:rPr lang="tr-TR" b="1" dirty="0"/>
              <a:t>Yorum etiketi:</a:t>
            </a:r>
            <a:r>
              <a:rPr lang="en-US" b="1" dirty="0"/>
              <a:t> </a:t>
            </a:r>
            <a:r>
              <a:rPr lang="tr-TR" sz="2600" i="1" dirty="0">
                <a:solidFill>
                  <a:srgbClr val="0070C0"/>
                </a:solidFill>
                <a:latin typeface="Consolas" panose="020B0609020204030204" pitchFamily="49" charset="0"/>
              </a:rPr>
              <a:t>&lt;!-- Bu bir açıklama -- &gt;</a:t>
            </a:r>
            <a:endParaRPr lang="en-US" sz="2600" i="1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tr-TR" b="1" dirty="0"/>
              <a:t>HTML Links – </a:t>
            </a:r>
            <a:r>
              <a:rPr lang="tr-TR" b="1" dirty="0" err="1"/>
              <a:t>Hyperlinks</a:t>
            </a:r>
            <a:r>
              <a:rPr lang="en-US" b="1" dirty="0"/>
              <a:t>: </a:t>
            </a:r>
            <a:r>
              <a:rPr lang="en-US" dirty="0"/>
              <a:t>Html </a:t>
            </a:r>
            <a:r>
              <a:rPr lang="en-US" dirty="0" err="1"/>
              <a:t>sayfalarında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sayfaya</a:t>
            </a:r>
            <a:r>
              <a:rPr lang="en-US" dirty="0"/>
              <a:t>, </a:t>
            </a:r>
            <a:r>
              <a:rPr lang="en-US" dirty="0" err="1"/>
              <a:t>içeriğe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adresine</a:t>
            </a:r>
            <a:r>
              <a:rPr lang="en-US" dirty="0"/>
              <a:t> </a:t>
            </a:r>
            <a:r>
              <a:rPr lang="en-US" dirty="0" err="1"/>
              <a:t>bağlantı</a:t>
            </a:r>
            <a:r>
              <a:rPr lang="en-US" dirty="0"/>
              <a:t> </a:t>
            </a:r>
            <a:r>
              <a:rPr lang="en-US" dirty="0" err="1"/>
              <a:t>oluşturabiliriz</a:t>
            </a:r>
            <a:endParaRPr lang="en-US" dirty="0"/>
          </a:p>
          <a:p>
            <a:pPr lvl="1"/>
            <a:r>
              <a:rPr lang="tr-TR" sz="2800" b="1" i="1" dirty="0" err="1"/>
              <a:t>href</a:t>
            </a:r>
            <a:r>
              <a:rPr lang="tr-TR" sz="2800" b="1" i="1" dirty="0"/>
              <a:t>: </a:t>
            </a:r>
            <a:r>
              <a:rPr lang="tr-TR" sz="2800" i="1" dirty="0"/>
              <a:t>Hangi bağlantıya gideceğini burada belirtiriz.</a:t>
            </a:r>
          </a:p>
          <a:p>
            <a:pPr lvl="1"/>
            <a:r>
              <a:rPr lang="tr-TR" sz="2800" b="1" i="1" dirty="0" err="1"/>
              <a:t>target</a:t>
            </a:r>
            <a:r>
              <a:rPr lang="tr-TR" sz="2800" b="1" i="1" dirty="0"/>
              <a:t>: </a:t>
            </a:r>
            <a:r>
              <a:rPr lang="tr-TR" sz="2800" i="1" dirty="0"/>
              <a:t>Sayfanın nerede açılacağını burada belirtiriz. Örneğin </a:t>
            </a:r>
            <a:r>
              <a:rPr lang="tr-TR" sz="2800" i="1" dirty="0" err="1"/>
              <a:t>target</a:t>
            </a:r>
            <a:r>
              <a:rPr lang="tr-TR" sz="2800" i="1" dirty="0"/>
              <a:t>="_</a:t>
            </a:r>
            <a:r>
              <a:rPr lang="tr-TR" sz="2800" i="1" dirty="0" err="1"/>
              <a:t>blank</a:t>
            </a:r>
            <a:r>
              <a:rPr lang="tr-TR" sz="2800" i="1" dirty="0"/>
              <a:t>" Bağlantıyı yeni bir</a:t>
            </a:r>
            <a:r>
              <a:rPr lang="en-US" sz="2800" i="1" dirty="0"/>
              <a:t> </a:t>
            </a:r>
            <a:r>
              <a:rPr lang="tr-TR" sz="2800" i="1" dirty="0"/>
              <a:t>pencerede açar.</a:t>
            </a:r>
            <a:endParaRPr lang="en-US" sz="2800" i="1" dirty="0"/>
          </a:p>
          <a:p>
            <a:pPr lvl="2"/>
            <a:r>
              <a:rPr lang="pt-BR" sz="2400" dirty="0">
                <a:solidFill>
                  <a:srgbClr val="0070C0"/>
                </a:solidFill>
                <a:latin typeface="Consolas" panose="020B0609020204030204" pitchFamily="49" charset="0"/>
              </a:rPr>
              <a:t>&lt;a href=”images.html” &gt; FOTOĞRAFLAR &lt;/a&gt; </a:t>
            </a:r>
            <a:r>
              <a:rPr lang="tr-TR" i="1" dirty="0"/>
              <a:t>yazıya tıkayınca </a:t>
            </a:r>
            <a:r>
              <a:rPr lang="tr-TR" b="1" i="1" dirty="0"/>
              <a:t>images.html </a:t>
            </a:r>
            <a:r>
              <a:rPr lang="tr-TR" i="1" dirty="0"/>
              <a:t>sayfası açılacak</a:t>
            </a:r>
            <a:r>
              <a:rPr lang="en-US" i="1" dirty="0"/>
              <a:t>: </a:t>
            </a:r>
          </a:p>
          <a:p>
            <a:pPr lvl="2"/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&lt;a 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href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=” https://www.google.com” &gt; Google &lt;/a&gt; </a:t>
            </a:r>
            <a:r>
              <a:rPr lang="en-US" i="1" dirty="0" err="1"/>
              <a:t>yazıya</a:t>
            </a:r>
            <a:r>
              <a:rPr lang="en-US" i="1" dirty="0"/>
              <a:t> </a:t>
            </a:r>
            <a:r>
              <a:rPr lang="en-US" i="1" dirty="0" err="1"/>
              <a:t>tıkayınca</a:t>
            </a:r>
            <a:r>
              <a:rPr lang="en-US" i="1" dirty="0"/>
              <a:t> </a:t>
            </a:r>
            <a:r>
              <a:rPr lang="en-US" i="1" dirty="0" err="1"/>
              <a:t>ilgili</a:t>
            </a:r>
            <a:r>
              <a:rPr lang="en-US" i="1" dirty="0"/>
              <a:t> web </a:t>
            </a:r>
            <a:r>
              <a:rPr lang="en-US" i="1" dirty="0" err="1"/>
              <a:t>adresi</a:t>
            </a:r>
            <a:r>
              <a:rPr lang="en-US" i="1" dirty="0"/>
              <a:t> </a:t>
            </a:r>
            <a:r>
              <a:rPr lang="en-US" i="1" dirty="0" err="1"/>
              <a:t>açılacak</a:t>
            </a:r>
            <a:r>
              <a:rPr lang="en-US" i="1" dirty="0"/>
              <a:t>.</a:t>
            </a:r>
          </a:p>
          <a:p>
            <a:r>
              <a:rPr lang="en-US" b="1" dirty="0" err="1"/>
              <a:t>Resimler</a:t>
            </a:r>
            <a:r>
              <a:rPr lang="en-US" b="1" dirty="0"/>
              <a:t>: 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img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src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=“images/basketball.jpeg” alt=“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basketbol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”&gt;</a:t>
            </a:r>
          </a:p>
          <a:p>
            <a:pPr lvl="1"/>
            <a:endParaRPr lang="tr-TR" b="1" dirty="0"/>
          </a:p>
          <a:p>
            <a:endParaRPr lang="en-US" dirty="0"/>
          </a:p>
          <a:p>
            <a:endParaRPr lang="tr-T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610C34-0A90-A30A-7C7A-2D0904A94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4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57146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65A79-C573-7888-BA9D-F540CDE68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Etiketleri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12648-6A20-987A-DABD-4C3180A2C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4114800" cy="44116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tr-TR" b="1" dirty="0"/>
              <a:t>LİSTELER:</a:t>
            </a:r>
            <a:endParaRPr lang="en-US" b="1" dirty="0"/>
          </a:p>
          <a:p>
            <a:pPr lvl="1"/>
            <a:r>
              <a:rPr lang="tr-TR" b="1" dirty="0"/>
              <a:t>Sırasız Listeler</a:t>
            </a:r>
            <a:r>
              <a:rPr lang="tr-TR" dirty="0"/>
              <a:t>: Sırasız bir liste maddelerden oluşur.</a:t>
            </a:r>
            <a:r>
              <a:rPr lang="en-US" dirty="0"/>
              <a:t> 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&lt;ul&gt; &lt;li&gt;…&lt;/li&gt;&lt;li&gt;…&lt;/li&gt;&lt;/ul&gt;</a:t>
            </a:r>
          </a:p>
          <a:p>
            <a:pPr lvl="1"/>
            <a:r>
              <a:rPr lang="tr-TR" b="1" dirty="0"/>
              <a:t>Sıralı Listeler: </a:t>
            </a:r>
            <a:r>
              <a:rPr lang="tr-TR" dirty="0"/>
              <a:t>Maddeler rakamlar, roma rakamları veya harfler ile listelenir</a:t>
            </a:r>
            <a:r>
              <a:rPr lang="en-US" dirty="0"/>
              <a:t>. 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1900" dirty="0" err="1">
                <a:solidFill>
                  <a:srgbClr val="FF0000"/>
                </a:solidFill>
                <a:latin typeface="Consolas" panose="020B0609020204030204" pitchFamily="49" charset="0"/>
              </a:rPr>
              <a:t>ol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&gt; &lt;li&gt;…&lt;/li&gt;&lt;li&gt;…&lt;/li&gt;&lt;/</a:t>
            </a:r>
            <a:r>
              <a:rPr lang="en-US" sz="1900" dirty="0" err="1">
                <a:solidFill>
                  <a:srgbClr val="FF0000"/>
                </a:solidFill>
                <a:latin typeface="Consolas" panose="020B0609020204030204" pitchFamily="49" charset="0"/>
              </a:rPr>
              <a:t>ol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F2AEC-B687-DDE7-81B8-65E7348C2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916832"/>
            <a:ext cx="2676899" cy="1390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7A074B-E4C2-19E5-83D2-3A91D5250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077" y="2197193"/>
            <a:ext cx="1276528" cy="1076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CCD095-A738-6921-27D6-9FBA4AC12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171" y="3931897"/>
            <a:ext cx="2241755" cy="11089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8B3BF6-CFE4-0C03-9995-20507AE9C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867" y="4122569"/>
            <a:ext cx="1428949" cy="9907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602B7C-B8F6-0B54-266A-52E2A349E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4" y="5445224"/>
            <a:ext cx="1800476" cy="10097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C3E796-488F-07DE-E1FB-82DEDA96F6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817" y="5602948"/>
            <a:ext cx="1476581" cy="981212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C03D954-2D57-D374-2DC3-94932E5E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5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95464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93561-CB4D-4DBE-06C3-4B246A515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AE6B67-4D35-824D-FAFA-9760B297F65A}"/>
              </a:ext>
            </a:extLst>
          </p:cNvPr>
          <p:cNvSpPr txBox="1"/>
          <p:nvPr/>
        </p:nvSpPr>
        <p:spPr>
          <a:xfrm>
            <a:off x="4716016" y="476672"/>
            <a:ext cx="461132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table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 </a:t>
            </a:r>
            <a:r>
              <a:rPr lang="tr-TR" sz="1600" b="0" i="0" u="none" strike="noStrike" baseline="0" dirty="0" err="1">
                <a:solidFill>
                  <a:srgbClr val="CE3131"/>
                </a:solidFill>
                <a:latin typeface="SegoeUI"/>
              </a:rPr>
              <a:t>border</a:t>
            </a:r>
            <a:r>
              <a:rPr lang="tr-TR" sz="1600" b="0" i="0" u="none" strike="noStrike" baseline="0" dirty="0">
                <a:solidFill>
                  <a:srgbClr val="000000"/>
                </a:solidFill>
                <a:latin typeface="SegoeUI"/>
              </a:rPr>
              <a:t>=</a:t>
            </a:r>
            <a:r>
              <a:rPr lang="tr-TR" sz="1600" b="0" i="0" u="none" strike="noStrike" baseline="0" dirty="0">
                <a:solidFill>
                  <a:srgbClr val="0000FF"/>
                </a:solidFill>
                <a:latin typeface="SegoeUI"/>
              </a:rPr>
              <a:t>"2"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thead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&lt;tr&gt;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  <a:r>
              <a:rPr lang="en-US" sz="1600" dirty="0" err="1">
                <a:solidFill>
                  <a:srgbClr val="000000"/>
                </a:solidFill>
                <a:latin typeface="SegoeUI"/>
              </a:rPr>
              <a:t>İsim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SegoeUI"/>
              </a:rPr>
              <a:t>Ödev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SegoeUI"/>
              </a:rPr>
              <a:t>Proje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  <a:endParaRPr lang="en-US" sz="1600" b="0" i="0" u="none" strike="noStrike" baseline="0" dirty="0">
              <a:solidFill>
                <a:srgbClr val="810000"/>
              </a:solidFill>
              <a:latin typeface="SegoeUI"/>
            </a:endParaRPr>
          </a:p>
          <a:p>
            <a:pPr lvl="1"/>
            <a:r>
              <a:rPr lang="tr-TR" sz="160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SegoeUI"/>
              </a:rPr>
              <a:t>Vize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</a:t>
            </a:r>
            <a:endParaRPr lang="en-US" sz="1600" dirty="0">
              <a:solidFill>
                <a:srgbClr val="810000"/>
              </a:solidFill>
              <a:latin typeface="SegoeUI"/>
            </a:endParaRPr>
          </a:p>
          <a:p>
            <a:pPr lvl="1"/>
            <a:r>
              <a:rPr lang="tr-TR" sz="160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SegoeUI"/>
              </a:rPr>
              <a:t>Final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th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</a:t>
            </a:r>
            <a:endParaRPr lang="tr-TR" sz="1600" b="0" i="0" u="none" strike="noStrike" baseline="0" dirty="0">
              <a:solidFill>
                <a:srgbClr val="810000"/>
              </a:solidFill>
              <a:latin typeface="SegoeUI"/>
            </a:endParaRP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&lt;/tr&gt;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thead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tbody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2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&lt;tr&gt;</a:t>
            </a:r>
          </a:p>
          <a:p>
            <a:pPr lvl="2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SegoeUI"/>
              </a:rPr>
              <a:t>Volkan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2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 </a:t>
            </a:r>
            <a:r>
              <a:rPr lang="en-US" sz="1600" dirty="0">
                <a:solidFill>
                  <a:srgbClr val="000000"/>
                </a:solidFill>
                <a:latin typeface="SegoeUI"/>
              </a:rPr>
              <a:t>5</a:t>
            </a:r>
            <a:r>
              <a:rPr lang="tr-TR" sz="1600" b="0" i="0" u="none" strike="noStrike" baseline="0" dirty="0">
                <a:solidFill>
                  <a:srgbClr val="000000"/>
                </a:solidFill>
                <a:latin typeface="SegoeUI"/>
              </a:rPr>
              <a:t>0 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lvl="2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SegoeUI"/>
              </a:rPr>
              <a:t>90</a:t>
            </a:r>
            <a:r>
              <a:rPr lang="tr-TR" sz="1600" b="0" i="0" u="none" strike="noStrike" baseline="0" dirty="0">
                <a:solidFill>
                  <a:srgbClr val="000000"/>
                </a:solidFill>
                <a:latin typeface="SegoeUI"/>
              </a:rPr>
              <a:t> 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  <a:endParaRPr lang="en-US" sz="1600" b="0" i="0" u="none" strike="noStrike" baseline="0" dirty="0">
              <a:solidFill>
                <a:srgbClr val="810000"/>
              </a:solidFill>
              <a:latin typeface="SegoeUI"/>
            </a:endParaRPr>
          </a:p>
          <a:p>
            <a:pPr lvl="2"/>
            <a:r>
              <a:rPr lang="tr-TR" sz="160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 </a:t>
            </a:r>
            <a:r>
              <a:rPr lang="en-US" sz="1600" dirty="0">
                <a:solidFill>
                  <a:srgbClr val="000000"/>
                </a:solidFill>
                <a:latin typeface="SegoeUI"/>
              </a:rPr>
              <a:t>80</a:t>
            </a:r>
            <a:r>
              <a:rPr lang="tr-TR" sz="1600" dirty="0">
                <a:solidFill>
                  <a:srgbClr val="000000"/>
                </a:solidFill>
                <a:latin typeface="SegoeUI"/>
              </a:rPr>
              <a:t> 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</a:t>
            </a:r>
            <a:endParaRPr lang="en-US" sz="1600" b="0" i="0" u="none" strike="noStrike" baseline="0" dirty="0">
              <a:solidFill>
                <a:srgbClr val="810000"/>
              </a:solidFill>
              <a:latin typeface="SegoeUI"/>
            </a:endParaRPr>
          </a:p>
          <a:p>
            <a:pPr lvl="2"/>
            <a:r>
              <a:rPr lang="tr-TR" sz="1600" dirty="0">
                <a:solidFill>
                  <a:srgbClr val="810000"/>
                </a:solidFill>
                <a:latin typeface="SegoeUI"/>
              </a:rPr>
              <a:t>&lt;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 </a:t>
            </a:r>
            <a:r>
              <a:rPr lang="en-US" sz="1600" dirty="0">
                <a:solidFill>
                  <a:srgbClr val="000000"/>
                </a:solidFill>
                <a:latin typeface="SegoeUI"/>
              </a:rPr>
              <a:t>100</a:t>
            </a:r>
            <a:r>
              <a:rPr lang="tr-TR" sz="1600" dirty="0">
                <a:solidFill>
                  <a:srgbClr val="000000"/>
                </a:solidFill>
                <a:latin typeface="SegoeUI"/>
              </a:rPr>
              <a:t> 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dirty="0" err="1">
                <a:solidFill>
                  <a:srgbClr val="810000"/>
                </a:solidFill>
                <a:latin typeface="SegoeUI"/>
              </a:rPr>
              <a:t>td</a:t>
            </a:r>
            <a:r>
              <a:rPr lang="tr-TR" sz="1600" dirty="0">
                <a:solidFill>
                  <a:srgbClr val="810000"/>
                </a:solidFill>
                <a:latin typeface="SegoeUI"/>
              </a:rPr>
              <a:t>&gt;</a:t>
            </a:r>
            <a:endParaRPr lang="tr-TR" sz="1600" b="0" i="0" u="none" strike="noStrike" baseline="0" dirty="0">
              <a:solidFill>
                <a:srgbClr val="810000"/>
              </a:solidFill>
              <a:latin typeface="SegoeUI"/>
            </a:endParaRPr>
          </a:p>
          <a:p>
            <a:pPr lvl="2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&lt;/tr&gt;</a:t>
            </a:r>
          </a:p>
          <a:p>
            <a:pPr lvl="1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tbody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</a:p>
          <a:p>
            <a:pPr algn="l"/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&lt;/</a:t>
            </a:r>
            <a:r>
              <a:rPr lang="tr-TR" sz="1600" b="0" i="0" u="none" strike="noStrike" baseline="0" dirty="0" err="1">
                <a:solidFill>
                  <a:srgbClr val="810000"/>
                </a:solidFill>
                <a:latin typeface="SegoeUI"/>
              </a:rPr>
              <a:t>table</a:t>
            </a:r>
            <a:r>
              <a:rPr lang="tr-TR" sz="1600" b="0" i="0" u="none" strike="noStrike" baseline="0" dirty="0">
                <a:solidFill>
                  <a:srgbClr val="810000"/>
                </a:solidFill>
                <a:latin typeface="SegoeUI"/>
              </a:rPr>
              <a:t>&gt;</a:t>
            </a:r>
            <a:endParaRPr lang="tr-TR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ED3AE-D17D-8C59-D0A9-E613D914D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Etiketleri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99FC9-48C6-C6F5-DE5F-0CC3D831B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4114800" cy="441166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tr-TR" b="1" dirty="0"/>
              <a:t>TABLOLAR:</a:t>
            </a:r>
            <a:endParaRPr lang="en-US" b="1" dirty="0"/>
          </a:p>
          <a:p>
            <a:r>
              <a:rPr lang="tr-TR" sz="3200" b="1" i="1" dirty="0"/>
              <a:t>&lt;</a:t>
            </a:r>
            <a:r>
              <a:rPr lang="tr-TR" sz="3200" b="1" i="1" dirty="0" err="1"/>
              <a:t>table</a:t>
            </a:r>
            <a:r>
              <a:rPr lang="tr-TR" sz="3200" b="1" i="1" dirty="0"/>
              <a:t>&gt; </a:t>
            </a:r>
            <a:r>
              <a:rPr lang="tr-TR" sz="3200" i="1" dirty="0"/>
              <a:t>Tablonun başlangıç ve bitiş etiketidir.</a:t>
            </a:r>
          </a:p>
          <a:p>
            <a:r>
              <a:rPr lang="tr-TR" sz="3200" b="1" i="1" dirty="0"/>
              <a:t>&lt;tr&gt; </a:t>
            </a:r>
            <a:r>
              <a:rPr lang="tr-TR" sz="3200" i="1" dirty="0"/>
              <a:t>Tablo satırı ekleme etiketidir.</a:t>
            </a:r>
          </a:p>
          <a:p>
            <a:r>
              <a:rPr lang="tr-TR" sz="3200" b="1" i="1" dirty="0"/>
              <a:t>&lt;</a:t>
            </a:r>
            <a:r>
              <a:rPr lang="tr-TR" sz="3200" b="1" i="1" dirty="0" err="1"/>
              <a:t>td</a:t>
            </a:r>
            <a:r>
              <a:rPr lang="tr-TR" sz="3200" b="1" i="1" dirty="0"/>
              <a:t>&gt; </a:t>
            </a:r>
            <a:r>
              <a:rPr lang="tr-TR" sz="3200" i="1" dirty="0"/>
              <a:t>Tablo veri hücresi ekleme etiketidir. Sütun ekleme olarak da düşünebiliriz.</a:t>
            </a:r>
          </a:p>
          <a:p>
            <a:r>
              <a:rPr lang="tr-TR" sz="3200" b="1" i="1" dirty="0"/>
              <a:t>&lt;</a:t>
            </a:r>
            <a:r>
              <a:rPr lang="tr-TR" sz="3200" b="1" i="1" dirty="0" err="1"/>
              <a:t>th</a:t>
            </a:r>
            <a:r>
              <a:rPr lang="tr-TR" sz="3200" b="1" i="1" dirty="0"/>
              <a:t>&gt; </a:t>
            </a:r>
            <a:r>
              <a:rPr lang="tr-TR" sz="3200" i="1" dirty="0"/>
              <a:t>Tablo başlığı ekleme etiketidir.</a:t>
            </a:r>
          </a:p>
          <a:p>
            <a:r>
              <a:rPr lang="tr-TR" sz="3200" b="1" i="1" dirty="0"/>
              <a:t>&lt;</a:t>
            </a:r>
            <a:r>
              <a:rPr lang="tr-TR" sz="3200" b="1" i="1" dirty="0" err="1"/>
              <a:t>thead</a:t>
            </a:r>
            <a:r>
              <a:rPr lang="tr-TR" sz="3200" b="1" i="1" dirty="0"/>
              <a:t>&gt; </a:t>
            </a:r>
            <a:r>
              <a:rPr lang="tr-TR" sz="3200" i="1" dirty="0"/>
              <a:t>Tablo başlığını belirgin hale getirmek için kullanılır. Görünüşe etkisi yoktur.</a:t>
            </a:r>
          </a:p>
          <a:p>
            <a:r>
              <a:rPr lang="tr-TR" sz="3200" b="1" i="1" dirty="0"/>
              <a:t>&lt;</a:t>
            </a:r>
            <a:r>
              <a:rPr lang="tr-TR" sz="3200" b="1" i="1" dirty="0" err="1"/>
              <a:t>tbody</a:t>
            </a:r>
            <a:r>
              <a:rPr lang="tr-TR" sz="3200" b="1" i="1" dirty="0"/>
              <a:t>&gt; </a:t>
            </a:r>
            <a:r>
              <a:rPr lang="tr-TR" sz="3200" i="1" dirty="0"/>
              <a:t>Tablo gövdesini belirgin hale getirmek için kullanılır. Görünüşe etkisi yoktur.</a:t>
            </a:r>
            <a:endParaRPr lang="tr-T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91F64D-3FE2-4C81-FB7A-AA3D482F5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42" y="5673661"/>
            <a:ext cx="7659169" cy="914528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FF6C37E-71E4-FA51-8923-B65CE5BE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6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533509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991EE-9D92-99B0-1521-F157471C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DB391-A16C-E2A1-7389-7AF448229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Etiketleri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12607-200E-14B7-72FD-09ECD6FB0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4114800" cy="441166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tr-TR" b="1" dirty="0"/>
              <a:t>FORMLAR</a:t>
            </a:r>
            <a:r>
              <a:rPr lang="tr-TR" dirty="0"/>
              <a:t>:</a:t>
            </a:r>
            <a:endParaRPr lang="en-US" dirty="0"/>
          </a:p>
          <a:p>
            <a:r>
              <a:rPr lang="tr-TR" sz="3200" b="1" i="1" dirty="0" err="1"/>
              <a:t>input</a:t>
            </a:r>
            <a:r>
              <a:rPr lang="tr-TR" sz="3200" i="1" dirty="0"/>
              <a:t>: Kullanıcının bilgi girişi yapması gereken yerlerde kullanılır.</a:t>
            </a:r>
          </a:p>
          <a:p>
            <a:r>
              <a:rPr lang="tr-TR" sz="3200" b="1" i="1" dirty="0" err="1"/>
              <a:t>type</a:t>
            </a:r>
            <a:r>
              <a:rPr lang="tr-TR" sz="3200" i="1" dirty="0"/>
              <a:t>: Formun türünü belirler.</a:t>
            </a:r>
          </a:p>
          <a:p>
            <a:r>
              <a:rPr lang="tr-TR" sz="3200" b="1" i="1" dirty="0" err="1"/>
              <a:t>text</a:t>
            </a:r>
            <a:r>
              <a:rPr lang="tr-TR" sz="3200" i="1" dirty="0"/>
              <a:t>: Metin girişi yapılması içindir.</a:t>
            </a:r>
          </a:p>
          <a:p>
            <a:r>
              <a:rPr lang="tr-TR" sz="3200" b="1" i="1" dirty="0"/>
              <a:t>name</a:t>
            </a:r>
            <a:r>
              <a:rPr lang="tr-TR" sz="3200" i="1" dirty="0"/>
              <a:t>: Değişken değerini belirler. Her </a:t>
            </a:r>
            <a:r>
              <a:rPr lang="tr-TR" sz="3200" i="1" dirty="0" err="1"/>
              <a:t>input</a:t>
            </a:r>
            <a:r>
              <a:rPr lang="tr-TR" sz="3200" i="1" dirty="0"/>
              <a:t> değeri için farklı isim vermemiz zorunludur.</a:t>
            </a:r>
          </a:p>
          <a:p>
            <a:r>
              <a:rPr lang="tr-TR" sz="3200" b="1" i="1" dirty="0" err="1"/>
              <a:t>value</a:t>
            </a:r>
            <a:r>
              <a:rPr lang="tr-TR" sz="3200" i="1" dirty="0"/>
              <a:t>: </a:t>
            </a:r>
            <a:r>
              <a:rPr lang="tr-TR" sz="3200" i="1" dirty="0" err="1"/>
              <a:t>input</a:t>
            </a:r>
            <a:r>
              <a:rPr lang="tr-TR" sz="3200" i="1" dirty="0"/>
              <a:t> elemanı içerisine varsayılan olarak yazı yazmamızı sağlar</a:t>
            </a:r>
            <a:endParaRPr lang="en-US" sz="3200" i="1" dirty="0"/>
          </a:p>
          <a:p>
            <a:endParaRPr lang="en-US" sz="3200" i="1" dirty="0"/>
          </a:p>
          <a:p>
            <a:pPr marL="0" indent="0">
              <a:buNone/>
            </a:pPr>
            <a:r>
              <a:rPr lang="tr-TR" b="1" dirty="0"/>
              <a:t>Bazı </a:t>
            </a:r>
            <a:r>
              <a:rPr lang="tr-TR" b="1" dirty="0" err="1"/>
              <a:t>input</a:t>
            </a:r>
            <a:r>
              <a:rPr lang="tr-TR" b="1" dirty="0"/>
              <a:t> ve </a:t>
            </a:r>
            <a:r>
              <a:rPr lang="tr-TR" b="1" dirty="0" err="1"/>
              <a:t>textarea</a:t>
            </a:r>
            <a:r>
              <a:rPr lang="tr-TR" b="1" dirty="0"/>
              <a:t> parametreleri:</a:t>
            </a:r>
          </a:p>
          <a:p>
            <a:r>
              <a:rPr lang="tr-TR" b="1" i="1" dirty="0" err="1"/>
              <a:t>autofocus</a:t>
            </a:r>
            <a:r>
              <a:rPr lang="tr-TR" b="1" i="1" dirty="0"/>
              <a:t>: </a:t>
            </a:r>
            <a:r>
              <a:rPr lang="tr-TR" i="1" dirty="0"/>
              <a:t>İlgili metin alanını seçili hale getirir ve böylece görsel olarak öne çıkmasını sağlar.</a:t>
            </a:r>
          </a:p>
          <a:p>
            <a:r>
              <a:rPr lang="tr-TR" b="1" i="1" dirty="0" err="1"/>
              <a:t>disabled</a:t>
            </a:r>
            <a:r>
              <a:rPr lang="tr-TR" b="1" i="1" dirty="0"/>
              <a:t>: </a:t>
            </a:r>
            <a:r>
              <a:rPr lang="tr-TR" i="1" dirty="0"/>
              <a:t>Veri girişini pasif hale getirir.</a:t>
            </a:r>
          </a:p>
          <a:p>
            <a:r>
              <a:rPr lang="tr-TR" b="1" i="1" dirty="0" err="1"/>
              <a:t>readonly</a:t>
            </a:r>
            <a:r>
              <a:rPr lang="tr-TR" b="1" i="1" dirty="0"/>
              <a:t>: </a:t>
            </a:r>
            <a:r>
              <a:rPr lang="tr-TR" i="1" dirty="0"/>
              <a:t>Sadece okunabilir metin gözükür. Bu alanı fare ile seçemeyiz.</a:t>
            </a:r>
          </a:p>
          <a:p>
            <a:r>
              <a:rPr lang="tr-TR" b="1" i="1" dirty="0" err="1"/>
              <a:t>required</a:t>
            </a:r>
            <a:r>
              <a:rPr lang="tr-TR" b="1" i="1" dirty="0"/>
              <a:t>: </a:t>
            </a:r>
            <a:r>
              <a:rPr lang="tr-TR" i="1" dirty="0"/>
              <a:t>Doldurulması zorunlu alanlarda bu parametreyi kullanırız.</a:t>
            </a:r>
            <a:endParaRPr lang="tr-TR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17ED8F-40C4-9044-991F-FA85BEFE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7</a:t>
            </a:fld>
            <a:endParaRPr lang="tr-T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93788-B148-031E-DA56-482BB1E21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2391355"/>
            <a:ext cx="3791479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29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F1380-0645-0178-D02C-7FBE8A82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025C0-A4E8-BF88-7353-33E55FCEF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Etiketleri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0EE29-2E89-1260-BA20-E3E472677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19263"/>
            <a:ext cx="5626968" cy="5016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100" b="1" i="1" dirty="0" err="1">
                <a:latin typeface="+mj-lt"/>
              </a:rPr>
              <a:t>input</a:t>
            </a:r>
            <a:r>
              <a:rPr lang="tr-TR" sz="1100" b="1" i="1" dirty="0">
                <a:latin typeface="+mj-lt"/>
              </a:rPr>
              <a:t> </a:t>
            </a:r>
            <a:r>
              <a:rPr lang="tr-TR" sz="1100" b="1" i="1" dirty="0" err="1">
                <a:latin typeface="+mj-lt"/>
              </a:rPr>
              <a:t>type</a:t>
            </a:r>
            <a:r>
              <a:rPr lang="tr-TR" sz="1100" b="1" i="1" dirty="0">
                <a:latin typeface="+mj-lt"/>
              </a:rPr>
              <a:t> parametresine ait diğer özellikler</a:t>
            </a:r>
            <a:r>
              <a:rPr lang="tr-TR" sz="1100" i="1" dirty="0">
                <a:latin typeface="+mj-lt"/>
              </a:rPr>
              <a:t>:</a:t>
            </a:r>
          </a:p>
          <a:p>
            <a:pPr marL="360363" indent="-92075"/>
            <a:r>
              <a:rPr lang="tr-TR" sz="1200" b="1" i="1" dirty="0" err="1"/>
              <a:t>password</a:t>
            </a:r>
            <a:r>
              <a:rPr lang="tr-TR" sz="1200" b="1" i="1" dirty="0"/>
              <a:t>: </a:t>
            </a:r>
            <a:r>
              <a:rPr lang="tr-TR" sz="1200" i="1" dirty="0"/>
              <a:t>Şifreli alanlarda bu özelliği kullanırız. Karakterler yıldız şeklinde gözükür.</a:t>
            </a:r>
          </a:p>
          <a:p>
            <a:pPr marL="360363" indent="-92075"/>
            <a:r>
              <a:rPr lang="tr-TR" sz="1200" b="1" i="1" dirty="0"/>
              <a:t>reset: </a:t>
            </a:r>
            <a:r>
              <a:rPr lang="tr-TR" sz="1200" i="1" dirty="0"/>
              <a:t>Formdaki girilmiş tüm verileri temizler.</a:t>
            </a:r>
          </a:p>
          <a:p>
            <a:pPr marL="360363" indent="-92075"/>
            <a:r>
              <a:rPr lang="tr-TR" sz="1200" b="1" i="1" dirty="0"/>
              <a:t>file: </a:t>
            </a:r>
            <a:r>
              <a:rPr lang="tr-TR" sz="1200" i="1" dirty="0"/>
              <a:t>Dosya yükleme butonudur. Bu butona tıklayınca bir pencere açılacak, yüklenecek dosya buradan</a:t>
            </a:r>
          </a:p>
          <a:p>
            <a:pPr marL="360363" indent="-92075"/>
            <a:r>
              <a:rPr lang="tr-TR" sz="1200" i="1" dirty="0"/>
              <a:t>seçilecektir.</a:t>
            </a:r>
          </a:p>
          <a:p>
            <a:pPr marL="360363" indent="-92075"/>
            <a:r>
              <a:rPr lang="tr-TR" sz="1200" b="1" i="1" dirty="0" err="1"/>
              <a:t>hidden</a:t>
            </a:r>
            <a:r>
              <a:rPr lang="tr-TR" sz="1200" b="1" i="1" dirty="0"/>
              <a:t>: </a:t>
            </a:r>
            <a:r>
              <a:rPr lang="tr-TR" sz="1200" i="1" dirty="0"/>
              <a:t>Gizlemek istediğimiz kısımlar için bu özelliği kullanırız.</a:t>
            </a:r>
          </a:p>
          <a:p>
            <a:pPr marL="360363" indent="-92075"/>
            <a:r>
              <a:rPr lang="tr-TR" sz="1200" b="1" i="1" dirty="0" err="1"/>
              <a:t>image</a:t>
            </a:r>
            <a:r>
              <a:rPr lang="tr-TR" sz="1200" b="1" i="1" dirty="0"/>
              <a:t>: </a:t>
            </a:r>
            <a:r>
              <a:rPr lang="tr-TR" sz="1200" i="1" dirty="0"/>
              <a:t>Gönder butonu yerine resim koymak için bu özelliği kullanırız.</a:t>
            </a:r>
          </a:p>
          <a:p>
            <a:pPr marL="360363" indent="-92075"/>
            <a:r>
              <a:rPr lang="tr-TR" sz="1200" b="1" i="1" dirty="0"/>
              <a:t>url: </a:t>
            </a:r>
            <a:r>
              <a:rPr lang="tr-TR" sz="1200" i="1" dirty="0"/>
              <a:t>Web adresi girişi için kullanılırız.</a:t>
            </a:r>
          </a:p>
          <a:p>
            <a:pPr marL="360363" indent="-92075"/>
            <a:r>
              <a:rPr lang="tr-TR" sz="1200" b="1" i="1" dirty="0"/>
              <a:t>tel: </a:t>
            </a:r>
            <a:r>
              <a:rPr lang="tr-TR" sz="1200" i="1" dirty="0"/>
              <a:t>Telefon numarası girişi için kullanılırız.</a:t>
            </a:r>
          </a:p>
          <a:p>
            <a:pPr marL="360363" indent="-92075"/>
            <a:r>
              <a:rPr lang="tr-TR" sz="1200" b="1" i="1" dirty="0" err="1"/>
              <a:t>number</a:t>
            </a:r>
            <a:r>
              <a:rPr lang="tr-TR" sz="1200" b="1" i="1" dirty="0"/>
              <a:t>: </a:t>
            </a:r>
            <a:r>
              <a:rPr lang="tr-TR" sz="1200" i="1" dirty="0"/>
              <a:t>Sayı seçimleri için kullanırız. Aşağı yukarı oklar gözükür.</a:t>
            </a:r>
          </a:p>
          <a:p>
            <a:pPr marL="360363" indent="-92075"/>
            <a:r>
              <a:rPr lang="tr-TR" sz="1200" b="1" i="1" dirty="0" err="1"/>
              <a:t>range</a:t>
            </a:r>
            <a:r>
              <a:rPr lang="tr-TR" sz="1200" b="1" i="1" dirty="0"/>
              <a:t>: </a:t>
            </a:r>
            <a:r>
              <a:rPr lang="tr-TR" sz="1200" i="1" dirty="0"/>
              <a:t>Sürgü ile minimum ve </a:t>
            </a:r>
            <a:r>
              <a:rPr lang="tr-TR" sz="1200" i="1" dirty="0" err="1"/>
              <a:t>maximum</a:t>
            </a:r>
            <a:r>
              <a:rPr lang="tr-TR" sz="1200" i="1" dirty="0"/>
              <a:t> değerler seçmek için kullanırız.</a:t>
            </a:r>
          </a:p>
          <a:p>
            <a:pPr marL="360363" indent="-92075"/>
            <a:r>
              <a:rPr lang="tr-TR" sz="1200" b="1" i="1" dirty="0" err="1"/>
              <a:t>color</a:t>
            </a:r>
            <a:r>
              <a:rPr lang="tr-TR" sz="1200" b="1" i="1" dirty="0"/>
              <a:t>: </a:t>
            </a:r>
            <a:r>
              <a:rPr lang="tr-TR" sz="1200" i="1" dirty="0"/>
              <a:t>Renk paletinden renk seçeriz.</a:t>
            </a:r>
          </a:p>
          <a:p>
            <a:pPr marL="360363" indent="-92075"/>
            <a:r>
              <a:rPr lang="tr-TR" sz="1200" b="1" i="1" dirty="0" err="1"/>
              <a:t>search</a:t>
            </a:r>
            <a:r>
              <a:rPr lang="tr-TR" sz="1200" b="1" i="1" dirty="0"/>
              <a:t>: </a:t>
            </a:r>
            <a:r>
              <a:rPr lang="tr-TR" sz="1200" i="1" dirty="0"/>
              <a:t>Arama motoru için bu metin kutusunu kullanırız.</a:t>
            </a:r>
          </a:p>
          <a:p>
            <a:pPr marL="360363" indent="-92075"/>
            <a:r>
              <a:rPr lang="tr-TR" sz="1200" b="1" i="1" dirty="0" err="1"/>
              <a:t>email</a:t>
            </a:r>
            <a:r>
              <a:rPr lang="tr-TR" sz="1200" b="1" i="1" dirty="0"/>
              <a:t>: </a:t>
            </a:r>
            <a:r>
              <a:rPr lang="tr-TR" sz="1200" i="1" dirty="0"/>
              <a:t>Mail adresi girişi için kullanılırız.</a:t>
            </a:r>
          </a:p>
          <a:p>
            <a:pPr marL="360363" indent="-92075"/>
            <a:r>
              <a:rPr lang="tr-TR" sz="1200" b="1" i="1" dirty="0" err="1"/>
              <a:t>date</a:t>
            </a:r>
            <a:r>
              <a:rPr lang="tr-TR" sz="1200" b="1" i="1" dirty="0"/>
              <a:t>: </a:t>
            </a:r>
            <a:r>
              <a:rPr lang="tr-TR" sz="1200" i="1" dirty="0"/>
              <a:t>Gün, ay ve yıl seçmemizi sağlar.</a:t>
            </a:r>
          </a:p>
          <a:p>
            <a:pPr marL="360363" indent="-92075"/>
            <a:r>
              <a:rPr lang="tr-TR" sz="1200" b="1" i="1" dirty="0" err="1"/>
              <a:t>month</a:t>
            </a:r>
            <a:r>
              <a:rPr lang="tr-TR" sz="1200" b="1" i="1" dirty="0"/>
              <a:t>: </a:t>
            </a:r>
            <a:r>
              <a:rPr lang="tr-TR" sz="1200" i="1" dirty="0"/>
              <a:t>Ay seçmemizi sağlar.</a:t>
            </a:r>
          </a:p>
          <a:p>
            <a:pPr marL="360363" indent="-92075"/>
            <a:r>
              <a:rPr lang="tr-TR" sz="1200" b="1" i="1" dirty="0" err="1"/>
              <a:t>week</a:t>
            </a:r>
            <a:r>
              <a:rPr lang="tr-TR" sz="1200" b="1" i="1" dirty="0"/>
              <a:t>: </a:t>
            </a:r>
            <a:r>
              <a:rPr lang="tr-TR" sz="1200" i="1" dirty="0"/>
              <a:t>Hafta seçmemizi sağlar.</a:t>
            </a:r>
          </a:p>
          <a:p>
            <a:pPr marL="360363" indent="-92075"/>
            <a:r>
              <a:rPr lang="tr-TR" sz="1200" b="1" i="1" dirty="0"/>
              <a:t>time: </a:t>
            </a:r>
            <a:r>
              <a:rPr lang="tr-TR" sz="1200" i="1" dirty="0"/>
              <a:t>Saat ve dakika seçmemizi sağlar.</a:t>
            </a:r>
          </a:p>
          <a:p>
            <a:pPr marL="360363" indent="-92075"/>
            <a:r>
              <a:rPr lang="tr-TR" sz="1200" b="1" i="1" dirty="0" err="1"/>
              <a:t>datetime-local</a:t>
            </a:r>
            <a:r>
              <a:rPr lang="tr-TR" sz="1200" b="1" i="1" dirty="0"/>
              <a:t>: </a:t>
            </a:r>
            <a:r>
              <a:rPr lang="tr-TR" sz="1200" i="1" dirty="0"/>
              <a:t>Tek bir seferde gün, ay, yıl, saat ve dakika seçmemizi sağlar.</a:t>
            </a:r>
          </a:p>
          <a:p>
            <a:pPr marL="360363" indent="-92075"/>
            <a:r>
              <a:rPr lang="tr-TR" sz="1200" b="1" i="1" dirty="0" err="1"/>
              <a:t>button</a:t>
            </a:r>
            <a:r>
              <a:rPr lang="tr-TR" sz="1200" b="1" i="1" dirty="0"/>
              <a:t>: </a:t>
            </a:r>
            <a:r>
              <a:rPr lang="tr-TR" sz="1200" i="1" dirty="0"/>
              <a:t>Buton oluşturmak için bu özelliği kullanırız.</a:t>
            </a:r>
            <a:endParaRPr lang="tr-TR" sz="12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28D0BF8-F582-364F-74A1-8779CBA6C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8</a:t>
            </a:fld>
            <a:endParaRPr lang="tr-T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189EED-0886-F893-95FE-07FF99C13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2492896"/>
            <a:ext cx="3791479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05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75F75-251C-AAE5-071B-F55CFDBBB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0F48C8-7B21-A020-8808-316938292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37" y="685148"/>
            <a:ext cx="2742977" cy="19936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B9C67C-BD17-F88D-7D37-F2579D8F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Etiketleri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93DB5-E6DD-A96A-3AE6-BA80AF9D8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14" y="2822563"/>
            <a:ext cx="7543800" cy="4411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</a:rPr>
              <a:t>&lt;form </a:t>
            </a:r>
            <a:r>
              <a:rPr lang="tr-TR" sz="1600" b="1" dirty="0" err="1">
                <a:latin typeface="Consolas" panose="020B0609020204030204" pitchFamily="49" charset="0"/>
              </a:rPr>
              <a:t>action</a:t>
            </a:r>
            <a:r>
              <a:rPr lang="tr-TR" sz="1600" b="1" dirty="0">
                <a:latin typeface="Consolas" panose="020B0609020204030204" pitchFamily="49" charset="0"/>
              </a:rPr>
              <a:t>="/</a:t>
            </a:r>
            <a:r>
              <a:rPr lang="tr-TR" sz="1600" b="1" dirty="0" err="1">
                <a:latin typeface="Consolas" panose="020B0609020204030204" pitchFamily="49" charset="0"/>
              </a:rPr>
              <a:t>action_page.php</a:t>
            </a:r>
            <a:r>
              <a:rPr lang="tr-TR" sz="1600" b="1" dirty="0">
                <a:latin typeface="Consolas" panose="020B0609020204030204" pitchFamily="49" charset="0"/>
              </a:rPr>
              <a:t>"&gt;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</a:rPr>
              <a:t>  &lt;</a:t>
            </a:r>
            <a:r>
              <a:rPr lang="tr-TR" sz="1600" b="1" dirty="0" err="1">
                <a:latin typeface="Consolas" panose="020B0609020204030204" pitchFamily="49" charset="0"/>
              </a:rPr>
              <a:t>label</a:t>
            </a:r>
            <a:r>
              <a:rPr lang="tr-TR" sz="1600" b="1" dirty="0"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latin typeface="Consolas" panose="020B0609020204030204" pitchFamily="49" charset="0"/>
              </a:rPr>
              <a:t>for</a:t>
            </a:r>
            <a:r>
              <a:rPr lang="tr-TR" sz="1600" b="1" dirty="0">
                <a:latin typeface="Consolas" panose="020B0609020204030204" pitchFamily="49" charset="0"/>
              </a:rPr>
              <a:t>=“</a:t>
            </a:r>
            <a:r>
              <a:rPr lang="en-US" sz="1600" b="1" dirty="0">
                <a:latin typeface="Consolas" panose="020B0609020204030204" pitchFamily="49" charset="0"/>
              </a:rPr>
              <a:t>ad</a:t>
            </a:r>
            <a:r>
              <a:rPr lang="tr-TR" sz="1600" b="1" dirty="0">
                <a:latin typeface="Consolas" panose="020B0609020204030204" pitchFamily="49" charset="0"/>
              </a:rPr>
              <a:t>"&gt;</a:t>
            </a:r>
            <a:r>
              <a:rPr lang="en-US" sz="1600" b="1" dirty="0" err="1">
                <a:latin typeface="Consolas" panose="020B0609020204030204" pitchFamily="49" charset="0"/>
              </a:rPr>
              <a:t>İsim</a:t>
            </a:r>
            <a:r>
              <a:rPr lang="tr-TR" sz="1600" b="1" dirty="0">
                <a:latin typeface="Consolas" panose="020B0609020204030204" pitchFamily="49" charset="0"/>
              </a:rPr>
              <a:t>:&lt;/</a:t>
            </a:r>
            <a:r>
              <a:rPr lang="tr-TR" sz="1600" b="1" dirty="0" err="1">
                <a:latin typeface="Consolas" panose="020B0609020204030204" pitchFamily="49" charset="0"/>
              </a:rPr>
              <a:t>label</a:t>
            </a:r>
            <a:r>
              <a:rPr lang="tr-TR" sz="1600" b="1" dirty="0">
                <a:latin typeface="Consolas" panose="020B0609020204030204" pitchFamily="49" charset="0"/>
              </a:rPr>
              <a:t>&gt;&lt;</a:t>
            </a:r>
            <a:r>
              <a:rPr lang="tr-TR" sz="1600" b="1" dirty="0" err="1">
                <a:latin typeface="Consolas" panose="020B0609020204030204" pitchFamily="49" charset="0"/>
              </a:rPr>
              <a:t>br</a:t>
            </a:r>
            <a:r>
              <a:rPr lang="tr-TR" sz="1600" b="1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</a:rPr>
              <a:t>  &lt;</a:t>
            </a:r>
            <a:r>
              <a:rPr lang="tr-TR" sz="1600" b="1" dirty="0" err="1">
                <a:latin typeface="Consolas" panose="020B0609020204030204" pitchFamily="49" charset="0"/>
              </a:rPr>
              <a:t>input</a:t>
            </a:r>
            <a:r>
              <a:rPr lang="tr-TR" sz="1600" b="1" dirty="0"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latin typeface="Consolas" panose="020B0609020204030204" pitchFamily="49" charset="0"/>
              </a:rPr>
              <a:t>type</a:t>
            </a:r>
            <a:r>
              <a:rPr lang="tr-TR" sz="1600" b="1" dirty="0">
                <a:latin typeface="Consolas" panose="020B0609020204030204" pitchFamily="49" charset="0"/>
              </a:rPr>
              <a:t>="</a:t>
            </a:r>
            <a:r>
              <a:rPr lang="tr-TR" sz="1600" b="1" dirty="0" err="1">
                <a:latin typeface="Consolas" panose="020B0609020204030204" pitchFamily="49" charset="0"/>
              </a:rPr>
              <a:t>text</a:t>
            </a:r>
            <a:r>
              <a:rPr lang="tr-TR" sz="1600" b="1" dirty="0">
                <a:latin typeface="Consolas" panose="020B0609020204030204" pitchFamily="49" charset="0"/>
              </a:rPr>
              <a:t>" id=“</a:t>
            </a:r>
            <a:r>
              <a:rPr lang="en-US" sz="1600" b="1" dirty="0">
                <a:latin typeface="Consolas" panose="020B0609020204030204" pitchFamily="49" charset="0"/>
              </a:rPr>
              <a:t>ad</a:t>
            </a:r>
            <a:r>
              <a:rPr lang="tr-TR" sz="1600" b="1" dirty="0">
                <a:latin typeface="Consolas" panose="020B0609020204030204" pitchFamily="49" charset="0"/>
              </a:rPr>
              <a:t>" name=“</a:t>
            </a:r>
            <a:r>
              <a:rPr lang="en-US" sz="1600" b="1" dirty="0">
                <a:latin typeface="Consolas" panose="020B0609020204030204" pitchFamily="49" charset="0"/>
              </a:rPr>
              <a:t>ad</a:t>
            </a:r>
            <a:r>
              <a:rPr lang="tr-TR" sz="1600" b="1" dirty="0">
                <a:latin typeface="Consolas" panose="020B0609020204030204" pitchFamily="49" charset="0"/>
              </a:rPr>
              <a:t>" </a:t>
            </a:r>
            <a:r>
              <a:rPr lang="tr-TR" sz="1600" b="1" dirty="0" err="1">
                <a:latin typeface="Consolas" panose="020B0609020204030204" pitchFamily="49" charset="0"/>
              </a:rPr>
              <a:t>value</a:t>
            </a:r>
            <a:r>
              <a:rPr lang="tr-TR" sz="1600" b="1" dirty="0">
                <a:latin typeface="Consolas" panose="020B0609020204030204" pitchFamily="49" charset="0"/>
              </a:rPr>
              <a:t>="John"&gt;&lt;</a:t>
            </a:r>
            <a:r>
              <a:rPr lang="tr-TR" sz="1600" b="1" dirty="0" err="1">
                <a:latin typeface="Consolas" panose="020B0609020204030204" pitchFamily="49" charset="0"/>
              </a:rPr>
              <a:t>br</a:t>
            </a:r>
            <a:r>
              <a:rPr lang="tr-TR" sz="1600" b="1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</a:rPr>
              <a:t>  &lt;</a:t>
            </a:r>
            <a:r>
              <a:rPr lang="tr-TR" sz="1600" b="1" dirty="0" err="1">
                <a:latin typeface="Consolas" panose="020B0609020204030204" pitchFamily="49" charset="0"/>
              </a:rPr>
              <a:t>label</a:t>
            </a:r>
            <a:r>
              <a:rPr lang="tr-TR" sz="1600" b="1" dirty="0"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latin typeface="Consolas" panose="020B0609020204030204" pitchFamily="49" charset="0"/>
              </a:rPr>
              <a:t>for</a:t>
            </a:r>
            <a:r>
              <a:rPr lang="tr-TR" sz="1600" b="1" dirty="0">
                <a:latin typeface="Consolas" panose="020B0609020204030204" pitchFamily="49" charset="0"/>
              </a:rPr>
              <a:t>=“</a:t>
            </a:r>
            <a:r>
              <a:rPr lang="en-US" sz="1600" b="1" dirty="0" err="1">
                <a:latin typeface="Consolas" panose="020B0609020204030204" pitchFamily="49" charset="0"/>
              </a:rPr>
              <a:t>soyad</a:t>
            </a:r>
            <a:r>
              <a:rPr lang="tr-TR" sz="1600" b="1" dirty="0">
                <a:latin typeface="Consolas" panose="020B0609020204030204" pitchFamily="49" charset="0"/>
              </a:rPr>
              <a:t>"&gt;</a:t>
            </a:r>
            <a:r>
              <a:rPr lang="tr-TR" sz="1600" b="1" dirty="0" err="1">
                <a:latin typeface="Consolas" panose="020B0609020204030204" pitchFamily="49" charset="0"/>
              </a:rPr>
              <a:t>Last</a:t>
            </a:r>
            <a:r>
              <a:rPr lang="tr-TR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Soyad</a:t>
            </a:r>
            <a:r>
              <a:rPr lang="tr-TR" sz="1600" b="1" dirty="0">
                <a:latin typeface="Consolas" panose="020B0609020204030204" pitchFamily="49" charset="0"/>
              </a:rPr>
              <a:t>:&lt;/</a:t>
            </a:r>
            <a:r>
              <a:rPr lang="tr-TR" sz="1600" b="1" dirty="0" err="1">
                <a:latin typeface="Consolas" panose="020B0609020204030204" pitchFamily="49" charset="0"/>
              </a:rPr>
              <a:t>label</a:t>
            </a:r>
            <a:r>
              <a:rPr lang="tr-TR" sz="1600" b="1" dirty="0">
                <a:latin typeface="Consolas" panose="020B0609020204030204" pitchFamily="49" charset="0"/>
              </a:rPr>
              <a:t>&gt;&lt;</a:t>
            </a:r>
            <a:r>
              <a:rPr lang="tr-TR" sz="1600" b="1" dirty="0" err="1">
                <a:latin typeface="Consolas" panose="020B0609020204030204" pitchFamily="49" charset="0"/>
              </a:rPr>
              <a:t>br</a:t>
            </a:r>
            <a:r>
              <a:rPr lang="tr-TR" sz="1600" b="1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</a:rPr>
              <a:t>  &lt;</a:t>
            </a:r>
            <a:r>
              <a:rPr lang="tr-TR" sz="1600" b="1" dirty="0" err="1">
                <a:latin typeface="Consolas" panose="020B0609020204030204" pitchFamily="49" charset="0"/>
              </a:rPr>
              <a:t>input</a:t>
            </a:r>
            <a:r>
              <a:rPr lang="tr-TR" sz="1600" b="1" dirty="0"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latin typeface="Consolas" panose="020B0609020204030204" pitchFamily="49" charset="0"/>
              </a:rPr>
              <a:t>type</a:t>
            </a:r>
            <a:r>
              <a:rPr lang="tr-TR" sz="1600" b="1" dirty="0">
                <a:latin typeface="Consolas" panose="020B0609020204030204" pitchFamily="49" charset="0"/>
              </a:rPr>
              <a:t>="</a:t>
            </a:r>
            <a:r>
              <a:rPr lang="tr-TR" sz="1600" b="1" dirty="0" err="1">
                <a:latin typeface="Consolas" panose="020B0609020204030204" pitchFamily="49" charset="0"/>
              </a:rPr>
              <a:t>text</a:t>
            </a:r>
            <a:r>
              <a:rPr lang="tr-TR" sz="1600" b="1" dirty="0">
                <a:latin typeface="Consolas" panose="020B0609020204030204" pitchFamily="49" charset="0"/>
              </a:rPr>
              <a:t>" id="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soyad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tr-TR" sz="1600" b="1" dirty="0">
                <a:latin typeface="Consolas" panose="020B0609020204030204" pitchFamily="49" charset="0"/>
              </a:rPr>
              <a:t>" name="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soyad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tr-TR" sz="1600" b="1" dirty="0">
                <a:latin typeface="Consolas" panose="020B0609020204030204" pitchFamily="49" charset="0"/>
              </a:rPr>
              <a:t>" </a:t>
            </a:r>
            <a:r>
              <a:rPr lang="tr-TR" sz="1600" b="1" dirty="0" err="1">
                <a:latin typeface="Consolas" panose="020B0609020204030204" pitchFamily="49" charset="0"/>
              </a:rPr>
              <a:t>value</a:t>
            </a:r>
            <a:r>
              <a:rPr lang="tr-TR" sz="1600" b="1" dirty="0">
                <a:latin typeface="Consolas" panose="020B0609020204030204" pitchFamily="49" charset="0"/>
              </a:rPr>
              <a:t>=“</a:t>
            </a:r>
            <a:r>
              <a:rPr lang="en-US" sz="1600" b="1" dirty="0">
                <a:latin typeface="Consolas" panose="020B0609020204030204" pitchFamily="49" charset="0"/>
              </a:rPr>
              <a:t>Güngör</a:t>
            </a:r>
            <a:r>
              <a:rPr lang="tr-TR" sz="1600" b="1" dirty="0">
                <a:latin typeface="Consolas" panose="020B0609020204030204" pitchFamily="49" charset="0"/>
              </a:rPr>
              <a:t>"&gt;&lt;</a:t>
            </a:r>
            <a:r>
              <a:rPr lang="tr-TR" sz="1600" b="1" dirty="0" err="1">
                <a:latin typeface="Consolas" panose="020B0609020204030204" pitchFamily="49" charset="0"/>
              </a:rPr>
              <a:t>br</a:t>
            </a:r>
            <a:r>
              <a:rPr lang="tr-TR" sz="1600" b="1" dirty="0">
                <a:latin typeface="Consolas" panose="020B0609020204030204" pitchFamily="49" charset="0"/>
              </a:rPr>
              <a:t>&gt;&lt;</a:t>
            </a:r>
            <a:r>
              <a:rPr lang="tr-TR" sz="1600" b="1" dirty="0" err="1">
                <a:latin typeface="Consolas" panose="020B0609020204030204" pitchFamily="49" charset="0"/>
              </a:rPr>
              <a:t>br</a:t>
            </a:r>
            <a:r>
              <a:rPr lang="tr-TR" sz="1600" b="1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</a:rPr>
              <a:t>  &lt;</a:t>
            </a:r>
            <a:r>
              <a:rPr lang="tr-TR" sz="1600" b="1" dirty="0" err="1">
                <a:latin typeface="Consolas" panose="020B0609020204030204" pitchFamily="49" charset="0"/>
              </a:rPr>
              <a:t>input</a:t>
            </a:r>
            <a:r>
              <a:rPr lang="tr-TR" sz="1600" b="1" dirty="0"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latin typeface="Consolas" panose="020B0609020204030204" pitchFamily="49" charset="0"/>
              </a:rPr>
              <a:t>type</a:t>
            </a:r>
            <a:r>
              <a:rPr lang="tr-TR" sz="1600" b="1" dirty="0">
                <a:latin typeface="Consolas" panose="020B0609020204030204" pitchFamily="49" charset="0"/>
              </a:rPr>
              <a:t>="</a:t>
            </a:r>
            <a:r>
              <a:rPr lang="tr-TR" sz="1600" b="1" dirty="0" err="1">
                <a:latin typeface="Consolas" panose="020B0609020204030204" pitchFamily="49" charset="0"/>
              </a:rPr>
              <a:t>submit</a:t>
            </a:r>
            <a:r>
              <a:rPr lang="tr-TR" sz="1600" b="1" dirty="0">
                <a:latin typeface="Consolas" panose="020B0609020204030204" pitchFamily="49" charset="0"/>
              </a:rPr>
              <a:t>" </a:t>
            </a:r>
            <a:r>
              <a:rPr lang="tr-TR" sz="1600" b="1" dirty="0" err="1">
                <a:latin typeface="Consolas" panose="020B0609020204030204" pitchFamily="49" charset="0"/>
              </a:rPr>
              <a:t>value</a:t>
            </a:r>
            <a:r>
              <a:rPr lang="tr-TR" sz="1600" b="1" dirty="0">
                <a:latin typeface="Consolas" panose="020B0609020204030204" pitchFamily="49" charset="0"/>
              </a:rPr>
              <a:t>=“</a:t>
            </a:r>
            <a:r>
              <a:rPr lang="en-US" sz="1600" b="1" dirty="0" err="1">
                <a:latin typeface="Consolas" panose="020B0609020204030204" pitchFamily="49" charset="0"/>
              </a:rPr>
              <a:t>Gönder</a:t>
            </a:r>
            <a:r>
              <a:rPr lang="tr-TR" sz="1600" b="1" dirty="0">
                <a:latin typeface="Consolas" panose="020B0609020204030204" pitchFamily="49" charset="0"/>
              </a:rPr>
              <a:t>"&gt;</a:t>
            </a:r>
          </a:p>
          <a:p>
            <a:pPr marL="0" indent="0">
              <a:buNone/>
            </a:pPr>
            <a:r>
              <a:rPr lang="tr-TR" sz="1600" b="1" dirty="0">
                <a:latin typeface="Consolas" panose="020B0609020204030204" pitchFamily="49" charset="0"/>
              </a:rPr>
              <a:t>&lt;/form&gt; </a:t>
            </a:r>
            <a:endParaRPr lang="tr-TR" sz="1600" dirty="0">
              <a:latin typeface="Consolas" panose="020B0609020204030204" pitchFamily="49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A516ED9-63DB-8F17-EAF8-D293C556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9</a:t>
            </a:fld>
            <a:endParaRPr lang="tr-TR" alt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6854072-24F6-0BF1-BFD6-ABED70EB0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004" y="2895547"/>
            <a:ext cx="2304796" cy="2376264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6366D1F-9697-492C-BE8E-46CBCC97C17E}"/>
              </a:ext>
            </a:extLst>
          </p:cNvPr>
          <p:cNvCxnSpPr/>
          <p:nvPr/>
        </p:nvCxnSpPr>
        <p:spPr>
          <a:xfrm>
            <a:off x="4355976" y="4725144"/>
            <a:ext cx="2197224" cy="2160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EF70341-AA5C-9A56-FD9C-5B49305D4636}"/>
              </a:ext>
            </a:extLst>
          </p:cNvPr>
          <p:cNvSpPr txBox="1"/>
          <p:nvPr/>
        </p:nvSpPr>
        <p:spPr>
          <a:xfrm>
            <a:off x="2627784" y="5302643"/>
            <a:ext cx="622677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100" b="1" i="1" u="none" strike="noStrike" baseline="0" dirty="0" err="1">
                <a:solidFill>
                  <a:srgbClr val="0070C0"/>
                </a:solidFill>
                <a:latin typeface="SegoeUI-BoldItalic"/>
              </a:rPr>
              <a:t>action</a:t>
            </a:r>
            <a:r>
              <a:rPr lang="tr-TR" sz="1100" b="1" i="1" u="none" strike="noStrike" baseline="0" dirty="0">
                <a:solidFill>
                  <a:srgbClr val="0070C0"/>
                </a:solidFill>
                <a:latin typeface="SegoeUI-BoldItalic"/>
              </a:rPr>
              <a:t>:</a:t>
            </a:r>
            <a:r>
              <a:rPr lang="tr-TR" sz="1100" b="1" i="1" u="none" strike="noStrike" baseline="0" dirty="0">
                <a:solidFill>
                  <a:srgbClr val="FF0000"/>
                </a:solidFill>
                <a:latin typeface="SegoeUI-BoldItalic"/>
              </a:rPr>
              <a:t> </a:t>
            </a:r>
            <a:r>
              <a:rPr lang="tr-TR" sz="1100" b="0" i="1" u="none" strike="noStrike" baseline="0" dirty="0">
                <a:solidFill>
                  <a:srgbClr val="000000"/>
                </a:solidFill>
                <a:latin typeface="SegoeUI-Italic"/>
              </a:rPr>
              <a:t>Formun gönderileceği adresin yazıldığı parametredir. Eğer yukarıdaki kutuya bir şeyler yazıp</a:t>
            </a:r>
          </a:p>
          <a:p>
            <a:pPr algn="l"/>
            <a:r>
              <a:rPr lang="tr-TR" sz="1100" b="0" i="1" u="none" strike="noStrike" baseline="0" dirty="0">
                <a:solidFill>
                  <a:srgbClr val="000000"/>
                </a:solidFill>
                <a:latin typeface="SegoeUI-Italic"/>
              </a:rPr>
              <a:t>gönder butonuna tıklarsanız, girdiğiniz bilgileri "</a:t>
            </a:r>
            <a:r>
              <a:rPr lang="tr-TR" sz="1100" b="0" i="1" u="none" strike="noStrike" baseline="0" dirty="0" err="1">
                <a:solidFill>
                  <a:srgbClr val="000000"/>
                </a:solidFill>
                <a:latin typeface="SegoeUI-Italic"/>
              </a:rPr>
              <a:t>kullanici.php</a:t>
            </a:r>
            <a:r>
              <a:rPr lang="tr-TR" sz="1100" b="0" i="1" u="none" strike="noStrike" baseline="0" dirty="0">
                <a:solidFill>
                  <a:srgbClr val="000000"/>
                </a:solidFill>
                <a:latin typeface="SegoeUI-Italic"/>
              </a:rPr>
              <a:t>" adlı veri dosyasına göndermiş olursunuz.</a:t>
            </a:r>
          </a:p>
          <a:p>
            <a:pPr algn="l"/>
            <a:r>
              <a:rPr lang="tr-TR" sz="1100" b="1" i="1" dirty="0" err="1">
                <a:solidFill>
                  <a:srgbClr val="0070C0"/>
                </a:solidFill>
                <a:latin typeface="SegoeUI-BoldItalic"/>
              </a:rPr>
              <a:t>method</a:t>
            </a:r>
            <a:r>
              <a:rPr lang="tr-TR" sz="1100" b="1" i="1" dirty="0">
                <a:solidFill>
                  <a:srgbClr val="0070C0"/>
                </a:solidFill>
                <a:latin typeface="SegoeUI-BoldItalic"/>
              </a:rPr>
              <a:t>: </a:t>
            </a:r>
            <a:r>
              <a:rPr lang="tr-TR" sz="1100" b="0" i="1" u="none" strike="noStrike" baseline="0" dirty="0">
                <a:solidFill>
                  <a:srgbClr val="000000"/>
                </a:solidFill>
                <a:latin typeface="SegoeUI-Italic"/>
              </a:rPr>
              <a:t>Formun gönderilme yöntemidir. </a:t>
            </a:r>
            <a:r>
              <a:rPr lang="tr-TR" sz="1100" b="1" i="1" u="none" strike="noStrike" baseline="0" dirty="0">
                <a:solidFill>
                  <a:srgbClr val="000000"/>
                </a:solidFill>
                <a:latin typeface="SegoeUI-BoldItalic"/>
              </a:rPr>
              <a:t>“GET“ </a:t>
            </a:r>
            <a:r>
              <a:rPr lang="tr-TR" sz="1100" b="0" i="1" u="none" strike="noStrike" baseline="0" dirty="0">
                <a:solidFill>
                  <a:srgbClr val="000000"/>
                </a:solidFill>
                <a:latin typeface="SegoeUI-Italic"/>
              </a:rPr>
              <a:t>metodu kullanıldığında istekler adres satırında</a:t>
            </a:r>
          </a:p>
          <a:p>
            <a:pPr algn="l"/>
            <a:r>
              <a:rPr lang="tr-TR" sz="1100" b="0" i="1" u="none" strike="noStrike" baseline="0" dirty="0">
                <a:solidFill>
                  <a:srgbClr val="000000"/>
                </a:solidFill>
                <a:latin typeface="SegoeUI-Italic"/>
              </a:rPr>
              <a:t>görüntülenir. Bir de </a:t>
            </a:r>
            <a:r>
              <a:rPr lang="tr-TR" sz="1100" b="1" i="1" u="none" strike="noStrike" baseline="0" dirty="0">
                <a:solidFill>
                  <a:srgbClr val="000000"/>
                </a:solidFill>
                <a:latin typeface="SegoeUI-BoldItalic"/>
              </a:rPr>
              <a:t>“POST“ </a:t>
            </a:r>
            <a:r>
              <a:rPr lang="tr-TR" sz="1100" b="0" i="1" u="none" strike="noStrike" baseline="0" dirty="0">
                <a:solidFill>
                  <a:srgbClr val="000000"/>
                </a:solidFill>
                <a:latin typeface="SegoeUI-Italic"/>
              </a:rPr>
              <a:t>metodu vardır. Şimdilik bunlara değinmeyeceğiz.</a:t>
            </a:r>
          </a:p>
          <a:p>
            <a:pPr algn="l"/>
            <a:r>
              <a:rPr lang="da-DK" sz="1100" b="1" i="1" dirty="0">
                <a:solidFill>
                  <a:srgbClr val="0070C0"/>
                </a:solidFill>
                <a:latin typeface="SegoeUI-BoldItalic"/>
              </a:rPr>
              <a:t>target="_blank": </a:t>
            </a:r>
            <a:r>
              <a:rPr lang="da-DK" sz="1100" b="0" i="1" u="none" strike="noStrike" baseline="0" dirty="0">
                <a:solidFill>
                  <a:srgbClr val="000000"/>
                </a:solidFill>
                <a:latin typeface="SegoeUI-Italic"/>
              </a:rPr>
              <a:t>Form yeni bir pencerede açılır.</a:t>
            </a:r>
          </a:p>
          <a:p>
            <a:pPr algn="l"/>
            <a:r>
              <a:rPr lang="fr-FR" sz="1100" b="1" i="1" dirty="0">
                <a:solidFill>
                  <a:srgbClr val="0070C0"/>
                </a:solidFill>
                <a:latin typeface="SegoeUI-BoldItalic"/>
              </a:rPr>
              <a:t>value: </a:t>
            </a:r>
            <a:r>
              <a:rPr lang="fr-FR" sz="1100" b="0" i="1" u="none" strike="noStrike" baseline="0" dirty="0" err="1">
                <a:solidFill>
                  <a:srgbClr val="000000"/>
                </a:solidFill>
                <a:latin typeface="SegoeUI-Italic"/>
              </a:rPr>
              <a:t>Butonun</a:t>
            </a:r>
            <a:r>
              <a:rPr lang="fr-FR" sz="1100" b="0" i="1" u="none" strike="noStrike" baseline="0" dirty="0">
                <a:solidFill>
                  <a:srgbClr val="000000"/>
                </a:solidFill>
                <a:latin typeface="SegoeUI-Italic"/>
              </a:rPr>
              <a:t> </a:t>
            </a:r>
            <a:r>
              <a:rPr lang="fr-FR" sz="1100" b="0" i="1" u="none" strike="noStrike" baseline="0" dirty="0" err="1">
                <a:solidFill>
                  <a:srgbClr val="000000"/>
                </a:solidFill>
                <a:latin typeface="SegoeUI-Italic"/>
              </a:rPr>
              <a:t>üstünde</a:t>
            </a:r>
            <a:r>
              <a:rPr lang="fr-FR" sz="1100" b="0" i="1" u="none" strike="noStrike" baseline="0" dirty="0">
                <a:solidFill>
                  <a:srgbClr val="000000"/>
                </a:solidFill>
                <a:latin typeface="SegoeUI-Italic"/>
              </a:rPr>
              <a:t> ne </a:t>
            </a:r>
            <a:r>
              <a:rPr lang="fr-FR" sz="1100" b="0" i="1" u="none" strike="noStrike" baseline="0" dirty="0" err="1">
                <a:solidFill>
                  <a:srgbClr val="000000"/>
                </a:solidFill>
                <a:latin typeface="SegoeUI-Italic"/>
              </a:rPr>
              <a:t>yazacağını</a:t>
            </a:r>
            <a:r>
              <a:rPr lang="fr-FR" sz="1100" b="0" i="1" u="none" strike="noStrike" baseline="0" dirty="0">
                <a:solidFill>
                  <a:srgbClr val="000000"/>
                </a:solidFill>
                <a:latin typeface="SegoeUI-Italic"/>
              </a:rPr>
              <a:t> </a:t>
            </a:r>
            <a:r>
              <a:rPr lang="fr-FR" sz="1100" b="0" i="1" u="none" strike="noStrike" baseline="0" dirty="0" err="1">
                <a:solidFill>
                  <a:srgbClr val="000000"/>
                </a:solidFill>
                <a:latin typeface="SegoeUI-Italic"/>
              </a:rPr>
              <a:t>belirler</a:t>
            </a:r>
            <a:r>
              <a:rPr lang="fr-FR" sz="1100" b="0" i="1" u="none" strike="noStrike" baseline="0" dirty="0">
                <a:solidFill>
                  <a:srgbClr val="000000"/>
                </a:solidFill>
                <a:latin typeface="SegoeUI-Italic"/>
              </a:rPr>
              <a:t>.</a:t>
            </a:r>
            <a:endParaRPr lang="tr-TR" sz="1100" dirty="0"/>
          </a:p>
        </p:txBody>
      </p:sp>
    </p:spTree>
    <p:extLst>
      <p:ext uri="{BB962C8B-B14F-4D97-AF65-F5344CB8AC3E}">
        <p14:creationId xmlns:p14="http://schemas.microsoft.com/office/powerpoint/2010/main" val="286941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A1E4-DA21-0C33-34E5-0ED29B278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E25A-28D4-6F9C-39FF-9C54E56B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HTML Etiketleri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4B241-CDDD-4C17-6180-EC3F457FE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291264" cy="4411662"/>
          </a:xfrm>
        </p:spPr>
        <p:txBody>
          <a:bodyPr>
            <a:normAutofit/>
          </a:bodyPr>
          <a:lstStyle/>
          <a:p>
            <a:r>
              <a:rPr lang="tr-TR" b="1" dirty="0"/>
              <a:t>VİDEO EKLEME:</a:t>
            </a:r>
            <a:endParaRPr lang="en-US" b="1" dirty="0"/>
          </a:p>
          <a:p>
            <a:pPr marL="344487" lvl="1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&lt;video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src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="dosya.mp4" type="audio/mp4" width="320px" height="240px" poster=”foto.jpg” loop autoplay muted controls&gt; &lt;/video&gt;</a:t>
            </a:r>
          </a:p>
          <a:p>
            <a:r>
              <a:rPr lang="tr-TR" b="1" dirty="0"/>
              <a:t>SES EKLEME:</a:t>
            </a:r>
            <a:endParaRPr lang="en-US" sz="23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344487" lvl="1" indent="0">
              <a:buNone/>
            </a:pP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audio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src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="bethoven.mp3" 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type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="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audio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/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mpeg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" 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loop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autoplay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muted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controls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&gt; &lt;/</a:t>
            </a:r>
            <a:r>
              <a:rPr lang="tr-TR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audio</a:t>
            </a:r>
            <a:r>
              <a:rPr lang="tr-TR" sz="18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E305C43-3870-A41A-782E-6D20407A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A5FAD2-FFD3-4501-8CEC-D2A32AC2E90D}" type="slidenum">
              <a:rPr lang="tr-TR" altLang="en-US" smtClean="0"/>
              <a:pPr>
                <a:defRPr/>
              </a:pPr>
              <a:t>10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136833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1CC7E-8062-75B7-B281-7AF7552FA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</a:t>
            </a:r>
            <a:br>
              <a:rPr lang="en-US" dirty="0"/>
            </a:br>
            <a:r>
              <a:rPr lang="en-US" b="0" i="1" strike="sngStrike" dirty="0"/>
              <a:t>Personal Home Page</a:t>
            </a:r>
            <a:br>
              <a:rPr lang="en-US" dirty="0"/>
            </a:br>
            <a:r>
              <a:rPr lang="tr-TR" b="0" i="1" dirty="0" err="1"/>
              <a:t>Hypertext</a:t>
            </a:r>
            <a:r>
              <a:rPr lang="tr-TR" b="0" i="1" dirty="0"/>
              <a:t> </a:t>
            </a:r>
            <a:r>
              <a:rPr lang="tr-TR" b="0" i="1" dirty="0" err="1"/>
              <a:t>Preprocessor</a:t>
            </a:r>
            <a:r>
              <a:rPr lang="en-US" dirty="0"/>
              <a:t> </a:t>
            </a:r>
            <a:endParaRPr lang="tr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98E13-63E1-8FC2-8E98-C762C44BDB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MBP </a:t>
            </a:r>
            <a:r>
              <a:rPr lang="en-US" dirty="0"/>
              <a:t>192</a:t>
            </a:r>
            <a:r>
              <a:rPr lang="tr-TR" dirty="0"/>
              <a:t> </a:t>
            </a:r>
            <a:r>
              <a:rPr lang="en-US" dirty="0"/>
              <a:t>Internet</a:t>
            </a:r>
            <a:r>
              <a:rPr lang="tr-TR" dirty="0"/>
              <a:t> Programlama</a:t>
            </a:r>
          </a:p>
          <a:p>
            <a:r>
              <a:rPr lang="tr-TR" dirty="0"/>
              <a:t>Bahar 25-26</a:t>
            </a:r>
          </a:p>
          <a:p>
            <a:r>
              <a:rPr lang="tr-TR" dirty="0"/>
              <a:t>İEU Bilgisayar </a:t>
            </a:r>
            <a:r>
              <a:rPr lang="tr-TR" dirty="0" err="1"/>
              <a:t>Prog</a:t>
            </a:r>
            <a:r>
              <a:rPr lang="tr-T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32DF1-947A-2B5B-B723-071943A8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99C005-2252-4D91-A870-DC350F15EDD9}" type="slidenum">
              <a:rPr lang="tr-TR" altLang="en-US" smtClean="0"/>
              <a:pPr>
                <a:defRPr/>
              </a:pPr>
              <a:t>11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037030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1CCE-C379-BBA2-8D9E-9D5F53E0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Nedir?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0FB0A-53BA-FD0D-56D1-2209D7EB8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HTML içine gömülebilen bir betik dilidir</a:t>
            </a:r>
            <a:endParaRPr lang="en-US" dirty="0"/>
          </a:p>
          <a:p>
            <a:r>
              <a:rPr lang="tr-TR" dirty="0"/>
              <a:t>PHP Web Tabanlı ve Nesne yönelimli bir programlama dilidir.</a:t>
            </a:r>
            <a:endParaRPr lang="en-US" dirty="0"/>
          </a:p>
          <a:p>
            <a:r>
              <a:rPr lang="tr-TR" sz="3200" dirty="0"/>
              <a:t>PHP büyük işletim sistemlerinde; </a:t>
            </a:r>
            <a:r>
              <a:rPr lang="tr-TR" sz="3200" b="1" dirty="0"/>
              <a:t>Linux</a:t>
            </a:r>
            <a:r>
              <a:rPr lang="tr-TR" sz="3200" dirty="0"/>
              <a:t>, birçok </a:t>
            </a:r>
            <a:r>
              <a:rPr lang="tr-TR" sz="3200" b="1" dirty="0"/>
              <a:t>Unix</a:t>
            </a:r>
            <a:r>
              <a:rPr lang="tr-TR" sz="3200" dirty="0"/>
              <a:t> türevi (HP-UX, Solaris, </a:t>
            </a:r>
            <a:r>
              <a:rPr lang="tr-TR" sz="3200" dirty="0" err="1"/>
              <a:t>OpenBSD</a:t>
            </a:r>
            <a:r>
              <a:rPr lang="tr-TR" sz="3200" dirty="0"/>
              <a:t> vb.), </a:t>
            </a:r>
            <a:r>
              <a:rPr lang="tr-TR" sz="3200" b="1" dirty="0"/>
              <a:t>Microsoft</a:t>
            </a:r>
            <a:r>
              <a:rPr lang="tr-TR" sz="3200" dirty="0"/>
              <a:t> </a:t>
            </a:r>
            <a:r>
              <a:rPr lang="tr-TR" sz="3200" b="1" dirty="0"/>
              <a:t>Windows</a:t>
            </a:r>
            <a:r>
              <a:rPr lang="tr-TR" sz="3200" dirty="0"/>
              <a:t>, </a:t>
            </a:r>
            <a:r>
              <a:rPr lang="tr-TR" sz="3200" b="1" dirty="0"/>
              <a:t>Mac</a:t>
            </a:r>
            <a:r>
              <a:rPr lang="tr-TR" sz="3200" dirty="0"/>
              <a:t> </a:t>
            </a:r>
            <a:r>
              <a:rPr lang="tr-TR" sz="3200" b="1" dirty="0"/>
              <a:t>OS</a:t>
            </a:r>
            <a:r>
              <a:rPr lang="tr-TR" sz="3200" dirty="0"/>
              <a:t>, çok çeşitli platformlarda çalışabilir</a:t>
            </a:r>
            <a:r>
              <a:rPr lang="en-US" sz="3200" dirty="0"/>
              <a:t>.</a:t>
            </a:r>
          </a:p>
          <a:p>
            <a:r>
              <a:rPr lang="en-US" dirty="0"/>
              <a:t>“</a:t>
            </a:r>
            <a:r>
              <a:rPr lang="tr-TR" dirty="0"/>
              <a:t>Apache, IIS, </a:t>
            </a:r>
            <a:r>
              <a:rPr lang="tr-TR" dirty="0" err="1"/>
              <a:t>nginx</a:t>
            </a:r>
            <a:r>
              <a:rPr lang="en-US" dirty="0"/>
              <a:t>”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tr-TR" dirty="0"/>
              <a:t>HTTP sunucularının büyük kısmını destekler. </a:t>
            </a:r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D00D8-3C75-A981-7784-B0685B3F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E76B57-1749-484A-BC30-43D176F9D50D}" type="slidenum">
              <a:rPr lang="tr-TR" altLang="en-US" smtClean="0"/>
              <a:pPr>
                <a:defRPr/>
              </a:pPr>
              <a:t>12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02484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2E4FC8-957E-18ED-3489-C7373B083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değişti</a:t>
            </a:r>
            <a:r>
              <a:rPr lang="en-US" dirty="0"/>
              <a:t>?</a:t>
            </a:r>
            <a:endParaRPr lang="tr-T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9CB29C-8DF5-4841-DB97-9C149351F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3491" y="1995367"/>
            <a:ext cx="8229600" cy="1572518"/>
          </a:xfrm>
        </p:spPr>
        <p:txBody>
          <a:bodyPr/>
          <a:lstStyle/>
          <a:p>
            <a:r>
              <a:rPr lang="en-US" dirty="0"/>
              <a:t>index.html</a:t>
            </a:r>
          </a:p>
          <a:p>
            <a:pPr marL="0" indent="0">
              <a:buNone/>
            </a:pPr>
            <a:r>
              <a:rPr lang="pt-BR" sz="2000" dirty="0">
                <a:latin typeface="Consolas" panose="020B0609020204030204" pitchFamily="49" charset="0"/>
              </a:rPr>
              <a:t>&lt;h1&gt;Merhaba, bu HTML&lt;/h1&gt; </a:t>
            </a:r>
          </a:p>
          <a:p>
            <a:pPr marL="0" indent="0">
              <a:buNone/>
            </a:pPr>
            <a:r>
              <a:rPr lang="pt-BR" sz="2000" dirty="0">
                <a:latin typeface="Consolas" panose="020B0609020204030204" pitchFamily="49" charset="0"/>
              </a:rPr>
              <a:t>&lt;p&gt;Saat: ????? &lt;/p&gt;</a:t>
            </a:r>
            <a:endParaRPr lang="tr-TR" sz="2000" dirty="0"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07015-1912-067A-AE87-D05CD1BC1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8376" y="4149079"/>
            <a:ext cx="8147248" cy="1981845"/>
          </a:xfrm>
        </p:spPr>
        <p:txBody>
          <a:bodyPr/>
          <a:lstStyle/>
          <a:p>
            <a:r>
              <a:rPr lang="en-US" dirty="0" err="1"/>
              <a:t>index.php</a:t>
            </a:r>
            <a:endParaRPr lang="en-US" dirty="0"/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&lt;h1&gt;Merhaba, bu PHP&lt;/h1&gt;</a:t>
            </a: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&lt;p&gt;Saat: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&lt;?</a:t>
            </a:r>
            <a:r>
              <a:rPr lang="tr-TR" sz="2000" dirty="0" err="1">
                <a:latin typeface="Consolas" panose="020B0609020204030204" pitchFamily="49" charset="0"/>
              </a:rPr>
              <a:t>php</a:t>
            </a:r>
            <a:r>
              <a:rPr lang="tr-TR" sz="2000" dirty="0">
                <a:latin typeface="Consolas" panose="020B0609020204030204" pitchFamily="49" charset="0"/>
              </a:rPr>
              <a:t> </a:t>
            </a:r>
            <a:r>
              <a:rPr lang="tr-TR" sz="2000" dirty="0" err="1">
                <a:latin typeface="Consolas" panose="020B0609020204030204" pitchFamily="49" charset="0"/>
              </a:rPr>
              <a:t>echo</a:t>
            </a:r>
            <a:r>
              <a:rPr lang="tr-TR" sz="2000" dirty="0">
                <a:latin typeface="Consolas" panose="020B0609020204030204" pitchFamily="49" charset="0"/>
              </a:rPr>
              <a:t> </a:t>
            </a:r>
            <a:r>
              <a:rPr lang="tr-TR" sz="2000" dirty="0" err="1">
                <a:latin typeface="Consolas" panose="020B0609020204030204" pitchFamily="49" charset="0"/>
              </a:rPr>
              <a:t>date</a:t>
            </a:r>
            <a:r>
              <a:rPr lang="tr-TR" sz="2000" dirty="0">
                <a:latin typeface="Consolas" panose="020B0609020204030204" pitchFamily="49" charset="0"/>
              </a:rPr>
              <a:t>('</a:t>
            </a:r>
            <a:r>
              <a:rPr lang="tr-TR" sz="2000" dirty="0" err="1">
                <a:latin typeface="Consolas" panose="020B0609020204030204" pitchFamily="49" charset="0"/>
              </a:rPr>
              <a:t>H:i:s</a:t>
            </a:r>
            <a:r>
              <a:rPr lang="tr-TR" sz="2000" dirty="0">
                <a:latin typeface="Consolas" panose="020B0609020204030204" pitchFamily="49" charset="0"/>
              </a:rPr>
              <a:t>'); ?&gt;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000" dirty="0">
                <a:latin typeface="Consolas" panose="020B0609020204030204" pitchFamily="49" charset="0"/>
              </a:rPr>
              <a:t>&lt;/p&gt;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5092AB-894D-9709-0C7F-32320372E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4797152"/>
            <a:ext cx="2781688" cy="1228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4558AB-1987-AB4A-8B8C-69BF2BAB4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593" y="2294683"/>
            <a:ext cx="2972215" cy="1162212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452D528-3549-DC45-A8E9-3F109D50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F56FD2-7595-4018-8F18-DCE15FFDB08C}" type="slidenum">
              <a:rPr lang="tr-TR" altLang="en-US" smtClean="0"/>
              <a:pPr>
                <a:defRPr/>
              </a:pPr>
              <a:t>13</a:t>
            </a:fld>
            <a:endParaRPr lang="tr-TR" altLang="en-US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4321EDA-6A49-DBA5-FA42-C2F9C2011B3A}"/>
              </a:ext>
            </a:extLst>
          </p:cNvPr>
          <p:cNvSpPr txBox="1">
            <a:spLocks/>
          </p:cNvSpPr>
          <p:nvPr/>
        </p:nvSpPr>
        <p:spPr>
          <a:xfrm>
            <a:off x="4283969" y="6137410"/>
            <a:ext cx="3983640" cy="3954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/>
              <a:t>Kod</a:t>
            </a:r>
            <a:r>
              <a:rPr lang="en-US" sz="1600" dirty="0"/>
              <a:t>: h2-test_page &gt;&gt; test.html, </a:t>
            </a:r>
            <a:r>
              <a:rPr lang="en-US" sz="1600" dirty="0" err="1"/>
              <a:t>test.php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3364381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8C082-3A73-133E-4324-DF85AE16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Bilgisayarlarda</a:t>
            </a:r>
            <a:r>
              <a:rPr lang="en-US" sz="3200" dirty="0"/>
              <a:t> PHP </a:t>
            </a:r>
            <a:r>
              <a:rPr lang="en-US" sz="3200" dirty="0" err="1"/>
              <a:t>bulunmuyorsa</a:t>
            </a:r>
            <a:r>
              <a:rPr lang="en-US" sz="3200" dirty="0"/>
              <a:t> </a:t>
            </a:r>
            <a:r>
              <a:rPr lang="en-US" dirty="0"/>
              <a:t>– Online Compiler</a:t>
            </a:r>
            <a:endParaRPr lang="tr-T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635651-5375-8007-45F3-57019E3B8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düzgün</a:t>
            </a:r>
            <a:r>
              <a:rPr lang="en-US" dirty="0"/>
              <a:t> </a:t>
            </a:r>
            <a:r>
              <a:rPr lang="en-US" dirty="0" err="1"/>
              <a:t>çalışan</a:t>
            </a:r>
            <a:r>
              <a:rPr lang="en-US" dirty="0"/>
              <a:t>: </a:t>
            </a:r>
            <a:r>
              <a:rPr lang="tr-TR" dirty="0">
                <a:hlinkClick r:id="rId2"/>
              </a:rPr>
              <a:t>https://www.w3schools.com/php/phptryit.asp?filename=tryphp_compiler</a:t>
            </a:r>
            <a:endParaRPr lang="en-US" dirty="0"/>
          </a:p>
          <a:p>
            <a:r>
              <a:rPr lang="en-US" dirty="0" err="1"/>
              <a:t>Alternatif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3"/>
              </a:rPr>
              <a:t>https://www.programiz.com/php/online-compiler/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https://onecompiler.com/php</a:t>
            </a:r>
            <a:endParaRPr lang="en-US" dirty="0"/>
          </a:p>
          <a:p>
            <a:pPr lvl="1"/>
            <a:endParaRPr lang="en-US" dirty="0"/>
          </a:p>
          <a:p>
            <a:endParaRPr lang="tr-T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A0A39-88DB-182B-E639-080879DD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F56FD2-7595-4018-8F18-DCE15FFDB08C}" type="slidenum">
              <a:rPr lang="tr-TR" altLang="en-US" smtClean="0"/>
              <a:pPr>
                <a:defRPr/>
              </a:pPr>
              <a:t>14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272950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9288-4235-8AED-CA51-022BB835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Sistemde</a:t>
            </a:r>
            <a:r>
              <a:rPr lang="en-US" dirty="0"/>
              <a:t> PHP </a:t>
            </a:r>
            <a:r>
              <a:rPr lang="en-US" dirty="0" err="1"/>
              <a:t>kontrolü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B4B83-9B21-DBF7-BFE2-844635498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php</a:t>
            </a:r>
            <a:r>
              <a:rPr lang="en-US" dirty="0"/>
              <a:t> –v : </a:t>
            </a:r>
            <a:r>
              <a:rPr lang="en-US" dirty="0" err="1"/>
              <a:t>işletim</a:t>
            </a:r>
            <a:r>
              <a:rPr lang="en-US" dirty="0"/>
              <a:t> </a:t>
            </a:r>
            <a:r>
              <a:rPr lang="en-US" dirty="0" err="1"/>
              <a:t>sisteminde</a:t>
            </a:r>
            <a:r>
              <a:rPr lang="en-US" dirty="0"/>
              <a:t> </a:t>
            </a:r>
            <a:r>
              <a:rPr lang="en-US" dirty="0" err="1"/>
              <a:t>yüklü</a:t>
            </a:r>
            <a:r>
              <a:rPr lang="en-US" dirty="0"/>
              <a:t> PHP </a:t>
            </a:r>
            <a:r>
              <a:rPr lang="en-US" dirty="0" err="1"/>
              <a:t>versiyonu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98069-D56B-2E27-63AD-EC8E536BC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E76B57-1749-484A-BC30-43D176F9D50D}" type="slidenum">
              <a:rPr lang="tr-TR" altLang="en-US" smtClean="0"/>
              <a:pPr>
                <a:defRPr/>
              </a:pPr>
              <a:t>15</a:t>
            </a:fld>
            <a:endParaRPr lang="tr-T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8E7265-371A-F83C-5B53-627112B7E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780928"/>
            <a:ext cx="6335009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69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2A7E3-6607-67E3-84FC-1216CE2E5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>
                <a:solidFill>
                  <a:srgbClr val="C00000"/>
                </a:solidFill>
              </a:rPr>
              <a:t>PHP Syntax ve Temel Kurallar 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ADC79-5726-B107-AD00-89AD329715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tr-TR" b="1" dirty="0"/>
              <a:t>Kural 1: </a:t>
            </a:r>
            <a:r>
              <a:rPr lang="tr-TR" dirty="0"/>
              <a:t>PHP </a:t>
            </a:r>
            <a:r>
              <a:rPr lang="en-US" dirty="0" err="1"/>
              <a:t>kodları</a:t>
            </a:r>
            <a:r>
              <a:rPr lang="en-US" dirty="0"/>
              <a:t> </a:t>
            </a:r>
            <a:r>
              <a:rPr lang="en-US" b="1" i="1" dirty="0">
                <a:solidFill>
                  <a:srgbClr val="FF0000"/>
                </a:solidFill>
              </a:rPr>
              <a:t>&lt;?</a:t>
            </a:r>
            <a:r>
              <a:rPr lang="en-US" b="1" i="1" dirty="0" err="1">
                <a:solidFill>
                  <a:srgbClr val="FF0000"/>
                </a:solidFill>
              </a:rPr>
              <a:t>php</a:t>
            </a:r>
            <a:r>
              <a:rPr lang="en-US" b="1" i="1" dirty="0">
                <a:solidFill>
                  <a:srgbClr val="FF0000"/>
                </a:solidFill>
              </a:rPr>
              <a:t> …… ?&gt; </a:t>
            </a:r>
            <a:r>
              <a:rPr lang="en-US" dirty="0" err="1"/>
              <a:t>arasına</a:t>
            </a:r>
            <a:r>
              <a:rPr lang="en-US" dirty="0"/>
              <a:t> </a:t>
            </a:r>
            <a:r>
              <a:rPr lang="en-US" dirty="0" err="1"/>
              <a:t>yazılır</a:t>
            </a:r>
            <a:endParaRPr lang="en-US" dirty="0"/>
          </a:p>
          <a:p>
            <a:endParaRPr lang="en-US" dirty="0"/>
          </a:p>
          <a:p>
            <a:r>
              <a:rPr lang="tr-TR" b="1" dirty="0"/>
              <a:t>Kural 2:</a:t>
            </a:r>
            <a:r>
              <a:rPr lang="tr-TR" dirty="0"/>
              <a:t> Her satır </a:t>
            </a:r>
            <a:r>
              <a:rPr lang="tr-TR" b="1" i="1" dirty="0">
                <a:solidFill>
                  <a:srgbClr val="FF0000"/>
                </a:solidFill>
              </a:rPr>
              <a:t>noktalı virgül</a:t>
            </a:r>
            <a:r>
              <a:rPr lang="en-US" b="1" i="1" dirty="0">
                <a:solidFill>
                  <a:srgbClr val="FF0000"/>
                </a:solidFill>
              </a:rPr>
              <a:t> (;)</a:t>
            </a:r>
            <a:r>
              <a:rPr lang="tr-TR" b="1" i="1" dirty="0">
                <a:solidFill>
                  <a:srgbClr val="FF0000"/>
                </a:solidFill>
              </a:rPr>
              <a:t> </a:t>
            </a:r>
            <a:r>
              <a:rPr lang="tr-TR" dirty="0"/>
              <a:t>ile </a:t>
            </a:r>
            <a:r>
              <a:rPr lang="tr-TR" b="1" i="1" dirty="0">
                <a:solidFill>
                  <a:srgbClr val="FF0000"/>
                </a:solidFill>
              </a:rPr>
              <a:t>biter</a:t>
            </a:r>
            <a:endParaRPr lang="en-US" b="1" i="1" dirty="0">
              <a:solidFill>
                <a:srgbClr val="FF0000"/>
              </a:solidFill>
            </a:endParaRPr>
          </a:p>
          <a:p>
            <a:endParaRPr lang="en-US" b="1" i="1" dirty="0">
              <a:solidFill>
                <a:srgbClr val="FF0000"/>
              </a:solidFill>
            </a:endParaRPr>
          </a:p>
          <a:p>
            <a:r>
              <a:rPr lang="en-US" b="1" dirty="0"/>
              <a:t>Kural 3: </a:t>
            </a:r>
            <a:r>
              <a:rPr lang="en-US" dirty="0"/>
              <a:t>PHP </a:t>
            </a:r>
            <a:r>
              <a:rPr lang="en-US" dirty="0" err="1"/>
              <a:t>küçük</a:t>
            </a:r>
            <a:r>
              <a:rPr lang="en-US" dirty="0"/>
              <a:t>/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harf</a:t>
            </a:r>
            <a:r>
              <a:rPr lang="en-US" dirty="0"/>
              <a:t> </a:t>
            </a:r>
            <a:r>
              <a:rPr lang="en-US" dirty="0" err="1"/>
              <a:t>duyarlıdır</a:t>
            </a:r>
            <a:r>
              <a:rPr lang="en-US" dirty="0"/>
              <a:t>.</a:t>
            </a:r>
          </a:p>
          <a:p>
            <a:endParaRPr lang="en-US" b="1" i="1" dirty="0">
              <a:solidFill>
                <a:srgbClr val="FF0000"/>
              </a:solidFill>
            </a:endParaRPr>
          </a:p>
          <a:p>
            <a:r>
              <a:rPr lang="tr-TR" b="1" dirty="0"/>
              <a:t>Kural </a:t>
            </a:r>
            <a:r>
              <a:rPr lang="en-US" b="1" dirty="0"/>
              <a:t>4</a:t>
            </a:r>
            <a:r>
              <a:rPr lang="tr-TR" b="1" dirty="0"/>
              <a:t>:</a:t>
            </a:r>
            <a:r>
              <a:rPr lang="tr-TR" dirty="0"/>
              <a:t> PHP dosyaları </a:t>
            </a:r>
            <a:r>
              <a:rPr lang="en-US" b="1" i="1" dirty="0">
                <a:solidFill>
                  <a:srgbClr val="FF0000"/>
                </a:solidFill>
              </a:rPr>
              <a:t>*</a:t>
            </a:r>
            <a:r>
              <a:rPr lang="tr-TR" b="1" i="1" dirty="0">
                <a:solidFill>
                  <a:srgbClr val="FF0000"/>
                </a:solidFill>
              </a:rPr>
              <a:t>.</a:t>
            </a:r>
            <a:r>
              <a:rPr lang="tr-TR" b="1" i="1" dirty="0" err="1">
                <a:solidFill>
                  <a:srgbClr val="FF0000"/>
                </a:solidFill>
              </a:rPr>
              <a:t>php</a:t>
            </a:r>
            <a:r>
              <a:rPr lang="tr-TR" b="1" i="1" dirty="0">
                <a:solidFill>
                  <a:srgbClr val="FF0000"/>
                </a:solidFill>
              </a:rPr>
              <a:t> </a:t>
            </a:r>
            <a:r>
              <a:rPr lang="tr-TR" dirty="0"/>
              <a:t>uzantılı olmalı</a:t>
            </a:r>
            <a:endParaRPr lang="en-US" dirty="0"/>
          </a:p>
          <a:p>
            <a:endParaRPr lang="en-US" dirty="0"/>
          </a:p>
          <a:p>
            <a:r>
              <a:rPr lang="tr-TR" b="1" dirty="0"/>
              <a:t>Kural </a:t>
            </a:r>
            <a:r>
              <a:rPr lang="en-US" b="1" dirty="0"/>
              <a:t>5</a:t>
            </a:r>
            <a:r>
              <a:rPr lang="tr-TR" b="1" dirty="0"/>
              <a:t>:</a:t>
            </a:r>
            <a:r>
              <a:rPr lang="tr-TR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yazımında</a:t>
            </a:r>
            <a:r>
              <a:rPr lang="en-US" dirty="0"/>
              <a:t> </a:t>
            </a:r>
            <a:r>
              <a:rPr lang="en-US" dirty="0" err="1"/>
              <a:t>yorum</a:t>
            </a:r>
            <a:r>
              <a:rPr lang="en-US" dirty="0"/>
              <a:t> </a:t>
            </a:r>
            <a:r>
              <a:rPr lang="en-US" dirty="0" err="1"/>
              <a:t>satırları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Okunabilir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!</a:t>
            </a:r>
          </a:p>
          <a:p>
            <a:endParaRPr lang="en-US" dirty="0"/>
          </a:p>
          <a:p>
            <a:endParaRPr lang="tr-T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8F4EA-1BCC-55F5-F6AD-FCDE10845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F56FD2-7595-4018-8F18-DCE15FFDB08C}" type="slidenum">
              <a:rPr lang="tr-TR" altLang="en-US" smtClean="0"/>
              <a:pPr>
                <a:defRPr/>
              </a:pPr>
              <a:t>16</a:t>
            </a:fld>
            <a:endParaRPr lang="tr-T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E8C8E9-7940-D89B-98E5-CF89F4D73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744" y="1610397"/>
            <a:ext cx="2105319" cy="733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656C1D-632B-BED7-B4A3-9D862AFEB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72" y="2488339"/>
            <a:ext cx="4553585" cy="866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0D9DA3-A83D-A2C6-08B0-37B2D6851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235" y="3842082"/>
            <a:ext cx="3200847" cy="79068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6A95521C-A09C-6CBC-02DA-5000376DD386}"/>
              </a:ext>
            </a:extLst>
          </p:cNvPr>
          <p:cNvGrpSpPr/>
          <p:nvPr/>
        </p:nvGrpSpPr>
        <p:grpSpPr>
          <a:xfrm>
            <a:off x="4336744" y="4832443"/>
            <a:ext cx="4448797" cy="1893500"/>
            <a:chOff x="3995936" y="4478087"/>
            <a:chExt cx="4448797" cy="18935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40565F8-D0A5-4117-DE16-2B0D3B608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95936" y="4478087"/>
              <a:ext cx="4448796" cy="90500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F2BA2B5-0E02-5282-1F7A-D450D8E74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149" t="1274" r="27878" b="-1274"/>
            <a:stretch>
              <a:fillRect/>
            </a:stretch>
          </p:blipFill>
          <p:spPr>
            <a:xfrm>
              <a:off x="3995936" y="5142691"/>
              <a:ext cx="4448797" cy="1228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5879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B95C-B152-3E0E-AFA7-6FC87E88B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echo</a:t>
            </a:r>
            <a:r>
              <a:rPr lang="tr-TR" dirty="0"/>
              <a:t> = Ekrana yazdır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D00AD-B1C2-F7AE-4D6B-4CC32876A3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Ekrana</a:t>
            </a:r>
            <a:endParaRPr lang="en-US" dirty="0"/>
          </a:p>
          <a:p>
            <a:pPr lvl="1"/>
            <a:r>
              <a:rPr lang="en-US" dirty="0"/>
              <a:t>“</a:t>
            </a:r>
            <a:r>
              <a:rPr lang="en-US" dirty="0" err="1"/>
              <a:t>Merhab</a:t>
            </a:r>
            <a:r>
              <a:rPr lang="en-US" dirty="0"/>
              <a:t> Dünya!”</a:t>
            </a:r>
          </a:p>
          <a:p>
            <a:pPr lvl="1"/>
            <a:r>
              <a:rPr lang="en-US" dirty="0"/>
              <a:t>5 + 3 </a:t>
            </a:r>
            <a:r>
              <a:rPr lang="en-US" dirty="0" err="1"/>
              <a:t>toplamını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H1 </a:t>
            </a:r>
            <a:r>
              <a:rPr lang="en-US" dirty="0" err="1"/>
              <a:t>başlığı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“</a:t>
            </a:r>
            <a:r>
              <a:rPr lang="es-ES" sz="2800" dirty="0">
                <a:latin typeface="Consolas" panose="020B0609020204030204" pitchFamily="49" charset="0"/>
              </a:rPr>
              <a:t>HTML de </a:t>
            </a:r>
            <a:r>
              <a:rPr lang="es-ES" sz="2800" dirty="0" err="1">
                <a:latin typeface="Consolas" panose="020B0609020204030204" pitchFamily="49" charset="0"/>
              </a:rPr>
              <a:t>yazdırabilir</a:t>
            </a:r>
            <a:r>
              <a:rPr lang="en-US" dirty="0"/>
              <a:t>”</a:t>
            </a:r>
          </a:p>
          <a:p>
            <a:pPr marL="344487" lvl="1" indent="0">
              <a:buNone/>
            </a:pPr>
            <a:r>
              <a:rPr lang="en-US" dirty="0" err="1"/>
              <a:t>yazdıralım</a:t>
            </a:r>
            <a:r>
              <a:rPr lang="en-US" dirty="0"/>
              <a:t>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825A8-1D05-48EC-B421-797585C0DE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s-E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E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</a:rPr>
              <a:t>&lt;?</a:t>
            </a:r>
            <a:r>
              <a:rPr lang="es-ES" sz="2000" dirty="0" err="1">
                <a:latin typeface="Consolas" panose="020B0609020204030204" pitchFamily="49" charset="0"/>
              </a:rPr>
              <a:t>php</a:t>
            </a:r>
            <a:endParaRPr lang="es-E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</a:rPr>
              <a:t>    echo "</a:t>
            </a:r>
            <a:r>
              <a:rPr lang="es-ES" sz="2000" dirty="0" err="1">
                <a:latin typeface="Consolas" panose="020B0609020204030204" pitchFamily="49" charset="0"/>
              </a:rPr>
              <a:t>Merhaba</a:t>
            </a:r>
            <a:r>
              <a:rPr lang="es-ES" sz="2000" dirty="0">
                <a:latin typeface="Consolas" panose="020B0609020204030204" pitchFamily="49" charset="0"/>
              </a:rPr>
              <a:t> </a:t>
            </a:r>
            <a:r>
              <a:rPr lang="es-ES" sz="2000" dirty="0" err="1">
                <a:latin typeface="Consolas" panose="020B0609020204030204" pitchFamily="49" charset="0"/>
              </a:rPr>
              <a:t>Dünya</a:t>
            </a:r>
            <a:r>
              <a:rPr lang="es-ES" sz="2000" dirty="0">
                <a:latin typeface="Consolas" panose="020B0609020204030204" pitchFamily="49" charset="0"/>
              </a:rPr>
              <a:t>";</a:t>
            </a: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</a:rPr>
              <a:t>    echo 5 + 3;</a:t>
            </a: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</a:rPr>
              <a:t>    echo "&lt;h1&gt;HTML de </a:t>
            </a:r>
            <a:r>
              <a:rPr lang="es-ES" sz="2000" dirty="0" err="1">
                <a:latin typeface="Consolas" panose="020B0609020204030204" pitchFamily="49" charset="0"/>
              </a:rPr>
              <a:t>yazdırabilir</a:t>
            </a:r>
            <a:r>
              <a:rPr lang="es-ES" sz="2000" dirty="0">
                <a:latin typeface="Consolas" panose="020B0609020204030204" pitchFamily="49" charset="0"/>
              </a:rPr>
              <a:t>&lt;/h1&gt;";</a:t>
            </a:r>
          </a:p>
          <a:p>
            <a:pPr marL="0" indent="0">
              <a:buNone/>
            </a:pPr>
            <a:r>
              <a:rPr lang="es-ES" sz="2000" dirty="0">
                <a:latin typeface="Consolas" panose="020B0609020204030204" pitchFamily="49" charset="0"/>
              </a:rPr>
              <a:t>?&gt;</a:t>
            </a:r>
            <a:endParaRPr lang="tr-TR" sz="20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623DB-3291-11BB-96C0-938FA738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F56FD2-7595-4018-8F18-DCE15FFDB08C}" type="slidenum">
              <a:rPr lang="tr-TR" altLang="en-US" smtClean="0"/>
              <a:pPr>
                <a:defRPr/>
              </a:pPr>
              <a:t>17</a:t>
            </a:fld>
            <a:endParaRPr lang="tr-TR" alt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066EF4B-B451-B95B-3DE8-D23A12D28D2C}"/>
              </a:ext>
            </a:extLst>
          </p:cNvPr>
          <p:cNvSpPr txBox="1">
            <a:spLocks/>
          </p:cNvSpPr>
          <p:nvPr/>
        </p:nvSpPr>
        <p:spPr bwMode="auto">
          <a:xfrm>
            <a:off x="4038823" y="5991922"/>
            <a:ext cx="4205585" cy="395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 err="1"/>
              <a:t>Kod</a:t>
            </a:r>
            <a:r>
              <a:rPr lang="en-US" sz="1600" b="0" dirty="0"/>
              <a:t>: h2-start &gt;&gt; </a:t>
            </a:r>
            <a:r>
              <a:rPr lang="en-US" sz="1600" b="0" dirty="0" err="1"/>
              <a:t>start.php</a:t>
            </a:r>
            <a:endParaRPr lang="tr-TR" sz="1600" b="0" dirty="0"/>
          </a:p>
        </p:txBody>
      </p:sp>
    </p:spTree>
    <p:extLst>
      <p:ext uri="{BB962C8B-B14F-4D97-AF65-F5344CB8AC3E}">
        <p14:creationId xmlns:p14="http://schemas.microsoft.com/office/powerpoint/2010/main" val="5532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BE11F-F1A6-C0E4-E3C3-2327E1E81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il PHP </a:t>
            </a:r>
            <a:r>
              <a:rPr lang="en-US" dirty="0" err="1"/>
              <a:t>içi</a:t>
            </a:r>
            <a:r>
              <a:rPr lang="en-US" dirty="0"/>
              <a:t> </a:t>
            </a:r>
            <a:r>
              <a:rPr lang="en-US" dirty="0" err="1"/>
              <a:t>içe</a:t>
            </a:r>
            <a:r>
              <a:rPr lang="en-US" dirty="0"/>
              <a:t> </a:t>
            </a:r>
            <a:r>
              <a:rPr lang="en-US" dirty="0" err="1"/>
              <a:t>çalışması</a:t>
            </a:r>
            <a:endParaRPr lang="tr-T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AA12F9-C102-1AE2-AF6D-0219C4E4C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lstStyle/>
          <a:p>
            <a:r>
              <a:rPr lang="tr-TR" dirty="0">
                <a:solidFill>
                  <a:srgbClr val="00B050"/>
                </a:solidFill>
              </a:rPr>
              <a:t>HTML İçine PHP Gömme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CCA2A-DA0B-959D-67EB-DAEC3E4CB0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&lt;!DOCTYPE html&gt;</a:t>
            </a:r>
          </a:p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&lt;html&gt;</a:t>
            </a:r>
          </a:p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&lt;</a:t>
            </a:r>
            <a:r>
              <a:rPr lang="tr-TR" sz="1200" dirty="0" err="1">
                <a:latin typeface="Consolas" panose="020B0609020204030204" pitchFamily="49" charset="0"/>
              </a:rPr>
              <a:t>head</a:t>
            </a:r>
            <a:r>
              <a:rPr lang="tr-TR" sz="12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    &lt;</a:t>
            </a:r>
            <a:r>
              <a:rPr lang="tr-TR" sz="1200" dirty="0" err="1">
                <a:latin typeface="Consolas" panose="020B0609020204030204" pitchFamily="49" charset="0"/>
              </a:rPr>
              <a:t>title</a:t>
            </a:r>
            <a:r>
              <a:rPr lang="tr-TR" sz="1200" dirty="0">
                <a:latin typeface="Consolas" panose="020B0609020204030204" pitchFamily="49" charset="0"/>
              </a:rPr>
              <a:t>&gt;PHP&lt;/</a:t>
            </a:r>
            <a:r>
              <a:rPr lang="tr-TR" sz="1200" dirty="0" err="1">
                <a:latin typeface="Consolas" panose="020B0609020204030204" pitchFamily="49" charset="0"/>
              </a:rPr>
              <a:t>title</a:t>
            </a:r>
            <a:r>
              <a:rPr lang="tr-TR" sz="12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&lt;/</a:t>
            </a:r>
            <a:r>
              <a:rPr lang="tr-TR" sz="1200" dirty="0" err="1">
                <a:latin typeface="Consolas" panose="020B0609020204030204" pitchFamily="49" charset="0"/>
              </a:rPr>
              <a:t>head</a:t>
            </a:r>
            <a:r>
              <a:rPr lang="tr-TR" sz="12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&lt;body&gt;</a:t>
            </a:r>
          </a:p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    &lt;h1&gt;</a:t>
            </a:r>
            <a:r>
              <a:rPr lang="en-US" sz="1200" dirty="0" err="1">
                <a:latin typeface="Consolas" panose="020B0609020204030204" pitchFamily="49" charset="0"/>
              </a:rPr>
              <a:t>Merhaba</a:t>
            </a:r>
            <a:r>
              <a:rPr lang="en-US" sz="1200" dirty="0">
                <a:latin typeface="Consolas" panose="020B0609020204030204" pitchFamily="49" charset="0"/>
              </a:rPr>
              <a:t> MBP 192 SINIFI</a:t>
            </a:r>
            <a:r>
              <a:rPr lang="tr-TR" sz="1200" dirty="0">
                <a:latin typeface="Consolas" panose="020B0609020204030204" pitchFamily="49" charset="0"/>
              </a:rPr>
              <a:t>&lt;/h1&gt;</a:t>
            </a:r>
          </a:p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    &lt;p&gt;</a:t>
            </a: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  </a:t>
            </a:r>
            <a:r>
              <a:rPr lang="tr-TR" sz="1200" dirty="0">
                <a:latin typeface="Consolas" panose="020B0609020204030204" pitchFamily="49" charset="0"/>
              </a:rPr>
              <a:t>&lt;?</a:t>
            </a:r>
            <a:r>
              <a:rPr lang="tr-TR" sz="1200" dirty="0" err="1">
                <a:latin typeface="Consolas" panose="020B0609020204030204" pitchFamily="49" charset="0"/>
              </a:rPr>
              <a:t>php</a:t>
            </a:r>
            <a:r>
              <a:rPr lang="tr-TR" sz="1200" dirty="0">
                <a:latin typeface="Consolas" panose="020B0609020204030204" pitchFamily="49" charset="0"/>
              </a:rPr>
              <a:t> </a:t>
            </a:r>
            <a:r>
              <a:rPr lang="tr-TR" sz="1200" dirty="0" err="1">
                <a:latin typeface="Consolas" panose="020B0609020204030204" pitchFamily="49" charset="0"/>
              </a:rPr>
              <a:t>echo</a:t>
            </a:r>
            <a:r>
              <a:rPr lang="tr-TR" sz="1200" dirty="0">
                <a:latin typeface="Consolas" panose="020B0609020204030204" pitchFamily="49" charset="0"/>
              </a:rPr>
              <a:t> "Emrah Yüksel"; ?&gt;</a:t>
            </a: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tr-TR" sz="1200" dirty="0">
                <a:latin typeface="Consolas" panose="020B0609020204030204" pitchFamily="49" charset="0"/>
              </a:rPr>
              <a:t>&lt;/p&gt;</a:t>
            </a:r>
          </a:p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    &lt;p&gt;</a:t>
            </a:r>
          </a:p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      </a:t>
            </a:r>
            <a:r>
              <a:rPr lang="tr-TR" sz="1200" dirty="0" err="1">
                <a:latin typeface="Consolas" panose="020B0609020204030204" pitchFamily="49" charset="0"/>
              </a:rPr>
              <a:t>Lorem</a:t>
            </a:r>
            <a:r>
              <a:rPr lang="tr-TR" sz="1200" dirty="0">
                <a:latin typeface="Consolas" panose="020B0609020204030204" pitchFamily="49" charset="0"/>
              </a:rPr>
              <a:t> </a:t>
            </a:r>
            <a:r>
              <a:rPr lang="tr-TR" sz="1200" dirty="0" err="1">
                <a:latin typeface="Consolas" panose="020B0609020204030204" pitchFamily="49" charset="0"/>
              </a:rPr>
              <a:t>ipsum</a:t>
            </a:r>
            <a:r>
              <a:rPr lang="tr-TR" sz="1200" dirty="0">
                <a:latin typeface="Consolas" panose="020B0609020204030204" pitchFamily="49" charset="0"/>
              </a:rPr>
              <a:t>... </a:t>
            </a:r>
          </a:p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        &lt;?</a:t>
            </a:r>
            <a:r>
              <a:rPr lang="tr-TR" sz="1200" dirty="0" err="1">
                <a:latin typeface="Consolas" panose="020B0609020204030204" pitchFamily="49" charset="0"/>
              </a:rPr>
              <a:t>php</a:t>
            </a:r>
            <a:r>
              <a:rPr lang="tr-TR" sz="1200" dirty="0">
                <a:latin typeface="Consolas" panose="020B0609020204030204" pitchFamily="49" charset="0"/>
              </a:rPr>
              <a:t> </a:t>
            </a:r>
            <a:r>
              <a:rPr lang="tr-TR" sz="1200" dirty="0" err="1">
                <a:latin typeface="Consolas" panose="020B0609020204030204" pitchFamily="49" charset="0"/>
              </a:rPr>
              <a:t>echo</a:t>
            </a:r>
            <a:r>
              <a:rPr lang="tr-TR" sz="1200" dirty="0">
                <a:latin typeface="Consolas" panose="020B0609020204030204" pitchFamily="49" charset="0"/>
              </a:rPr>
              <a:t> " Bu kod HTML etiketi </a:t>
            </a:r>
            <a:r>
              <a:rPr lang="en-US" sz="1200" dirty="0">
                <a:latin typeface="Consolas" panose="020B0609020204030204" pitchFamily="49" charset="0"/>
              </a:rPr>
              <a:t>		</a:t>
            </a:r>
            <a:r>
              <a:rPr lang="tr-TR" sz="1200" dirty="0">
                <a:latin typeface="Consolas" panose="020B0609020204030204" pitchFamily="49" charset="0"/>
              </a:rPr>
              <a:t>arasına eklendi "; ?&gt; </a:t>
            </a:r>
          </a:p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        </a:t>
            </a:r>
            <a:r>
              <a:rPr lang="tr-TR" sz="1200" dirty="0" err="1">
                <a:latin typeface="Consolas" panose="020B0609020204030204" pitchFamily="49" charset="0"/>
              </a:rPr>
              <a:t>Excepteur</a:t>
            </a:r>
            <a:r>
              <a:rPr lang="tr-TR" sz="1200" dirty="0">
                <a:latin typeface="Consolas" panose="020B0609020204030204" pitchFamily="49" charset="0"/>
              </a:rPr>
              <a:t> </a:t>
            </a:r>
            <a:r>
              <a:rPr lang="tr-TR" sz="1200" dirty="0" err="1">
                <a:latin typeface="Consolas" panose="020B0609020204030204" pitchFamily="49" charset="0"/>
              </a:rPr>
              <a:t>sint</a:t>
            </a:r>
            <a:r>
              <a:rPr lang="tr-TR" sz="1200" dirty="0">
                <a:latin typeface="Consolas" panose="020B0609020204030204" pitchFamily="49" charset="0"/>
              </a:rPr>
              <a:t>...</a:t>
            </a:r>
          </a:p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    &lt;/p&gt;</a:t>
            </a:r>
          </a:p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&lt;/body&gt;</a:t>
            </a:r>
          </a:p>
          <a:p>
            <a:pPr marL="0" indent="0">
              <a:buNone/>
            </a:pPr>
            <a:r>
              <a:rPr lang="tr-TR" sz="1200" dirty="0">
                <a:latin typeface="Consolas" panose="020B0609020204030204" pitchFamily="49" charset="0"/>
              </a:rPr>
              <a:t>&lt;/html&gt;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70E2C40-03B6-350D-0611-0255F174B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 anchorCtr="0"/>
          <a:lstStyle/>
          <a:p>
            <a:r>
              <a:rPr lang="tr-TR" dirty="0">
                <a:solidFill>
                  <a:srgbClr val="FF0000"/>
                </a:solidFill>
              </a:rPr>
              <a:t>PHP İçinden HTML Çıktısı Verme</a:t>
            </a:r>
            <a:r>
              <a:rPr lang="en-US" dirty="0">
                <a:solidFill>
                  <a:srgbClr val="FF0000"/>
                </a:solidFill>
              </a:rPr>
              <a:t>  - “ ” </a:t>
            </a:r>
            <a:r>
              <a:rPr lang="en-US" dirty="0" err="1">
                <a:solidFill>
                  <a:srgbClr val="FF0000"/>
                </a:solidFill>
              </a:rPr>
              <a:t>dikkat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8F5F0-CC54-2C27-B6F9-D1010FB2939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&lt;!DOCTYPE html&gt;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&lt;html&gt;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&lt;</a:t>
            </a:r>
            <a:r>
              <a:rPr lang="tr-TR" dirty="0" err="1">
                <a:latin typeface="Consolas" panose="020B0609020204030204" pitchFamily="49" charset="0"/>
              </a:rPr>
              <a:t>head</a:t>
            </a:r>
            <a:r>
              <a:rPr lang="tr-TR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    &lt;</a:t>
            </a:r>
            <a:r>
              <a:rPr lang="tr-TR" dirty="0" err="1">
                <a:latin typeface="Consolas" panose="020B0609020204030204" pitchFamily="49" charset="0"/>
              </a:rPr>
              <a:t>title</a:t>
            </a:r>
            <a:r>
              <a:rPr lang="tr-TR" dirty="0">
                <a:latin typeface="Consolas" panose="020B0609020204030204" pitchFamily="49" charset="0"/>
              </a:rPr>
              <a:t>&gt;PHP&lt;/</a:t>
            </a:r>
            <a:r>
              <a:rPr lang="tr-TR" dirty="0" err="1">
                <a:latin typeface="Consolas" panose="020B0609020204030204" pitchFamily="49" charset="0"/>
              </a:rPr>
              <a:t>title</a:t>
            </a:r>
            <a:r>
              <a:rPr lang="tr-TR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&lt;/</a:t>
            </a:r>
            <a:r>
              <a:rPr lang="tr-TR" dirty="0" err="1">
                <a:latin typeface="Consolas" panose="020B0609020204030204" pitchFamily="49" charset="0"/>
              </a:rPr>
              <a:t>head</a:t>
            </a:r>
            <a:r>
              <a:rPr lang="tr-TR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&lt;body&gt;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    &lt;?</a:t>
            </a:r>
            <a:r>
              <a:rPr lang="tr-TR" dirty="0" err="1">
                <a:latin typeface="Consolas" panose="020B0609020204030204" pitchFamily="49" charset="0"/>
              </a:rPr>
              <a:t>php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    </a:t>
            </a:r>
            <a:r>
              <a:rPr lang="tr-TR" dirty="0" err="1">
                <a:latin typeface="Consolas" panose="020B0609020204030204" pitchFamily="49" charset="0"/>
              </a:rPr>
              <a:t>echo</a:t>
            </a:r>
            <a:r>
              <a:rPr lang="tr-TR" dirty="0">
                <a:latin typeface="Consolas" panose="020B0609020204030204" pitchFamily="49" charset="0"/>
              </a:rPr>
              <a:t> "&lt;h1&gt;Merhaba MBP 192 &lt;/h1&gt;";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    </a:t>
            </a:r>
            <a:r>
              <a:rPr lang="tr-TR" dirty="0" err="1">
                <a:latin typeface="Consolas" panose="020B0609020204030204" pitchFamily="49" charset="0"/>
              </a:rPr>
              <a:t>echo</a:t>
            </a:r>
            <a:r>
              <a:rPr lang="tr-TR" dirty="0">
                <a:latin typeface="Consolas" panose="020B0609020204030204" pitchFamily="49" charset="0"/>
              </a:rPr>
              <a:t> "&lt;p&gt; PHP Dersi &lt;/p&gt;";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    </a:t>
            </a:r>
            <a:r>
              <a:rPr lang="tr-TR" dirty="0" err="1">
                <a:latin typeface="Consolas" panose="020B0609020204030204" pitchFamily="49" charset="0"/>
              </a:rPr>
              <a:t>echo</a:t>
            </a:r>
            <a:r>
              <a:rPr lang="tr-TR" dirty="0">
                <a:latin typeface="Consolas" panose="020B0609020204030204" pitchFamily="49" charset="0"/>
              </a:rPr>
              <a:t> "&lt;p&gt; </a:t>
            </a:r>
            <a:r>
              <a:rPr lang="tr-TR" dirty="0" err="1">
                <a:latin typeface="Consolas" panose="020B0609020204030204" pitchFamily="49" charset="0"/>
              </a:rPr>
              <a:t>Lorem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ipsum</a:t>
            </a:r>
            <a:r>
              <a:rPr lang="tr-TR" dirty="0">
                <a:latin typeface="Consolas" panose="020B0609020204030204" pitchFamily="49" charset="0"/>
              </a:rPr>
              <a:t>...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        Bu kod HTML etiketi arasına </a:t>
            </a: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tr-TR" dirty="0">
                <a:latin typeface="Consolas" panose="020B0609020204030204" pitchFamily="49" charset="0"/>
              </a:rPr>
              <a:t>eklendi 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        </a:t>
            </a:r>
            <a:r>
              <a:rPr lang="tr-TR" dirty="0" err="1">
                <a:latin typeface="Consolas" panose="020B0609020204030204" pitchFamily="49" charset="0"/>
              </a:rPr>
              <a:t>Excepteur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sint</a:t>
            </a:r>
            <a:r>
              <a:rPr lang="tr-TR" dirty="0">
                <a:latin typeface="Consolas" panose="020B0609020204030204" pitchFamily="49" charset="0"/>
              </a:rPr>
              <a:t>... &lt;/p&gt;";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    ?&gt;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&lt;/body&gt;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&lt;/html&gt;</a:t>
            </a:r>
          </a:p>
          <a:p>
            <a:pPr marL="0" indent="0">
              <a:buNone/>
            </a:pPr>
            <a:br>
              <a:rPr lang="tr-TR" dirty="0">
                <a:latin typeface="Consolas" panose="020B0609020204030204" pitchFamily="49" charset="0"/>
              </a:rPr>
            </a:b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tr-TR" sz="12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9FE23-5F45-4B4E-3379-35B0F9A50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F56FD2-7595-4018-8F18-DCE15FFDB08C}" type="slidenum">
              <a:rPr lang="tr-TR" altLang="en-US" smtClean="0"/>
              <a:pPr>
                <a:defRPr/>
              </a:pPr>
              <a:t>18</a:t>
            </a:fld>
            <a:endParaRPr lang="tr-TR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A4C642-64FD-B70B-E7E9-E9F4F9AE1F98}"/>
              </a:ext>
            </a:extLst>
          </p:cNvPr>
          <p:cNvSpPr txBox="1">
            <a:spLocks/>
          </p:cNvSpPr>
          <p:nvPr/>
        </p:nvSpPr>
        <p:spPr bwMode="auto">
          <a:xfrm>
            <a:off x="2915817" y="5991922"/>
            <a:ext cx="5328592" cy="395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 err="1"/>
              <a:t>Kod</a:t>
            </a:r>
            <a:r>
              <a:rPr lang="en-US" sz="1600" b="0" dirty="0"/>
              <a:t>: h2-start &gt;&gt; 2-html_ic_ice.php, 3-html_ic_ice.php</a:t>
            </a:r>
            <a:endParaRPr lang="tr-TR" sz="1600" b="0" dirty="0"/>
          </a:p>
        </p:txBody>
      </p:sp>
    </p:spTree>
    <p:extLst>
      <p:ext uri="{BB962C8B-B14F-4D97-AF65-F5344CB8AC3E}">
        <p14:creationId xmlns:p14="http://schemas.microsoft.com/office/powerpoint/2010/main" val="2725640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3685B9-E86D-99EC-C0B1-C8B00B0B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Değişkenler</a:t>
            </a:r>
            <a:endParaRPr lang="tr-TR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63A9388-D8B4-FF6B-E05F-D769FAD56D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Temek </a:t>
            </a:r>
            <a:r>
              <a:rPr lang="en-US" dirty="0" err="1"/>
              <a:t>kullanım</a:t>
            </a:r>
            <a:r>
              <a:rPr lang="en-US" dirty="0"/>
              <a:t> </a:t>
            </a:r>
            <a:r>
              <a:rPr lang="en-US" dirty="0" err="1"/>
              <a:t>amacı</a:t>
            </a:r>
            <a:r>
              <a:rPr lang="en-US" dirty="0"/>
              <a:t>, b</a:t>
            </a:r>
            <a:r>
              <a:rPr lang="tr-TR" dirty="0"/>
              <a:t>ir veriyi program boyunca tekrar tekrar yazmak yerine, ona bir isim atayıp o isimle çağırmak</a:t>
            </a:r>
            <a:r>
              <a:rPr lang="en-US" dirty="0" err="1"/>
              <a:t>tır</a:t>
            </a:r>
            <a:r>
              <a:rPr lang="en-US" dirty="0"/>
              <a:t>. </a:t>
            </a:r>
          </a:p>
          <a:p>
            <a:pPr lvl="1"/>
            <a:r>
              <a:rPr lang="tr-TR" b="1" dirty="0"/>
              <a:t>Veri Yönetimi</a:t>
            </a:r>
            <a:r>
              <a:rPr lang="tr-TR" dirty="0"/>
              <a:t>: Değişkenin değerini bir kez değiştirdiğinizde, o değişkeni kullandığınız her yerde değer güncellenmiş olur</a:t>
            </a:r>
            <a:endParaRPr lang="en-US" dirty="0"/>
          </a:p>
          <a:p>
            <a:pPr lvl="1"/>
            <a:r>
              <a:rPr lang="tr-TR" b="1" dirty="0"/>
              <a:t>Okunabilirlik:</a:t>
            </a:r>
            <a:r>
              <a:rPr lang="tr-TR" dirty="0"/>
              <a:t> Karmaşık veriler yerine anlamlı isimler ($fiyat, $</a:t>
            </a:r>
            <a:r>
              <a:rPr lang="tr-TR" dirty="0" err="1"/>
              <a:t>musteri_adi</a:t>
            </a:r>
            <a:r>
              <a:rPr lang="tr-TR" dirty="0"/>
              <a:t>) kullanarak kodun ne yaptığı kolayca anlaşılır.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D66A1E8-6EC9-ACC4-508D-EE167DF887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4648200" y="1719263"/>
            <a:ext cx="4038600" cy="1908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24167-CA5D-C16B-A94D-FD551025B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22D41-3B2A-46A0-852A-5E39E51C087C}" type="slidenum">
              <a:rPr lang="tr-TR" altLang="en-US" smtClean="0"/>
              <a:pPr>
                <a:defRPr/>
              </a:pPr>
              <a:t>19</a:t>
            </a:fld>
            <a:endParaRPr lang="tr-TR" alt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AB8DFC2-1056-34F5-C251-773D8075D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4005808"/>
            <a:ext cx="4410498" cy="160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054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4745E-79EC-B41A-78EC-D66FBE750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C00000"/>
                </a:solidFill>
              </a:rPr>
              <a:t>Değişkenler ve Veri Tipleri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6ED2AF-B91C-2E4A-A99F-87C072941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>
                <a:solidFill>
                  <a:srgbClr val="0070C0"/>
                </a:solidFill>
              </a:rPr>
              <a:t>Değişken Tanımlama Kuralları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62F785-7B16-A1DF-9D4F-8F5E74B876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/>
              <a:t>Tüm değişkenler </a:t>
            </a:r>
            <a:r>
              <a:rPr lang="tr-TR" b="1" dirty="0">
                <a:solidFill>
                  <a:srgbClr val="C00000"/>
                </a:solidFill>
              </a:rPr>
              <a:t>$</a:t>
            </a:r>
            <a:r>
              <a:rPr lang="tr-TR" dirty="0"/>
              <a:t> işareti ile</a:t>
            </a:r>
            <a:r>
              <a:rPr lang="en-US" dirty="0"/>
              <a:t> </a:t>
            </a:r>
            <a:r>
              <a:rPr lang="tr-TR" dirty="0"/>
              <a:t>başlar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değişken</a:t>
            </a:r>
            <a:r>
              <a:rPr lang="en-US" dirty="0"/>
              <a:t> </a:t>
            </a:r>
            <a:r>
              <a:rPr lang="en-US" dirty="0" err="1"/>
              <a:t>ismi</a:t>
            </a:r>
            <a:r>
              <a:rPr lang="en-US" dirty="0"/>
              <a:t> </a:t>
            </a:r>
            <a:r>
              <a:rPr lang="en-US" dirty="0" err="1"/>
              <a:t>yazılır</a:t>
            </a:r>
            <a:r>
              <a:rPr lang="en-US" dirty="0"/>
              <a:t>. </a:t>
            </a:r>
          </a:p>
          <a:p>
            <a:r>
              <a:rPr lang="tr-TR" dirty="0"/>
              <a:t>Değişken adları </a:t>
            </a:r>
            <a:r>
              <a:rPr lang="tr-TR" u="sng" dirty="0"/>
              <a:t>bir harf </a:t>
            </a:r>
            <a:r>
              <a:rPr lang="tr-TR" dirty="0"/>
              <a:t>veya </a:t>
            </a:r>
            <a:r>
              <a:rPr lang="tr-TR" u="sng" dirty="0"/>
              <a:t>alt çizgi </a:t>
            </a:r>
            <a:r>
              <a:rPr lang="tr-TR" dirty="0"/>
              <a:t>(_) ile </a:t>
            </a:r>
            <a:r>
              <a:rPr lang="tr-TR" b="1" dirty="0">
                <a:solidFill>
                  <a:srgbClr val="C00000"/>
                </a:solidFill>
              </a:rPr>
              <a:t>başlamalıdır</a:t>
            </a:r>
            <a:r>
              <a:rPr lang="tr-TR" dirty="0"/>
              <a:t>.</a:t>
            </a:r>
            <a:endParaRPr lang="en-US" dirty="0"/>
          </a:p>
          <a:p>
            <a:r>
              <a:rPr lang="tr-TR" b="1" dirty="0"/>
              <a:t>Sayı ile başlaya</a:t>
            </a:r>
            <a:r>
              <a:rPr lang="tr-TR" b="1" dirty="0">
                <a:solidFill>
                  <a:srgbClr val="FF0000"/>
                </a:solidFill>
              </a:rPr>
              <a:t>maz</a:t>
            </a:r>
            <a:r>
              <a:rPr lang="tr-TR" b="1" dirty="0"/>
              <a:t>lar</a:t>
            </a:r>
            <a:r>
              <a:rPr lang="tr-TR" dirty="0"/>
              <a:t> ancak içinde sayı barındırabilirler.</a:t>
            </a:r>
            <a:endParaRPr lang="en-US" dirty="0"/>
          </a:p>
          <a:p>
            <a:r>
              <a:rPr lang="tr-TR" dirty="0"/>
              <a:t>Büyük-küçük harfe duyarlıdırlar </a:t>
            </a:r>
            <a:endParaRPr lang="en-US" dirty="0"/>
          </a:p>
          <a:p>
            <a:pPr lvl="1"/>
            <a:r>
              <a:rPr lang="tr-TR" dirty="0"/>
              <a:t>( $ad ile $AD farklı değişkenlerdir).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E889F5-F85B-8E9C-AA53-EB90388FF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238" y="6279259"/>
            <a:ext cx="3509714" cy="39548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 err="1"/>
              <a:t>Kod</a:t>
            </a:r>
            <a:r>
              <a:rPr lang="en-US" sz="1600" b="0" dirty="0"/>
              <a:t>: h2-start &gt;&gt; </a:t>
            </a:r>
            <a:r>
              <a:rPr lang="en-US" sz="1600" b="0" dirty="0" err="1"/>
              <a:t>değişkenler.php</a:t>
            </a:r>
            <a:endParaRPr lang="tr-TR" sz="1600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CBE8C-2CD5-0E50-AC48-2DABBFFE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F56FD2-7595-4018-8F18-DCE15FFDB08C}" type="slidenum">
              <a:rPr lang="tr-TR" altLang="en-US" smtClean="0"/>
              <a:pPr>
                <a:defRPr/>
              </a:pPr>
              <a:t>20</a:t>
            </a:fld>
            <a:endParaRPr lang="tr-TR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8E3B8C-EDC6-F6A2-0904-BBD438FA2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043" y="5088390"/>
            <a:ext cx="4478000" cy="7200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4A3DED-772B-BEF2-940E-87CEE9B54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380" y="2650890"/>
            <a:ext cx="4519327" cy="199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35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193DB-6A49-F38F-2A8F-F669E37D9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Değişken Veri Tipleri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Tanımlama</a:t>
            </a:r>
            <a:endParaRPr lang="tr-TR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AD7579E-9909-B0D6-6783-CC0166207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1500" b="1" dirty="0" err="1"/>
              <a:t>String</a:t>
            </a:r>
            <a:r>
              <a:rPr lang="tr-TR" sz="1500" b="1" dirty="0"/>
              <a:t> (Metin): </a:t>
            </a:r>
            <a:r>
              <a:rPr lang="tr-TR" sz="1500" dirty="0"/>
              <a:t>Tırnak içerisinde yazılan her türlü metinsel veridir.</a:t>
            </a:r>
            <a:endParaRPr lang="en-US" sz="1500" dirty="0"/>
          </a:p>
          <a:p>
            <a:pPr lvl="1"/>
            <a:r>
              <a:rPr lang="tr-TR" sz="1500" dirty="0">
                <a:latin typeface="Consolas" panose="020B0609020204030204" pitchFamily="49" charset="0"/>
              </a:rPr>
              <a:t>$isim = "Volkan";</a:t>
            </a:r>
            <a:endParaRPr lang="en-US" sz="1500" dirty="0">
              <a:latin typeface="Consolas" panose="020B0609020204030204" pitchFamily="49" charset="0"/>
            </a:endParaRPr>
          </a:p>
          <a:p>
            <a:r>
              <a:rPr lang="tr-TR" sz="1500" b="1" dirty="0" err="1"/>
              <a:t>Integer</a:t>
            </a:r>
            <a:r>
              <a:rPr lang="tr-TR" sz="1500" b="1" dirty="0"/>
              <a:t> (Tam Sayı): </a:t>
            </a:r>
            <a:r>
              <a:rPr lang="tr-TR" sz="1500" dirty="0"/>
              <a:t>Ondalık kısmı olmayan pozitif veya negatif sayılardır.</a:t>
            </a:r>
            <a:endParaRPr lang="en-US" sz="1500" dirty="0"/>
          </a:p>
          <a:p>
            <a:pPr lvl="1"/>
            <a:r>
              <a:rPr lang="tr-TR" sz="1500" dirty="0">
                <a:latin typeface="Consolas" panose="020B0609020204030204" pitchFamily="49" charset="0"/>
              </a:rPr>
              <a:t>$</a:t>
            </a:r>
            <a:r>
              <a:rPr lang="tr-TR" sz="1500" dirty="0" err="1">
                <a:latin typeface="Consolas" panose="020B0609020204030204" pitchFamily="49" charset="0"/>
              </a:rPr>
              <a:t>yil</a:t>
            </a:r>
            <a:r>
              <a:rPr lang="tr-TR" sz="1500" dirty="0">
                <a:latin typeface="Consolas" panose="020B0609020204030204" pitchFamily="49" charset="0"/>
              </a:rPr>
              <a:t> = 2026;</a:t>
            </a:r>
            <a:endParaRPr lang="en-US" sz="1500" dirty="0">
              <a:latin typeface="Consolas" panose="020B0609020204030204" pitchFamily="49" charset="0"/>
            </a:endParaRPr>
          </a:p>
          <a:p>
            <a:r>
              <a:rPr lang="tr-TR" sz="1500" b="1" dirty="0" err="1"/>
              <a:t>Float</a:t>
            </a:r>
            <a:r>
              <a:rPr lang="tr-TR" sz="1500" b="1" dirty="0"/>
              <a:t> / </a:t>
            </a:r>
            <a:r>
              <a:rPr lang="tr-TR" sz="1500" b="1" dirty="0" err="1"/>
              <a:t>Double</a:t>
            </a:r>
            <a:r>
              <a:rPr lang="tr-TR" sz="1500" b="1" dirty="0"/>
              <a:t> (Ondalıklı Sayı): </a:t>
            </a:r>
            <a:r>
              <a:rPr lang="tr-TR" sz="1500" dirty="0"/>
              <a:t>Virgüllü (noktalı) sayılardır.</a:t>
            </a:r>
            <a:endParaRPr lang="en-US" sz="1500" dirty="0"/>
          </a:p>
          <a:p>
            <a:pPr lvl="1"/>
            <a:r>
              <a:rPr lang="tr-TR" sz="1500" dirty="0">
                <a:latin typeface="Consolas" panose="020B0609020204030204" pitchFamily="49" charset="0"/>
              </a:rPr>
              <a:t>$fiyat = 150.50;</a:t>
            </a:r>
            <a:endParaRPr lang="en-US" sz="1500" dirty="0">
              <a:latin typeface="Consolas" panose="020B0609020204030204" pitchFamily="49" charset="0"/>
            </a:endParaRPr>
          </a:p>
          <a:p>
            <a:r>
              <a:rPr lang="tr-TR" sz="1500" b="1" dirty="0" err="1"/>
              <a:t>Boolean</a:t>
            </a:r>
            <a:r>
              <a:rPr lang="tr-TR" sz="1500" b="1" dirty="0"/>
              <a:t> (Mantıksal): </a:t>
            </a:r>
            <a:r>
              <a:rPr lang="tr-TR" sz="1500" dirty="0"/>
              <a:t>Genellikle karar yapılarında kullanılır. Sadece iki değer alabilir</a:t>
            </a:r>
            <a:r>
              <a:rPr lang="en-US" sz="1500" dirty="0"/>
              <a:t>:</a:t>
            </a:r>
          </a:p>
          <a:p>
            <a:pPr lvl="1"/>
            <a:r>
              <a:rPr lang="en-US" sz="1500" dirty="0">
                <a:latin typeface="Consolas" panose="020B0609020204030204" pitchFamily="49" charset="0"/>
              </a:rPr>
              <a:t>T</a:t>
            </a:r>
            <a:r>
              <a:rPr lang="tr-TR" sz="1500" dirty="0" err="1">
                <a:latin typeface="Consolas" panose="020B0609020204030204" pitchFamily="49" charset="0"/>
              </a:rPr>
              <a:t>rue</a:t>
            </a:r>
            <a:r>
              <a:rPr lang="tr-TR" sz="1500" dirty="0"/>
              <a:t> (doğru) veya </a:t>
            </a:r>
            <a:r>
              <a:rPr lang="en-US" sz="1500" dirty="0">
                <a:latin typeface="Consolas" panose="020B0609020204030204" pitchFamily="49" charset="0"/>
              </a:rPr>
              <a:t>F</a:t>
            </a:r>
            <a:r>
              <a:rPr lang="tr-TR" sz="1500" dirty="0" err="1">
                <a:latin typeface="Consolas" panose="020B0609020204030204" pitchFamily="49" charset="0"/>
              </a:rPr>
              <a:t>alse</a:t>
            </a:r>
            <a:r>
              <a:rPr lang="tr-TR" sz="1500" dirty="0"/>
              <a:t> (yanlış). </a:t>
            </a:r>
            <a:endParaRPr lang="en-US" sz="1500" dirty="0"/>
          </a:p>
          <a:p>
            <a:r>
              <a:rPr lang="tr-TR" sz="1500" b="1" dirty="0" err="1"/>
              <a:t>Array</a:t>
            </a:r>
            <a:r>
              <a:rPr lang="tr-TR" sz="1500" b="1" dirty="0"/>
              <a:t> (Dizi): </a:t>
            </a:r>
            <a:r>
              <a:rPr lang="tr-TR" sz="1500" dirty="0"/>
              <a:t>Tek bir değişken içinde birden fazla değer tutmamızı sağlar.</a:t>
            </a:r>
            <a:endParaRPr lang="en-US" sz="1500" dirty="0"/>
          </a:p>
          <a:p>
            <a:pPr lvl="1"/>
            <a:r>
              <a:rPr lang="tr-TR" sz="1500" dirty="0">
                <a:latin typeface="Consolas" panose="020B0609020204030204" pitchFamily="49" charset="0"/>
              </a:rPr>
              <a:t>$hizmetler = </a:t>
            </a:r>
            <a:r>
              <a:rPr lang="tr-TR" sz="1500" dirty="0" err="1">
                <a:latin typeface="Consolas" panose="020B0609020204030204" pitchFamily="49" charset="0"/>
              </a:rPr>
              <a:t>array</a:t>
            </a:r>
            <a:r>
              <a:rPr lang="tr-TR" sz="1500" dirty="0">
                <a:latin typeface="Consolas" panose="020B0609020204030204" pitchFamily="49" charset="0"/>
              </a:rPr>
              <a:t>("Saç Kesimi", "Sakal Tıraşı");</a:t>
            </a:r>
            <a:endParaRPr lang="en-US" sz="1500" dirty="0">
              <a:latin typeface="Consolas" panose="020B0609020204030204" pitchFamily="49" charset="0"/>
            </a:endParaRPr>
          </a:p>
          <a:p>
            <a:r>
              <a:rPr lang="tr-TR" sz="1500" b="1" dirty="0"/>
              <a:t>Object (Nesne): </a:t>
            </a:r>
            <a:r>
              <a:rPr lang="tr-TR" sz="1500" dirty="0" err="1"/>
              <a:t>Dökümanlarda</a:t>
            </a:r>
            <a:r>
              <a:rPr lang="tr-TR" sz="1500" dirty="0"/>
              <a:t> belirtilen "nesne yönelimli" yapının temelidir. Sınıflardan (</a:t>
            </a:r>
            <a:r>
              <a:rPr lang="tr-TR" sz="1500" dirty="0" err="1"/>
              <a:t>class</a:t>
            </a:r>
            <a:r>
              <a:rPr lang="tr-TR" sz="1500" dirty="0"/>
              <a:t>) türetilen verilerdir.</a:t>
            </a:r>
            <a:endParaRPr lang="en-US" sz="1500" dirty="0"/>
          </a:p>
          <a:p>
            <a:r>
              <a:rPr lang="tr-TR" sz="1500" b="1" dirty="0"/>
              <a:t>NULL:</a:t>
            </a:r>
            <a:r>
              <a:rPr lang="tr-TR" sz="1500" dirty="0"/>
              <a:t> Değişkenin hiçbir değer taşımadığını ifade eder.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8C04432-1AF7-0964-D1E2-8D45AFF6F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12987" y="87400"/>
            <a:ext cx="6318026" cy="881893"/>
          </a:xfrm>
        </p:spPr>
        <p:txBody>
          <a:bodyPr/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$</a:t>
            </a:r>
            <a:r>
              <a:rPr lang="en-US" sz="24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degisken_adi</a:t>
            </a:r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sz="24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degisken_degeri</a:t>
            </a:r>
            <a:endParaRPr lang="tr-TR" sz="2400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98E06-0741-453E-A0FB-1E63B9BEF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22D41-3B2A-46A0-852A-5E39E51C087C}" type="slidenum">
              <a:rPr lang="tr-TR" altLang="en-US" smtClean="0"/>
              <a:pPr>
                <a:defRPr/>
              </a:pPr>
              <a:t>21</a:t>
            </a:fld>
            <a:endParaRPr lang="tr-TR" alt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78F9648-8498-446E-1C54-252D0BA9E010}"/>
              </a:ext>
            </a:extLst>
          </p:cNvPr>
          <p:cNvSpPr txBox="1">
            <a:spLocks/>
          </p:cNvSpPr>
          <p:nvPr/>
        </p:nvSpPr>
        <p:spPr>
          <a:xfrm>
            <a:off x="99840" y="6372225"/>
            <a:ext cx="3509714" cy="3954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Kod</a:t>
            </a:r>
            <a:r>
              <a:rPr lang="en-US" sz="1600" dirty="0"/>
              <a:t>: h2-start &gt;&gt; </a:t>
            </a:r>
            <a:r>
              <a:rPr lang="en-US" sz="1600" dirty="0" err="1"/>
              <a:t>veri_tipleri.php</a:t>
            </a:r>
            <a:endParaRPr lang="tr-TR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90A73D-F508-5D27-3E32-BC092F925466}"/>
              </a:ext>
            </a:extLst>
          </p:cNvPr>
          <p:cNvSpPr txBox="1"/>
          <p:nvPr/>
        </p:nvSpPr>
        <p:spPr>
          <a:xfrm>
            <a:off x="569810" y="2036280"/>
            <a:ext cx="28197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Değişken Yazım Standartları (</a:t>
            </a:r>
            <a:r>
              <a:rPr lang="tr-TR" sz="14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CamelCase</a:t>
            </a:r>
            <a:r>
              <a:rPr lang="tr-TR" sz="1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tr-TR" sz="14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tr-TR" sz="1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tr-TR" sz="14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Snake_Case</a:t>
            </a:r>
            <a:r>
              <a:rPr lang="tr-TR" sz="1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2C0489-6C9C-7BC5-2DDF-4AB1718AF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68" y="2645275"/>
            <a:ext cx="2448267" cy="981212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2708B1CB-D0DA-141F-8C53-967234983B3E}"/>
              </a:ext>
            </a:extLst>
          </p:cNvPr>
          <p:cNvSpPr/>
          <p:nvPr/>
        </p:nvSpPr>
        <p:spPr>
          <a:xfrm>
            <a:off x="-44108" y="3005315"/>
            <a:ext cx="755576" cy="216024"/>
          </a:xfrm>
          <a:prstGeom prst="rightArrow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err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Önerilen</a:t>
            </a:r>
            <a:endParaRPr lang="tr-TR" sz="9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C34B2F-4555-D39D-F449-ACB04CF32FCC}"/>
              </a:ext>
            </a:extLst>
          </p:cNvPr>
          <p:cNvSpPr txBox="1"/>
          <p:nvPr/>
        </p:nvSpPr>
        <p:spPr>
          <a:xfrm>
            <a:off x="591654" y="3919619"/>
            <a:ext cx="26402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 err="1">
                <a:solidFill>
                  <a:srgbClr val="C00000"/>
                </a:solidFill>
              </a:rPr>
              <a:t>var_dump</a:t>
            </a:r>
            <a:r>
              <a:rPr lang="tr-TR" b="1" dirty="0">
                <a:solidFill>
                  <a:srgbClr val="C00000"/>
                </a:solidFill>
              </a:rPr>
              <a:t>()</a:t>
            </a:r>
            <a:r>
              <a:rPr lang="en-US" b="1" dirty="0">
                <a:solidFill>
                  <a:srgbClr val="C00000"/>
                </a:solidFill>
              </a:rPr>
              <a:t>,</a:t>
            </a:r>
            <a:r>
              <a:rPr lang="tr-TR" dirty="0"/>
              <a:t> bir değişkenin yapısı hakkında hem </a:t>
            </a:r>
            <a:r>
              <a:rPr lang="tr-TR" b="1" dirty="0"/>
              <a:t>değerini</a:t>
            </a:r>
            <a:r>
              <a:rPr lang="tr-TR" dirty="0"/>
              <a:t> hem de </a:t>
            </a:r>
            <a:r>
              <a:rPr lang="tr-TR" b="1" dirty="0"/>
              <a:t>türünü</a:t>
            </a:r>
            <a:r>
              <a:rPr lang="tr-TR" dirty="0"/>
              <a:t> (veri tipini) gösteren</a:t>
            </a:r>
            <a:r>
              <a:rPr lang="en-US" dirty="0"/>
              <a:t> </a:t>
            </a:r>
            <a:r>
              <a:rPr lang="en-US" dirty="0" err="1"/>
              <a:t>fonksiyondur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835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77BF712-AFEB-44F5-25A1-D189F8C3D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332656"/>
            <a:ext cx="7886700" cy="823912"/>
          </a:xfrm>
        </p:spPr>
        <p:txBody>
          <a:bodyPr/>
          <a:lstStyle/>
          <a:p>
            <a:r>
              <a:rPr lang="tr-TR" dirty="0"/>
              <a:t>Değişken</a:t>
            </a:r>
            <a:r>
              <a:rPr lang="en-US" dirty="0"/>
              <a:t> </a:t>
            </a:r>
            <a:r>
              <a:rPr lang="en-US" dirty="0" err="1"/>
              <a:t>Tanımlama</a:t>
            </a:r>
            <a:r>
              <a:rPr lang="en-US" dirty="0"/>
              <a:t> </a:t>
            </a:r>
            <a:r>
              <a:rPr lang="en-US" dirty="0" err="1"/>
              <a:t>Örnekleri</a:t>
            </a:r>
            <a:endParaRPr lang="tr-TR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14DBA77-0CAE-B493-DDBE-334609F06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1147043"/>
            <a:ext cx="3868737" cy="823912"/>
          </a:xfrm>
        </p:spPr>
        <p:txBody>
          <a:bodyPr/>
          <a:lstStyle/>
          <a:p>
            <a:r>
              <a:rPr lang="en-US" dirty="0"/>
              <a:t>Doğru	</a:t>
            </a:r>
            <a:endParaRPr lang="tr-TR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DAAAEBB-B7B4-DC21-F619-518F0CB8F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5536" y="1970955"/>
            <a:ext cx="3868737" cy="3186237"/>
          </a:xfrm>
        </p:spPr>
        <p:txBody>
          <a:bodyPr>
            <a:normAutofit fontScale="77500" lnSpcReduction="20000"/>
          </a:bodyPr>
          <a:lstStyle/>
          <a:p>
            <a:r>
              <a:rPr lang="tr-TR" sz="2100" b="1" dirty="0"/>
              <a:t>$</a:t>
            </a:r>
            <a:r>
              <a:rPr lang="tr-TR" sz="2100" b="1" dirty="0" err="1"/>
              <a:t>randevuID</a:t>
            </a:r>
            <a:r>
              <a:rPr lang="tr-TR" sz="2100" dirty="0"/>
              <a:t>: Harf ile başlar, standartlara uygundur. </a:t>
            </a:r>
            <a:endParaRPr lang="en-US" sz="2100" dirty="0"/>
          </a:p>
          <a:p>
            <a:pPr lvl="1"/>
            <a:r>
              <a:rPr lang="tr-TR" sz="2100" dirty="0">
                <a:latin typeface="Consolas" panose="020B0609020204030204" pitchFamily="49" charset="0"/>
              </a:rPr>
              <a:t>$</a:t>
            </a:r>
            <a:r>
              <a:rPr lang="tr-TR" sz="2100" dirty="0" err="1">
                <a:latin typeface="Consolas" panose="020B0609020204030204" pitchFamily="49" charset="0"/>
              </a:rPr>
              <a:t>randevuID</a:t>
            </a:r>
            <a:r>
              <a:rPr lang="tr-TR" sz="2100" dirty="0">
                <a:latin typeface="Consolas" panose="020B0609020204030204" pitchFamily="49" charset="0"/>
              </a:rPr>
              <a:t> = 101; </a:t>
            </a:r>
            <a:r>
              <a:rPr lang="tr-TR" sz="2100" dirty="0" err="1">
                <a:latin typeface="Consolas" panose="020B0609020204030204" pitchFamily="49" charset="0"/>
              </a:rPr>
              <a:t>echo</a:t>
            </a:r>
            <a:r>
              <a:rPr lang="tr-TR" sz="2100" dirty="0">
                <a:latin typeface="Consolas" panose="020B0609020204030204" pitchFamily="49" charset="0"/>
              </a:rPr>
              <a:t> "Randevu Numarası: " . $</a:t>
            </a:r>
            <a:r>
              <a:rPr lang="tr-TR" sz="2100" dirty="0" err="1">
                <a:latin typeface="Consolas" panose="020B0609020204030204" pitchFamily="49" charset="0"/>
              </a:rPr>
              <a:t>randevuID</a:t>
            </a:r>
            <a:r>
              <a:rPr lang="tr-TR" sz="2100" dirty="0">
                <a:latin typeface="Consolas" panose="020B0609020204030204" pitchFamily="49" charset="0"/>
              </a:rPr>
              <a:t>;</a:t>
            </a:r>
            <a:endParaRPr lang="en-US" sz="2100" dirty="0">
              <a:latin typeface="Consolas" panose="020B0609020204030204" pitchFamily="49" charset="0"/>
            </a:endParaRPr>
          </a:p>
          <a:p>
            <a:r>
              <a:rPr lang="tr-TR" sz="2100" b="1" dirty="0"/>
              <a:t>$_</a:t>
            </a:r>
            <a:r>
              <a:rPr lang="tr-TR" sz="2100" b="1" dirty="0" err="1"/>
              <a:t>musteri</a:t>
            </a:r>
            <a:r>
              <a:rPr lang="tr-TR" sz="2100" dirty="0"/>
              <a:t>: Alt çizgi ile başlama</a:t>
            </a:r>
            <a:endParaRPr lang="en-US" sz="2100" dirty="0"/>
          </a:p>
          <a:p>
            <a:pPr lvl="1"/>
            <a:r>
              <a:rPr lang="fi-FI" sz="2100" dirty="0">
                <a:latin typeface="Consolas" panose="020B0609020204030204" pitchFamily="49" charset="0"/>
              </a:rPr>
              <a:t>$_musteri = "Volkan"; echo "Müşteri Adı: " . $_musteri;</a:t>
            </a:r>
            <a:endParaRPr lang="en-US" sz="2100" dirty="0">
              <a:latin typeface="Consolas" panose="020B0609020204030204" pitchFamily="49" charset="0"/>
            </a:endParaRPr>
          </a:p>
          <a:p>
            <a:r>
              <a:rPr lang="tr-TR" sz="2100" b="1" dirty="0"/>
              <a:t>$fiyat_2026</a:t>
            </a:r>
            <a:r>
              <a:rPr lang="tr-TR" sz="2100" dirty="0"/>
              <a:t>: İçinde sayı barındırabilir</a:t>
            </a:r>
            <a:endParaRPr lang="en-US" sz="2100" dirty="0"/>
          </a:p>
          <a:p>
            <a:pPr lvl="1"/>
            <a:r>
              <a:rPr lang="tr-TR" sz="2100" dirty="0">
                <a:latin typeface="Consolas" panose="020B0609020204030204" pitchFamily="49" charset="0"/>
              </a:rPr>
              <a:t>$fiyat_2026 = 250.00; </a:t>
            </a:r>
            <a:r>
              <a:rPr lang="tr-TR" sz="2100" dirty="0" err="1">
                <a:latin typeface="Consolas" panose="020B0609020204030204" pitchFamily="49" charset="0"/>
              </a:rPr>
              <a:t>echo</a:t>
            </a:r>
            <a:r>
              <a:rPr lang="tr-TR" sz="2100" dirty="0">
                <a:latin typeface="Consolas" panose="020B0609020204030204" pitchFamily="49" charset="0"/>
              </a:rPr>
              <a:t> "Gelecek Yıl Fiyatı: " . $fiyat_2026;</a:t>
            </a:r>
            <a:endParaRPr lang="en-US" sz="2100" dirty="0">
              <a:latin typeface="Consolas" panose="020B0609020204030204" pitchFamily="49" charset="0"/>
            </a:endParaRPr>
          </a:p>
          <a:p>
            <a:endParaRPr lang="tr-T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8FD0768-B4D0-CBEA-84BD-226E3F51E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94448" y="1147043"/>
            <a:ext cx="3887788" cy="823912"/>
          </a:xfrm>
        </p:spPr>
        <p:txBody>
          <a:bodyPr/>
          <a:lstStyle/>
          <a:p>
            <a:r>
              <a:rPr lang="en-US" dirty="0" err="1"/>
              <a:t>Hatalı</a:t>
            </a:r>
            <a:endParaRPr lang="tr-TR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93EF5CE-437E-0D3A-E45F-08FEB9582E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94448" y="1970954"/>
            <a:ext cx="3887788" cy="4200525"/>
          </a:xfrm>
        </p:spPr>
        <p:txBody>
          <a:bodyPr>
            <a:noAutofit/>
          </a:bodyPr>
          <a:lstStyle/>
          <a:p>
            <a:r>
              <a:rPr lang="tr-TR" sz="1200" b="1" dirty="0"/>
              <a:t>$2randevu: </a:t>
            </a:r>
            <a:r>
              <a:rPr lang="tr-TR" sz="1200" dirty="0"/>
              <a:t>Sayı ile başlayamaz</a:t>
            </a:r>
            <a:endParaRPr lang="en-US" sz="1200" dirty="0"/>
          </a:p>
          <a:p>
            <a:pPr lvl="1"/>
            <a:r>
              <a:rPr lang="tr-TR" sz="1200" dirty="0">
                <a:latin typeface="Consolas" panose="020B0609020204030204" pitchFamily="49" charset="0"/>
              </a:rPr>
              <a:t>// HATALI KULLANIM $2randevu = "14:30"; // PHP bu satırda '</a:t>
            </a:r>
            <a:r>
              <a:rPr lang="tr-TR" sz="1200" dirty="0" err="1">
                <a:latin typeface="Consolas" panose="020B0609020204030204" pitchFamily="49" charset="0"/>
              </a:rPr>
              <a:t>Parse</a:t>
            </a:r>
            <a:r>
              <a:rPr lang="tr-TR" sz="1200" dirty="0">
                <a:latin typeface="Consolas" panose="020B0609020204030204" pitchFamily="49" charset="0"/>
              </a:rPr>
              <a:t> </a:t>
            </a:r>
            <a:r>
              <a:rPr lang="tr-TR" sz="1200" dirty="0" err="1">
                <a:latin typeface="Consolas" panose="020B0609020204030204" pitchFamily="49" charset="0"/>
              </a:rPr>
              <a:t>error</a:t>
            </a:r>
            <a:r>
              <a:rPr lang="tr-TR" sz="1200" dirty="0">
                <a:latin typeface="Consolas" panose="020B0609020204030204" pitchFamily="49" charset="0"/>
              </a:rPr>
              <a:t>: </a:t>
            </a:r>
            <a:r>
              <a:rPr lang="tr-TR" sz="1200" dirty="0" err="1">
                <a:latin typeface="Consolas" panose="020B0609020204030204" pitchFamily="49" charset="0"/>
              </a:rPr>
              <a:t>syntax</a:t>
            </a:r>
            <a:r>
              <a:rPr lang="tr-TR" sz="1200" dirty="0">
                <a:latin typeface="Consolas" panose="020B0609020204030204" pitchFamily="49" charset="0"/>
              </a:rPr>
              <a:t> </a:t>
            </a:r>
            <a:r>
              <a:rPr lang="tr-TR" sz="1200" dirty="0" err="1">
                <a:latin typeface="Consolas" panose="020B0609020204030204" pitchFamily="49" charset="0"/>
              </a:rPr>
              <a:t>error</a:t>
            </a:r>
            <a:r>
              <a:rPr lang="tr-TR" sz="1200" dirty="0">
                <a:latin typeface="Consolas" panose="020B0609020204030204" pitchFamily="49" charset="0"/>
              </a:rPr>
              <a:t>, </a:t>
            </a:r>
            <a:r>
              <a:rPr lang="tr-TR" sz="1200" dirty="0" err="1">
                <a:latin typeface="Consolas" panose="020B0609020204030204" pitchFamily="49" charset="0"/>
              </a:rPr>
              <a:t>unexpected</a:t>
            </a:r>
            <a:r>
              <a:rPr lang="tr-TR" sz="1200" dirty="0">
                <a:latin typeface="Consolas" panose="020B0609020204030204" pitchFamily="49" charset="0"/>
              </a:rPr>
              <a:t> '2'' hatası verir.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tr-TR" sz="1200" b="1" dirty="0"/>
              <a:t>$toplam-tutar: </a:t>
            </a:r>
            <a:r>
              <a:rPr lang="tr-TR" sz="1200" dirty="0"/>
              <a:t>PHP, tire işaretini (-) çıkarma işlemi olarak algıla</a:t>
            </a:r>
            <a:endParaRPr lang="en-US" sz="1200" dirty="0"/>
          </a:p>
          <a:p>
            <a:pPr lvl="1"/>
            <a:r>
              <a:rPr lang="tr-TR" sz="1200" dirty="0">
                <a:latin typeface="Consolas" panose="020B0609020204030204" pitchFamily="49" charset="0"/>
              </a:rPr>
              <a:t>// HATALI KULLANIM $toplam-tutar = 500; // PHP burada '$toplam' değişkeninden '</a:t>
            </a:r>
            <a:r>
              <a:rPr lang="tr-TR" sz="1200" dirty="0" err="1">
                <a:latin typeface="Consolas" panose="020B0609020204030204" pitchFamily="49" charset="0"/>
              </a:rPr>
              <a:t>tutar'ı</a:t>
            </a:r>
            <a:r>
              <a:rPr lang="tr-TR" sz="1200" dirty="0">
                <a:latin typeface="Consolas" panose="020B0609020204030204" pitchFamily="49" charset="0"/>
              </a:rPr>
              <a:t> çıkarmaya çalıştığını sanır ve hata verir.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tr-TR" sz="1200" b="1" dirty="0"/>
              <a:t>$ad </a:t>
            </a:r>
            <a:r>
              <a:rPr lang="tr-TR" sz="1200" b="1" dirty="0" err="1"/>
              <a:t>soyad</a:t>
            </a:r>
            <a:r>
              <a:rPr lang="tr-TR" sz="1200" b="1" dirty="0"/>
              <a:t>: </a:t>
            </a:r>
            <a:r>
              <a:rPr lang="tr-TR" sz="1200" dirty="0"/>
              <a:t>Arada boşluk bırakılamaz.</a:t>
            </a:r>
            <a:endParaRPr lang="en-US" sz="1200" dirty="0"/>
          </a:p>
          <a:p>
            <a:pPr lvl="1"/>
            <a:r>
              <a:rPr lang="tr-TR" sz="1200" dirty="0">
                <a:latin typeface="Consolas" panose="020B0609020204030204" pitchFamily="49" charset="0"/>
              </a:rPr>
              <a:t>// HATALI KULLANIM $ad </a:t>
            </a:r>
            <a:r>
              <a:rPr lang="tr-TR" sz="1200" dirty="0" err="1">
                <a:latin typeface="Consolas" panose="020B0609020204030204" pitchFamily="49" charset="0"/>
              </a:rPr>
              <a:t>soyad</a:t>
            </a:r>
            <a:r>
              <a:rPr lang="tr-TR" sz="1200" dirty="0">
                <a:latin typeface="Consolas" panose="020B0609020204030204" pitchFamily="49" charset="0"/>
              </a:rPr>
              <a:t> = "Mustafa Volkan"; // PHP iki farklı kelime gördüğü için ne yapacağını bilemez.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tr-TR" sz="1200" b="1" dirty="0"/>
              <a:t>$değişken: </a:t>
            </a:r>
            <a:r>
              <a:rPr lang="tr-TR" sz="1200" dirty="0"/>
              <a:t>Türkçe karakter kullanımı.</a:t>
            </a:r>
            <a:r>
              <a:rPr lang="en-US" sz="1200" dirty="0"/>
              <a:t>(</a:t>
            </a:r>
            <a:r>
              <a:rPr lang="en-US" sz="1200" dirty="0" err="1"/>
              <a:t>önerilmez</a:t>
            </a:r>
            <a:r>
              <a:rPr lang="en-US" sz="1200" dirty="0"/>
              <a:t>)</a:t>
            </a:r>
          </a:p>
          <a:p>
            <a:pPr lvl="1"/>
            <a:r>
              <a:rPr lang="tr-TR" sz="1200" dirty="0">
                <a:latin typeface="Consolas" panose="020B0609020204030204" pitchFamily="49" charset="0"/>
              </a:rPr>
              <a:t>// RİSKLİ KULLANIM $ücret = 100; // Teknik olarak PHP 7+ sürümlerinde çalışır ancak dosya kodlaması (UTF-8) değişirse kodunuz bozulabilir. // Önerilen: $</a:t>
            </a:r>
            <a:r>
              <a:rPr lang="tr-TR" sz="1200" dirty="0" err="1">
                <a:latin typeface="Consolas" panose="020B0609020204030204" pitchFamily="49" charset="0"/>
              </a:rPr>
              <a:t>ucret</a:t>
            </a:r>
            <a:r>
              <a:rPr lang="tr-TR" sz="1200" dirty="0">
                <a:latin typeface="Consolas" panose="020B0609020204030204" pitchFamily="49" charset="0"/>
              </a:rPr>
              <a:t> = 100;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7AB3A-02D8-B9ED-0D73-E885FBC8C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04248" y="229321"/>
            <a:ext cx="2133600" cy="457200"/>
          </a:xfrm>
        </p:spPr>
        <p:txBody>
          <a:bodyPr/>
          <a:lstStyle/>
          <a:p>
            <a:pPr>
              <a:defRPr/>
            </a:pPr>
            <a:fld id="{91F9D9B3-D101-425F-8527-D210206DC283}" type="slidenum">
              <a:rPr lang="tr-TR" altLang="en-US" smtClean="0"/>
              <a:pPr>
                <a:defRPr/>
              </a:pPr>
              <a:t>22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367556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043EE71-F440-4B30-4F28-1B35422A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Object (Nesne) veri tipi</a:t>
            </a:r>
            <a:endParaRPr lang="tr-TR" b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0388FC-8C60-95C8-0D3A-C530CC456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529807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&lt;?</a:t>
            </a:r>
            <a:r>
              <a:rPr lang="tr-TR" dirty="0" err="1">
                <a:latin typeface="Consolas" panose="020B0609020204030204" pitchFamily="49" charset="0"/>
              </a:rPr>
              <a:t>php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// 1. Sınıf (Şablon) Tanımlama</a:t>
            </a:r>
          </a:p>
          <a:p>
            <a:pPr marL="0" indent="0">
              <a:buNone/>
            </a:pPr>
            <a:r>
              <a:rPr lang="tr-TR" dirty="0" err="1">
                <a:latin typeface="Consolas" panose="020B0609020204030204" pitchFamily="49" charset="0"/>
              </a:rPr>
              <a:t>class</a:t>
            </a:r>
            <a:r>
              <a:rPr lang="tr-TR" dirty="0">
                <a:latin typeface="Consolas" panose="020B0609020204030204" pitchFamily="49" charset="0"/>
              </a:rPr>
              <a:t> Berber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dirty="0" err="1">
                <a:latin typeface="Consolas" panose="020B0609020204030204" pitchFamily="49" charset="0"/>
              </a:rPr>
              <a:t>public</a:t>
            </a:r>
            <a:r>
              <a:rPr lang="tr-TR" dirty="0">
                <a:latin typeface="Consolas" panose="020B0609020204030204" pitchFamily="49" charset="0"/>
              </a:rPr>
              <a:t> $isim;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dirty="0" err="1">
                <a:latin typeface="Consolas" panose="020B0609020204030204" pitchFamily="49" charset="0"/>
              </a:rPr>
              <a:t>public</a:t>
            </a:r>
            <a:r>
              <a:rPr lang="tr-TR" dirty="0">
                <a:latin typeface="Consolas" panose="020B0609020204030204" pitchFamily="49" charset="0"/>
              </a:rPr>
              <a:t> $</a:t>
            </a:r>
            <a:r>
              <a:rPr lang="tr-TR" dirty="0" err="1">
                <a:latin typeface="Consolas" panose="020B0609020204030204" pitchFamily="49" charset="0"/>
              </a:rPr>
              <a:t>uzmanlik</a:t>
            </a:r>
            <a:r>
              <a:rPr lang="tr-TR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// Nesne oluşturulduğunda çalışan fonksiyon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dirty="0" err="1">
                <a:latin typeface="Consolas" panose="020B0609020204030204" pitchFamily="49" charset="0"/>
              </a:rPr>
              <a:t>public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function</a:t>
            </a:r>
            <a:r>
              <a:rPr lang="tr-TR" dirty="0">
                <a:latin typeface="Consolas" panose="020B0609020204030204" pitchFamily="49" charset="0"/>
              </a:rPr>
              <a:t> __</a:t>
            </a:r>
            <a:r>
              <a:rPr lang="tr-TR" dirty="0" err="1">
                <a:latin typeface="Consolas" panose="020B0609020204030204" pitchFamily="49" charset="0"/>
              </a:rPr>
              <a:t>construct</a:t>
            </a:r>
            <a:r>
              <a:rPr lang="tr-TR" dirty="0">
                <a:latin typeface="Consolas" panose="020B0609020204030204" pitchFamily="49" charset="0"/>
              </a:rPr>
              <a:t>($ad, $alan)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$</a:t>
            </a:r>
            <a:r>
              <a:rPr lang="tr-TR" dirty="0" err="1">
                <a:latin typeface="Consolas" panose="020B0609020204030204" pitchFamily="49" charset="0"/>
              </a:rPr>
              <a:t>this</a:t>
            </a:r>
            <a:r>
              <a:rPr lang="tr-TR" dirty="0">
                <a:latin typeface="Consolas" panose="020B0609020204030204" pitchFamily="49" charset="0"/>
              </a:rPr>
              <a:t>-&gt;isim = $ad;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$</a:t>
            </a:r>
            <a:r>
              <a:rPr lang="tr-TR" dirty="0" err="1">
                <a:latin typeface="Consolas" panose="020B0609020204030204" pitchFamily="49" charset="0"/>
              </a:rPr>
              <a:t>this</a:t>
            </a:r>
            <a:r>
              <a:rPr lang="tr-TR" dirty="0">
                <a:latin typeface="Consolas" panose="020B0609020204030204" pitchFamily="49" charset="0"/>
              </a:rPr>
              <a:t>-&gt;</a:t>
            </a:r>
            <a:r>
              <a:rPr lang="tr-TR" dirty="0" err="1">
                <a:latin typeface="Consolas" panose="020B0609020204030204" pitchFamily="49" charset="0"/>
              </a:rPr>
              <a:t>uzmanlik</a:t>
            </a:r>
            <a:r>
              <a:rPr lang="tr-TR" dirty="0">
                <a:latin typeface="Consolas" panose="020B0609020204030204" pitchFamily="49" charset="0"/>
              </a:rPr>
              <a:t> = $alan;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dirty="0" err="1">
                <a:latin typeface="Consolas" panose="020B0609020204030204" pitchFamily="49" charset="0"/>
              </a:rPr>
              <a:t>public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function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selamVer</a:t>
            </a:r>
            <a:r>
              <a:rPr lang="tr-TR" dirty="0"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tr-TR" dirty="0" err="1">
                <a:latin typeface="Consolas" panose="020B0609020204030204" pitchFamily="49" charset="0"/>
              </a:rPr>
              <a:t>return</a:t>
            </a:r>
            <a:r>
              <a:rPr lang="tr-TR" dirty="0">
                <a:latin typeface="Consolas" panose="020B0609020204030204" pitchFamily="49" charset="0"/>
              </a:rPr>
              <a:t> "Merhaba, ben " . $</a:t>
            </a:r>
            <a:r>
              <a:rPr lang="tr-TR" dirty="0" err="1">
                <a:latin typeface="Consolas" panose="020B0609020204030204" pitchFamily="49" charset="0"/>
              </a:rPr>
              <a:t>this</a:t>
            </a:r>
            <a:r>
              <a:rPr lang="tr-TR" dirty="0">
                <a:latin typeface="Consolas" panose="020B0609020204030204" pitchFamily="49" charset="0"/>
              </a:rPr>
              <a:t>-&gt;isim . ". Uzmanlık alanım: " . $</a:t>
            </a:r>
            <a:r>
              <a:rPr lang="tr-TR" dirty="0" err="1">
                <a:latin typeface="Consolas" panose="020B0609020204030204" pitchFamily="49" charset="0"/>
              </a:rPr>
              <a:t>this</a:t>
            </a:r>
            <a:r>
              <a:rPr lang="tr-TR" dirty="0">
                <a:latin typeface="Consolas" panose="020B0609020204030204" pitchFamily="49" charset="0"/>
              </a:rPr>
              <a:t>-&gt;</a:t>
            </a:r>
            <a:r>
              <a:rPr lang="tr-TR" dirty="0" err="1">
                <a:latin typeface="Consolas" panose="020B0609020204030204" pitchFamily="49" charset="0"/>
              </a:rPr>
              <a:t>uzmanlik</a:t>
            </a:r>
            <a:r>
              <a:rPr lang="tr-TR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// 2. Nesne (Object) Oluşturma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$</a:t>
            </a:r>
            <a:r>
              <a:rPr lang="tr-TR" dirty="0" err="1">
                <a:latin typeface="Consolas" panose="020B0609020204030204" pitchFamily="49" charset="0"/>
              </a:rPr>
              <a:t>berberNesnesi</a:t>
            </a:r>
            <a:r>
              <a:rPr lang="tr-TR" dirty="0">
                <a:latin typeface="Consolas" panose="020B0609020204030204" pitchFamily="49" charset="0"/>
              </a:rPr>
              <a:t> = </a:t>
            </a:r>
            <a:r>
              <a:rPr lang="tr-TR" dirty="0" err="1">
                <a:latin typeface="Consolas" panose="020B0609020204030204" pitchFamily="49" charset="0"/>
              </a:rPr>
              <a:t>new</a:t>
            </a:r>
            <a:r>
              <a:rPr lang="tr-TR" dirty="0">
                <a:latin typeface="Consolas" panose="020B0609020204030204" pitchFamily="49" charset="0"/>
              </a:rPr>
              <a:t> Berber("Volkan", "Saç Tasarımı");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// 3. Yapısını İnceleme</a:t>
            </a:r>
          </a:p>
          <a:p>
            <a:pPr marL="0" indent="0">
              <a:buNone/>
            </a:pPr>
            <a:r>
              <a:rPr lang="tr-TR" dirty="0" err="1">
                <a:latin typeface="Consolas" panose="020B0609020204030204" pitchFamily="49" charset="0"/>
              </a:rPr>
              <a:t>echo</a:t>
            </a:r>
            <a:r>
              <a:rPr lang="tr-TR" dirty="0">
                <a:latin typeface="Consolas" panose="020B0609020204030204" pitchFamily="49" charset="0"/>
              </a:rPr>
              <a:t> "&lt;h2&gt;Object Veri Tipi Yapısı:&lt;/h2&gt;";</a:t>
            </a:r>
          </a:p>
          <a:p>
            <a:pPr marL="0" indent="0">
              <a:buNone/>
            </a:pPr>
            <a:r>
              <a:rPr lang="tr-TR" dirty="0" err="1">
                <a:latin typeface="Consolas" panose="020B0609020204030204" pitchFamily="49" charset="0"/>
              </a:rPr>
              <a:t>var_dump</a:t>
            </a:r>
            <a:r>
              <a:rPr lang="tr-TR" dirty="0">
                <a:latin typeface="Consolas" panose="020B0609020204030204" pitchFamily="49" charset="0"/>
              </a:rPr>
              <a:t>($</a:t>
            </a:r>
            <a:r>
              <a:rPr lang="tr-TR" dirty="0" err="1">
                <a:latin typeface="Consolas" panose="020B0609020204030204" pitchFamily="49" charset="0"/>
              </a:rPr>
              <a:t>berberNesnesi</a:t>
            </a:r>
            <a:r>
              <a:rPr lang="tr-TR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 err="1">
                <a:latin typeface="Consolas" panose="020B0609020204030204" pitchFamily="49" charset="0"/>
              </a:rPr>
              <a:t>echo</a:t>
            </a:r>
            <a:r>
              <a:rPr lang="tr-TR" dirty="0">
                <a:latin typeface="Consolas" panose="020B0609020204030204" pitchFamily="49" charset="0"/>
              </a:rPr>
              <a:t> "&lt;</a:t>
            </a:r>
            <a:r>
              <a:rPr lang="tr-TR" dirty="0" err="1">
                <a:latin typeface="Consolas" panose="020B0609020204030204" pitchFamily="49" charset="0"/>
              </a:rPr>
              <a:t>br</a:t>
            </a:r>
            <a:r>
              <a:rPr lang="tr-TR" dirty="0">
                <a:latin typeface="Consolas" panose="020B0609020204030204" pitchFamily="49" charset="0"/>
              </a:rPr>
              <a:t>&gt;&lt;</a:t>
            </a:r>
            <a:r>
              <a:rPr lang="tr-TR" dirty="0" err="1">
                <a:latin typeface="Consolas" panose="020B0609020204030204" pitchFamily="49" charset="0"/>
              </a:rPr>
              <a:t>br</a:t>
            </a:r>
            <a:r>
              <a:rPr lang="tr-TR" dirty="0">
                <a:latin typeface="Consolas" panose="020B0609020204030204" pitchFamily="49" charset="0"/>
              </a:rPr>
              <a:t>&gt;";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// Nesne içindeki metoda erişim</a:t>
            </a:r>
          </a:p>
          <a:p>
            <a:pPr marL="0" indent="0">
              <a:buNone/>
            </a:pPr>
            <a:r>
              <a:rPr lang="tr-TR" dirty="0" err="1">
                <a:latin typeface="Consolas" panose="020B0609020204030204" pitchFamily="49" charset="0"/>
              </a:rPr>
              <a:t>echo</a:t>
            </a:r>
            <a:r>
              <a:rPr lang="tr-TR" dirty="0">
                <a:latin typeface="Consolas" panose="020B0609020204030204" pitchFamily="49" charset="0"/>
              </a:rPr>
              <a:t> $</a:t>
            </a:r>
            <a:r>
              <a:rPr lang="tr-TR" dirty="0" err="1">
                <a:latin typeface="Consolas" panose="020B0609020204030204" pitchFamily="49" charset="0"/>
              </a:rPr>
              <a:t>berberNesnesi</a:t>
            </a:r>
            <a:r>
              <a:rPr lang="tr-TR" dirty="0">
                <a:latin typeface="Consolas" panose="020B0609020204030204" pitchFamily="49" charset="0"/>
              </a:rPr>
              <a:t>-&gt;</a:t>
            </a:r>
            <a:r>
              <a:rPr lang="tr-TR" dirty="0" err="1">
                <a:latin typeface="Consolas" panose="020B0609020204030204" pitchFamily="49" charset="0"/>
              </a:rPr>
              <a:t>selamVer</a:t>
            </a:r>
            <a:r>
              <a:rPr lang="tr-TR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?&gt;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0B6CD2-6AB1-27A8-EF69-AA8650371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PHP'deki</a:t>
            </a:r>
            <a:r>
              <a:rPr lang="tr-TR" dirty="0"/>
              <a:t> </a:t>
            </a:r>
            <a:r>
              <a:rPr lang="tr-TR" b="1" dirty="0"/>
              <a:t>Object (Nesne)</a:t>
            </a:r>
            <a:r>
              <a:rPr lang="tr-TR" dirty="0"/>
              <a:t> veri tipi, </a:t>
            </a:r>
            <a:r>
              <a:rPr lang="tr-TR" dirty="0" err="1"/>
              <a:t>dökümanlarınızda</a:t>
            </a:r>
            <a:r>
              <a:rPr lang="tr-TR" dirty="0"/>
              <a:t> vurgulanan "Nesne Yönelimli" (Object-</a:t>
            </a:r>
            <a:r>
              <a:rPr lang="tr-TR" dirty="0" err="1"/>
              <a:t>Oriented</a:t>
            </a:r>
            <a:r>
              <a:rPr lang="tr-TR" dirty="0"/>
              <a:t>) programlama yaklaşımının temelidir.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Bir nesne, sadece bir değer değil; o değere ait </a:t>
            </a:r>
            <a:r>
              <a:rPr lang="tr-TR" b="1" dirty="0"/>
              <a:t>özellikleri</a:t>
            </a:r>
            <a:r>
              <a:rPr lang="tr-TR" dirty="0"/>
              <a:t> (</a:t>
            </a:r>
            <a:r>
              <a:rPr lang="tr-TR" b="1" dirty="0" err="1"/>
              <a:t>properties</a:t>
            </a:r>
            <a:r>
              <a:rPr lang="tr-TR" dirty="0"/>
              <a:t>) ve bu özellikler üzerinde işlem yapabilen </a:t>
            </a:r>
            <a:r>
              <a:rPr lang="tr-TR" b="1" dirty="0"/>
              <a:t>işlevleri</a:t>
            </a:r>
            <a:r>
              <a:rPr lang="tr-TR" dirty="0"/>
              <a:t> (</a:t>
            </a:r>
            <a:r>
              <a:rPr lang="tr-TR" b="1" dirty="0" err="1"/>
              <a:t>methods</a:t>
            </a:r>
            <a:r>
              <a:rPr lang="tr-TR" dirty="0"/>
              <a:t>) bir arada tutan kompleks bir yapıdır.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Nesne veri tipini kullanabilmek için önce bir şablon olan </a:t>
            </a:r>
            <a:r>
              <a:rPr lang="tr-TR" b="1" dirty="0"/>
              <a:t>Sınıf (Class)</a:t>
            </a:r>
            <a:r>
              <a:rPr lang="tr-TR" dirty="0"/>
              <a:t> tanımlanmalı, ardından bu sınıftan bir </a:t>
            </a:r>
            <a:r>
              <a:rPr lang="tr-TR" b="1" dirty="0"/>
              <a:t>örnek</a:t>
            </a:r>
            <a:r>
              <a:rPr lang="tr-TR" dirty="0"/>
              <a:t> (</a:t>
            </a:r>
            <a:r>
              <a:rPr lang="tr-TR" b="1" dirty="0" err="1"/>
              <a:t>instance</a:t>
            </a:r>
            <a:r>
              <a:rPr lang="tr-TR" dirty="0"/>
              <a:t>) üretilmelidir.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endParaRPr lang="tr-TR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7C7CF-BC81-12DB-8B2A-0567A0BD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22D41-3B2A-46A0-852A-5E39E51C087C}" type="slidenum">
              <a:rPr lang="tr-TR" altLang="en-US" smtClean="0"/>
              <a:pPr>
                <a:defRPr/>
              </a:pPr>
              <a:t>23</a:t>
            </a:fld>
            <a:endParaRPr lang="tr-T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DC5839-70FC-CD99-0FA5-0BC46A171D6B}"/>
              </a:ext>
            </a:extLst>
          </p:cNvPr>
          <p:cNvSpPr txBox="1"/>
          <p:nvPr/>
        </p:nvSpPr>
        <p:spPr>
          <a:xfrm>
            <a:off x="1691680" y="5751493"/>
            <a:ext cx="73191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b="1" dirty="0">
                <a:latin typeface="+mn-lt"/>
              </a:rPr>
              <a:t>Sınıf (Class):</a:t>
            </a:r>
            <a:r>
              <a:rPr lang="tr-TR" sz="1400" dirty="0">
                <a:latin typeface="+mn-lt"/>
              </a:rPr>
              <a:t> Nesnenin nasıl olacağını belirleyen genel plandır</a:t>
            </a:r>
          </a:p>
          <a:p>
            <a:r>
              <a:rPr lang="tr-TR" sz="1400" b="1" dirty="0">
                <a:latin typeface="+mn-lt"/>
              </a:rPr>
              <a:t>Nesne (Object): </a:t>
            </a:r>
            <a:r>
              <a:rPr lang="tr-TR" sz="1400" dirty="0">
                <a:latin typeface="+mn-lt"/>
              </a:rPr>
              <a:t>Bu plandan üretilmiş, hafızada yer kaplayan somut veridir.</a:t>
            </a:r>
          </a:p>
          <a:p>
            <a:r>
              <a:rPr lang="tr-TR" sz="1400" b="1" dirty="0" err="1">
                <a:latin typeface="+mn-lt"/>
              </a:rPr>
              <a:t>var_dump</a:t>
            </a:r>
            <a:r>
              <a:rPr lang="tr-TR" sz="1400" b="1" dirty="0">
                <a:latin typeface="+mn-lt"/>
              </a:rPr>
              <a:t> Çıktısı: </a:t>
            </a:r>
            <a:r>
              <a:rPr lang="tr-TR" sz="1400" dirty="0">
                <a:latin typeface="+mn-lt"/>
              </a:rPr>
              <a:t>Bu komutu kullandığınızda, PHP size değişkenin tipinin </a:t>
            </a:r>
            <a:r>
              <a:rPr lang="tr-TR" sz="1400" dirty="0" err="1">
                <a:latin typeface="+mn-lt"/>
              </a:rPr>
              <a:t>object</a:t>
            </a:r>
            <a:r>
              <a:rPr lang="tr-TR" sz="1400" dirty="0">
                <a:latin typeface="+mn-lt"/>
              </a:rPr>
              <a:t> olduğunu, hangi sınıfa ait olduğunu ve içindeki verileri detaylıca gösterir.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B3C8B6A-DBB7-270D-5A63-4F79F844E484}"/>
              </a:ext>
            </a:extLst>
          </p:cNvPr>
          <p:cNvSpPr txBox="1">
            <a:spLocks/>
          </p:cNvSpPr>
          <p:nvPr/>
        </p:nvSpPr>
        <p:spPr>
          <a:xfrm>
            <a:off x="4283968" y="176471"/>
            <a:ext cx="3509714" cy="3954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Kod</a:t>
            </a:r>
            <a:r>
              <a:rPr lang="en-US" sz="1600" dirty="0"/>
              <a:t>: h2-start &gt;&gt; </a:t>
            </a:r>
            <a:r>
              <a:rPr lang="en-US" sz="1600" dirty="0" err="1"/>
              <a:t>veri_tipleri.php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4256027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319AF-EB3C-2494-4648-32D5AB1F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Değişken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Kapsamı</a:t>
            </a:r>
            <a:r>
              <a:rPr lang="en-US" dirty="0">
                <a:solidFill>
                  <a:srgbClr val="C00000"/>
                </a:solidFill>
              </a:rPr>
              <a:t> (Scope)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316E59-EAC2-EB43-3295-FF5AE187F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5260975"/>
          </a:xfrm>
        </p:spPr>
        <p:txBody>
          <a:bodyPr>
            <a:normAutofit fontScale="47500" lnSpcReduction="20000"/>
          </a:bodyPr>
          <a:lstStyle/>
          <a:p>
            <a:r>
              <a:rPr lang="tr-TR" b="1" dirty="0"/>
              <a:t>Yerel Kapsam (</a:t>
            </a:r>
            <a:r>
              <a:rPr lang="tr-TR" b="1" dirty="0" err="1"/>
              <a:t>Local</a:t>
            </a:r>
            <a:r>
              <a:rPr lang="tr-TR" b="1" dirty="0"/>
              <a:t> </a:t>
            </a:r>
            <a:r>
              <a:rPr lang="tr-TR" b="1" dirty="0" err="1"/>
              <a:t>Scope</a:t>
            </a:r>
            <a:r>
              <a:rPr lang="tr-TR" b="1" dirty="0"/>
              <a:t>)</a:t>
            </a:r>
          </a:p>
          <a:p>
            <a:pPr lvl="1">
              <a:lnSpc>
                <a:spcPct val="120000"/>
              </a:lnSpc>
            </a:pPr>
            <a:r>
              <a:rPr lang="tr-TR" dirty="0"/>
              <a:t>Bir fonksiyon içerisinde tanımlanan değişkenler "yerel" değişkendir. Bu değişkenlere sadece tanımlandıkları fonksiyonun içinden erişilebilir. Fonksiyon bittiğinde bu değişkenler bellekten silinir.</a:t>
            </a:r>
            <a:endParaRPr lang="en-US" dirty="0"/>
          </a:p>
          <a:p>
            <a:r>
              <a:rPr lang="tr-TR" b="1" dirty="0"/>
              <a:t>Global Kapsam (Global </a:t>
            </a:r>
            <a:r>
              <a:rPr lang="tr-TR" b="1" dirty="0" err="1"/>
              <a:t>Scope</a:t>
            </a:r>
            <a:r>
              <a:rPr lang="tr-TR" b="1" dirty="0"/>
              <a:t>)</a:t>
            </a:r>
          </a:p>
          <a:p>
            <a:pPr lvl="1">
              <a:lnSpc>
                <a:spcPct val="120000"/>
              </a:lnSpc>
            </a:pPr>
            <a:r>
              <a:rPr lang="tr-TR" dirty="0"/>
              <a:t>Herhangi bir fonksiyonun dışında tanımlanan değişkenler "global" değişkendir. Bu değişkenlere fonksiyonların dışındaki her yerden erişilebilir. Ancak, bir fonksiyonun içinden global bir değişkene erişmek için global anahtar kelimesi kullanılmalıdır.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tr-TR" b="1" dirty="0">
                <a:solidFill>
                  <a:srgbClr val="C00000"/>
                </a:solidFill>
              </a:rPr>
              <a:t>$GLOBALS </a:t>
            </a:r>
            <a:r>
              <a:rPr lang="tr-TR" b="1" dirty="0" err="1">
                <a:solidFill>
                  <a:srgbClr val="C00000"/>
                </a:solidFill>
              </a:rPr>
              <a:t>Superglobal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tr-TR" dirty="0"/>
              <a:t>PHP, tüm global değişkenleri </a:t>
            </a:r>
            <a:r>
              <a:rPr lang="tr-TR" dirty="0">
                <a:latin typeface="Consolas" panose="020B0609020204030204" pitchFamily="49" charset="0"/>
              </a:rPr>
              <a:t>$GLOBALS['</a:t>
            </a:r>
            <a:r>
              <a:rPr lang="tr-TR" dirty="0" err="1">
                <a:latin typeface="Consolas" panose="020B0609020204030204" pitchFamily="49" charset="0"/>
              </a:rPr>
              <a:t>degisken_adi</a:t>
            </a:r>
            <a:r>
              <a:rPr lang="tr-TR" dirty="0">
                <a:latin typeface="Consolas" panose="020B0609020204030204" pitchFamily="49" charset="0"/>
              </a:rPr>
              <a:t>'] </a:t>
            </a:r>
            <a:r>
              <a:rPr lang="tr-TR" dirty="0"/>
              <a:t>isimli bir dizide saklar. Fonksiyon içinde global yazmak yerine bu diziyi de kullanabilirsiniz.</a:t>
            </a:r>
            <a:endParaRPr lang="en-US" dirty="0"/>
          </a:p>
          <a:p>
            <a:r>
              <a:rPr lang="tr-TR" b="1" dirty="0"/>
              <a:t>Statik Kapsam (</a:t>
            </a:r>
            <a:r>
              <a:rPr lang="tr-TR" b="1" dirty="0" err="1"/>
              <a:t>Static</a:t>
            </a:r>
            <a:r>
              <a:rPr lang="tr-TR" b="1" dirty="0"/>
              <a:t> </a:t>
            </a:r>
            <a:r>
              <a:rPr lang="tr-TR" b="1" dirty="0" err="1"/>
              <a:t>Scope</a:t>
            </a:r>
            <a:r>
              <a:rPr lang="tr-TR" b="1" dirty="0"/>
              <a:t>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tr-TR" dirty="0"/>
              <a:t>Normalde bir fonksiyonun çalışması bittiğinde içindeki yerel değişkenler yok edilir. Ancak bir değişkenin değerini kaybetmemesini, fonksiyon her çağrıldığında kaldığı yerden devam etmesini istiyorsanız </a:t>
            </a:r>
            <a:r>
              <a:rPr lang="tr-TR" dirty="0" err="1"/>
              <a:t>static</a:t>
            </a:r>
            <a:r>
              <a:rPr lang="tr-TR" dirty="0"/>
              <a:t> anahtar kelimesini kullanırsınız.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D4991F-CFF5-DA1F-6859-59AD54E6E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</a:t>
            </a:r>
            <a:r>
              <a:rPr lang="tr-TR" b="1" dirty="0"/>
              <a:t>eğişken kapsamı (</a:t>
            </a:r>
            <a:r>
              <a:rPr lang="tr-TR" b="1" dirty="0" err="1"/>
              <a:t>variable</a:t>
            </a:r>
            <a:r>
              <a:rPr lang="tr-TR" b="1" dirty="0"/>
              <a:t> </a:t>
            </a:r>
            <a:r>
              <a:rPr lang="tr-TR" b="1" dirty="0" err="1"/>
              <a:t>scope</a:t>
            </a:r>
            <a:r>
              <a:rPr lang="tr-TR" b="1" dirty="0"/>
              <a:t>), </a:t>
            </a:r>
            <a:r>
              <a:rPr lang="tr-TR" dirty="0"/>
              <a:t>bir değişkenin kodun hangi bölümlerinden erişilebilir olduğunu belirleyen kurallar b</a:t>
            </a:r>
            <a:r>
              <a:rPr lang="en-US" dirty="0"/>
              <a:t>.</a:t>
            </a:r>
            <a:r>
              <a:rPr lang="tr-TR" dirty="0" err="1"/>
              <a:t>ütünüdür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</a:t>
            </a:r>
            <a:r>
              <a:rPr lang="tr-TR" dirty="0" err="1"/>
              <a:t>eğişkenlerin</a:t>
            </a:r>
            <a:r>
              <a:rPr lang="tr-TR" dirty="0"/>
              <a:t> nerede tanımlandığı, onların ömrünü ve görünürlüğünü doğrudan etkiler.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Kapsam</a:t>
            </a:r>
            <a:r>
              <a:rPr lang="en-US" dirty="0"/>
              <a:t> </a:t>
            </a:r>
            <a:r>
              <a:rPr lang="en-US" dirty="0" err="1"/>
              <a:t>Tipleri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Yerel Kapsam (</a:t>
            </a:r>
            <a:r>
              <a:rPr lang="tr-TR" dirty="0" err="1"/>
              <a:t>Local</a:t>
            </a:r>
            <a:r>
              <a:rPr lang="tr-TR" dirty="0"/>
              <a:t> </a:t>
            </a:r>
            <a:r>
              <a:rPr lang="tr-TR" dirty="0" err="1"/>
              <a:t>Scope</a:t>
            </a:r>
            <a:r>
              <a:rPr lang="tr-TR" dirty="0"/>
              <a:t>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Global Kapsam (Global </a:t>
            </a:r>
            <a:r>
              <a:rPr lang="tr-TR" dirty="0" err="1"/>
              <a:t>Scope</a:t>
            </a:r>
            <a:r>
              <a:rPr lang="tr-TR" dirty="0"/>
              <a:t>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Statik Kapsam (</a:t>
            </a:r>
            <a:r>
              <a:rPr lang="tr-TR" dirty="0" err="1"/>
              <a:t>Static</a:t>
            </a:r>
            <a:r>
              <a:rPr lang="tr-TR" dirty="0"/>
              <a:t> </a:t>
            </a:r>
            <a:r>
              <a:rPr lang="tr-TR" dirty="0" err="1"/>
              <a:t>Scope</a:t>
            </a:r>
            <a:r>
              <a:rPr lang="tr-TR" dirty="0"/>
              <a:t>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06955-99FA-C9E9-7D23-EC734E0AA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E22D41-3B2A-46A0-852A-5E39E51C087C}" type="slidenum">
              <a:rPr lang="tr-TR" altLang="en-US" smtClean="0"/>
              <a:pPr>
                <a:defRPr/>
              </a:pPr>
              <a:t>24</a:t>
            </a:fld>
            <a:endParaRPr lang="tr-T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285F1C-B17F-FF1B-094E-065299126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" y="5782393"/>
            <a:ext cx="4982915" cy="1053621"/>
          </a:xfrm>
          <a:prstGeom prst="rect">
            <a:avLst/>
          </a:prstGeom>
        </p:spPr>
      </p:pic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300016-8B1F-4B38-7142-7DB47016EE15}"/>
              </a:ext>
            </a:extLst>
          </p:cNvPr>
          <p:cNvSpPr txBox="1">
            <a:spLocks/>
          </p:cNvSpPr>
          <p:nvPr/>
        </p:nvSpPr>
        <p:spPr>
          <a:xfrm>
            <a:off x="5508104" y="6121639"/>
            <a:ext cx="2910608" cy="3954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Kod</a:t>
            </a:r>
            <a:r>
              <a:rPr lang="en-US" sz="1600" dirty="0"/>
              <a:t>: h2-start &gt;&gt; </a:t>
            </a:r>
            <a:r>
              <a:rPr lang="en-US" sz="1600" dirty="0" err="1"/>
              <a:t>degisken_kapsam.php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2053533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E075-421E-BC00-F682-56E7659DF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Örnek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E9A16-6B38-5B73-56A7-6CD45F435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sz="2000" b="1" dirty="0">
                <a:latin typeface="Consolas" panose="020B0609020204030204" pitchFamily="49" charset="0"/>
              </a:rPr>
              <a:t>&lt;?</a:t>
            </a:r>
            <a:r>
              <a:rPr lang="tr-TR" sz="2000" b="1" dirty="0" err="1">
                <a:latin typeface="Consolas" panose="020B0609020204030204" pitchFamily="49" charset="0"/>
              </a:rPr>
              <a:t>php</a:t>
            </a:r>
            <a:r>
              <a:rPr lang="tr-TR" sz="2000" dirty="0">
                <a:latin typeface="Consolas" panose="020B0609020204030204" pitchFamily="49" charset="0"/>
              </a:rPr>
              <a:t>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tr-TR" sz="2000" dirty="0">
                <a:latin typeface="Consolas" panose="020B0609020204030204" pitchFamily="49" charset="0"/>
              </a:rPr>
              <a:t>$ad = "Ayşe";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tr-TR" sz="2000" dirty="0">
                <a:latin typeface="Consolas" panose="020B0609020204030204" pitchFamily="49" charset="0"/>
              </a:rPr>
              <a:t>$</a:t>
            </a:r>
            <a:r>
              <a:rPr lang="tr-TR" sz="2000" dirty="0" err="1">
                <a:latin typeface="Consolas" panose="020B0609020204030204" pitchFamily="49" charset="0"/>
              </a:rPr>
              <a:t>soyad</a:t>
            </a:r>
            <a:r>
              <a:rPr lang="tr-TR" sz="2000" dirty="0">
                <a:latin typeface="Consolas" panose="020B0609020204030204" pitchFamily="49" charset="0"/>
              </a:rPr>
              <a:t> = "Yılmaz";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tr-TR" sz="2000" dirty="0">
                <a:latin typeface="Consolas" panose="020B0609020204030204" pitchFamily="49" charset="0"/>
              </a:rPr>
              <a:t>$yas = 19;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tr-TR" sz="2000" dirty="0">
                <a:latin typeface="Consolas" panose="020B0609020204030204" pitchFamily="49" charset="0"/>
              </a:rPr>
              <a:t>$</a:t>
            </a:r>
            <a:r>
              <a:rPr lang="tr-TR" sz="2000" dirty="0" err="1">
                <a:latin typeface="Consolas" panose="020B0609020204030204" pitchFamily="49" charset="0"/>
              </a:rPr>
              <a:t>universite</a:t>
            </a:r>
            <a:r>
              <a:rPr lang="tr-TR" sz="2000" dirty="0">
                <a:latin typeface="Consolas" panose="020B0609020204030204" pitchFamily="49" charset="0"/>
              </a:rPr>
              <a:t> = "İzmir Ekonomi Üniversitesi";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tr-TR" sz="2000" dirty="0">
                <a:latin typeface="Consolas" panose="020B0609020204030204" pitchFamily="49" charset="0"/>
              </a:rPr>
              <a:t>$mezun = </a:t>
            </a:r>
            <a:r>
              <a:rPr lang="tr-TR" sz="2000" dirty="0" err="1">
                <a:latin typeface="Consolas" panose="020B0609020204030204" pitchFamily="49" charset="0"/>
              </a:rPr>
              <a:t>false</a:t>
            </a:r>
            <a:r>
              <a:rPr lang="tr-TR" sz="2000" dirty="0">
                <a:latin typeface="Consolas" panose="020B0609020204030204" pitchFamily="49" charset="0"/>
              </a:rPr>
              <a:t>;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tr-TR" sz="2000" dirty="0" err="1">
                <a:latin typeface="Consolas" panose="020B0609020204030204" pitchFamily="49" charset="0"/>
              </a:rPr>
              <a:t>echo</a:t>
            </a:r>
            <a:r>
              <a:rPr lang="tr-TR" sz="2000" dirty="0">
                <a:latin typeface="Consolas" panose="020B0609020204030204" pitchFamily="49" charset="0"/>
              </a:rPr>
              <a:t> "Merhaba, ben $ad 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tr-TR" sz="2000" dirty="0">
                <a:latin typeface="Consolas" panose="020B0609020204030204" pitchFamily="49" charset="0"/>
              </a:rPr>
              <a:t>$</a:t>
            </a:r>
            <a:r>
              <a:rPr lang="tr-TR" sz="2000" dirty="0" err="1">
                <a:latin typeface="Consolas" panose="020B0609020204030204" pitchFamily="49" charset="0"/>
              </a:rPr>
              <a:t>soyad</a:t>
            </a:r>
            <a:r>
              <a:rPr lang="tr-TR" sz="2000" dirty="0">
                <a:latin typeface="Consolas" panose="020B0609020204030204" pitchFamily="49" charset="0"/>
              </a:rPr>
              <a:t>&lt;</a:t>
            </a:r>
            <a:r>
              <a:rPr lang="tr-TR" sz="2000" dirty="0" err="1">
                <a:latin typeface="Consolas" panose="020B0609020204030204" pitchFamily="49" charset="0"/>
              </a:rPr>
              <a:t>br</a:t>
            </a:r>
            <a:r>
              <a:rPr lang="tr-TR" sz="2000" dirty="0">
                <a:latin typeface="Consolas" panose="020B0609020204030204" pitchFamily="49" charset="0"/>
              </a:rPr>
              <a:t>&gt;";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tr-TR" sz="2000" dirty="0" err="1">
                <a:latin typeface="Consolas" panose="020B0609020204030204" pitchFamily="49" charset="0"/>
              </a:rPr>
              <a:t>echo</a:t>
            </a:r>
            <a:r>
              <a:rPr lang="tr-TR" sz="2000" dirty="0">
                <a:latin typeface="Consolas" panose="020B0609020204030204" pitchFamily="49" charset="0"/>
              </a:rPr>
              <a:t> "Yaşım: $yas&lt;</a:t>
            </a:r>
            <a:r>
              <a:rPr lang="tr-TR" sz="2000" dirty="0" err="1">
                <a:latin typeface="Consolas" panose="020B0609020204030204" pitchFamily="49" charset="0"/>
              </a:rPr>
              <a:t>br</a:t>
            </a:r>
            <a:r>
              <a:rPr lang="tr-TR" sz="2000" dirty="0">
                <a:latin typeface="Consolas" panose="020B0609020204030204" pitchFamily="49" charset="0"/>
              </a:rPr>
              <a:t>&gt;";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tr-TR" sz="2000" dirty="0" err="1">
                <a:latin typeface="Consolas" panose="020B0609020204030204" pitchFamily="49" charset="0"/>
              </a:rPr>
              <a:t>echo</a:t>
            </a:r>
            <a:r>
              <a:rPr lang="tr-TR" sz="2000" dirty="0">
                <a:latin typeface="Consolas" panose="020B0609020204030204" pitchFamily="49" charset="0"/>
              </a:rPr>
              <a:t> "Okulum: $</a:t>
            </a:r>
            <a:r>
              <a:rPr lang="tr-TR" sz="2000" dirty="0" err="1">
                <a:latin typeface="Consolas" panose="020B0609020204030204" pitchFamily="49" charset="0"/>
              </a:rPr>
              <a:t>universite</a:t>
            </a:r>
            <a:r>
              <a:rPr lang="tr-TR" sz="2000" dirty="0">
                <a:latin typeface="Consolas" panose="020B0609020204030204" pitchFamily="49" charset="0"/>
              </a:rPr>
              <a:t>&lt;</a:t>
            </a:r>
            <a:r>
              <a:rPr lang="tr-TR" sz="2000" dirty="0" err="1">
                <a:latin typeface="Consolas" panose="020B0609020204030204" pitchFamily="49" charset="0"/>
              </a:rPr>
              <a:t>br</a:t>
            </a:r>
            <a:r>
              <a:rPr lang="tr-TR" sz="2000" dirty="0">
                <a:latin typeface="Consolas" panose="020B0609020204030204" pitchFamily="49" charset="0"/>
              </a:rPr>
              <a:t>&gt;";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tr-TR" sz="2000" dirty="0" err="1">
                <a:latin typeface="Consolas" panose="020B0609020204030204" pitchFamily="49" charset="0"/>
              </a:rPr>
              <a:t>if</a:t>
            </a:r>
            <a:r>
              <a:rPr lang="tr-TR" sz="2000" dirty="0">
                <a:latin typeface="Consolas" panose="020B0609020204030204" pitchFamily="49" charset="0"/>
              </a:rPr>
              <a:t> ($mezun) {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tr-TR" sz="2000" dirty="0" err="1">
                <a:latin typeface="Consolas" panose="020B0609020204030204" pitchFamily="49" charset="0"/>
              </a:rPr>
              <a:t>echo</a:t>
            </a:r>
            <a:r>
              <a:rPr lang="tr-TR" sz="2000" dirty="0">
                <a:latin typeface="Consolas" panose="020B0609020204030204" pitchFamily="49" charset="0"/>
              </a:rPr>
              <a:t> "Mezun oldum!";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tr-TR" sz="2000" dirty="0">
                <a:latin typeface="Consolas" panose="020B0609020204030204" pitchFamily="49" charset="0"/>
              </a:rPr>
              <a:t>}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tr-TR" sz="2000" dirty="0">
                <a:latin typeface="Consolas" panose="020B0609020204030204" pitchFamily="49" charset="0"/>
              </a:rPr>
              <a:t>else {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tr-TR" sz="2000" dirty="0" err="1">
                <a:latin typeface="Consolas" panose="020B0609020204030204" pitchFamily="49" charset="0"/>
              </a:rPr>
              <a:t>echo</a:t>
            </a:r>
            <a:r>
              <a:rPr lang="tr-TR" sz="2000" dirty="0">
                <a:latin typeface="Consolas" panose="020B0609020204030204" pitchFamily="49" charset="0"/>
              </a:rPr>
              <a:t> "Hala öğrenciyim.";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tr-TR" sz="2000" dirty="0">
                <a:latin typeface="Consolas" panose="020B0609020204030204" pitchFamily="49" charset="0"/>
              </a:rPr>
              <a:t>} 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2000" b="1" dirty="0">
                <a:latin typeface="Consolas" panose="020B0609020204030204" pitchFamily="49" charset="0"/>
              </a:rPr>
              <a:t>?&gt;</a:t>
            </a:r>
            <a:endParaRPr lang="tr-TR" sz="2000" dirty="0">
              <a:latin typeface="Consolas" panose="020B06090202040302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7994CA-58E8-83FD-8FCA-928D9F7E0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Adınızı</a:t>
            </a:r>
            <a:r>
              <a:rPr lang="en-US" dirty="0"/>
              <a:t>, </a:t>
            </a:r>
            <a:r>
              <a:rPr lang="en-US" dirty="0" err="1"/>
              <a:t>soyadınızı</a:t>
            </a:r>
            <a:r>
              <a:rPr lang="en-US" dirty="0"/>
              <a:t>, </a:t>
            </a:r>
            <a:r>
              <a:rPr lang="en-US" dirty="0" err="1"/>
              <a:t>yaşınızı</a:t>
            </a:r>
            <a:r>
              <a:rPr lang="en-US" dirty="0"/>
              <a:t>, </a:t>
            </a:r>
            <a:r>
              <a:rPr lang="en-US" dirty="0" err="1"/>
              <a:t>bölümünüzü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değişkenlere</a:t>
            </a:r>
            <a:r>
              <a:rPr lang="en-US" dirty="0"/>
              <a:t> </a:t>
            </a:r>
            <a:r>
              <a:rPr lang="en-US" dirty="0" err="1"/>
              <a:t>metin</a:t>
            </a:r>
            <a:r>
              <a:rPr lang="en-US" dirty="0"/>
              <a:t>(string)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atayın</a:t>
            </a:r>
            <a:r>
              <a:rPr lang="en-US" dirty="0"/>
              <a:t>. </a:t>
            </a:r>
          </a:p>
          <a:p>
            <a:r>
              <a:rPr lang="en-US" dirty="0" err="1"/>
              <a:t>Mezuniyet</a:t>
            </a:r>
            <a:r>
              <a:rPr lang="en-US" dirty="0"/>
              <a:t> </a:t>
            </a:r>
            <a:r>
              <a:rPr lang="en-US" dirty="0" err="1"/>
              <a:t>durumunuzu</a:t>
            </a:r>
            <a:r>
              <a:rPr lang="en-US" dirty="0"/>
              <a:t> “</a:t>
            </a:r>
            <a:r>
              <a:rPr lang="en-US" dirty="0" err="1"/>
              <a:t>mezun</a:t>
            </a:r>
            <a:r>
              <a:rPr lang="en-US" dirty="0"/>
              <a:t>” </a:t>
            </a:r>
            <a:r>
              <a:rPr lang="en-US" dirty="0" err="1"/>
              <a:t>isimli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değişkene</a:t>
            </a:r>
            <a:r>
              <a:rPr lang="en-US" dirty="0"/>
              <a:t> </a:t>
            </a:r>
            <a:r>
              <a:rPr lang="en-US" dirty="0" err="1"/>
              <a:t>mantıksal</a:t>
            </a:r>
            <a:r>
              <a:rPr lang="en-US" dirty="0"/>
              <a:t>(Boolean“)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atayın</a:t>
            </a:r>
            <a:r>
              <a:rPr lang="en-US" dirty="0"/>
              <a:t>.</a:t>
            </a:r>
          </a:p>
          <a:p>
            <a:r>
              <a:rPr lang="en-US" dirty="0" err="1"/>
              <a:t>Ekrana</a:t>
            </a:r>
            <a:r>
              <a:rPr lang="en-US" dirty="0"/>
              <a:t> </a:t>
            </a:r>
          </a:p>
          <a:p>
            <a:r>
              <a:rPr lang="en-US" dirty="0" err="1"/>
              <a:t>Merhaba</a:t>
            </a:r>
            <a:r>
              <a:rPr lang="en-US" dirty="0"/>
              <a:t>, ben ...ad </a:t>
            </a:r>
            <a:r>
              <a:rPr lang="en-US" dirty="0" err="1"/>
              <a:t>soyad</a:t>
            </a:r>
            <a:r>
              <a:rPr lang="en-US" dirty="0"/>
              <a:t>…</a:t>
            </a:r>
          </a:p>
          <a:p>
            <a:r>
              <a:rPr lang="en-US" dirty="0" err="1"/>
              <a:t>Yaşım</a:t>
            </a:r>
            <a:r>
              <a:rPr lang="en-US" dirty="0"/>
              <a:t>: ……………</a:t>
            </a:r>
          </a:p>
          <a:p>
            <a:r>
              <a:rPr lang="en-US" dirty="0" err="1"/>
              <a:t>Bölümüm</a:t>
            </a:r>
            <a:r>
              <a:rPr lang="en-US" dirty="0"/>
              <a:t>: …………………</a:t>
            </a:r>
          </a:p>
          <a:p>
            <a:r>
              <a:rPr lang="en-US" dirty="0" err="1"/>
              <a:t>Mezunsanız</a:t>
            </a:r>
            <a:r>
              <a:rPr lang="en-US" dirty="0"/>
              <a:t> “</a:t>
            </a:r>
            <a:r>
              <a:rPr lang="en-US" dirty="0" err="1"/>
              <a:t>Mezunoldum</a:t>
            </a:r>
            <a:r>
              <a:rPr lang="en-US" dirty="0"/>
              <a:t>!”</a:t>
            </a:r>
          </a:p>
          <a:p>
            <a:r>
              <a:rPr lang="en-US" dirty="0" err="1"/>
              <a:t>Değilseniz</a:t>
            </a:r>
            <a:r>
              <a:rPr lang="en-US" dirty="0"/>
              <a:t> “Hala </a:t>
            </a:r>
            <a:r>
              <a:rPr lang="en-US" dirty="0" err="1"/>
              <a:t>öğrenciyim</a:t>
            </a:r>
            <a:r>
              <a:rPr lang="en-US" dirty="0"/>
              <a:t>.”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yazdırın</a:t>
            </a:r>
            <a:br>
              <a:rPr lang="en-US" dirty="0"/>
            </a:br>
            <a:endParaRPr lang="tr-T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C9F8E-EDA3-AD2E-ADCE-DE81A3463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9D9B3-D101-425F-8527-D210206DC283}" type="slidenum">
              <a:rPr lang="tr-TR" altLang="en-US" smtClean="0"/>
              <a:pPr>
                <a:defRPr/>
              </a:pPr>
              <a:t>25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8214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3208-16AD-98CD-605A-4F3BF143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OPERATÖRLER</a:t>
            </a:r>
            <a:endParaRPr lang="tr-TR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08BE4-D66D-7A03-041B-CE036EA3A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800" dirty="0"/>
              <a:t>Aritmetik Operatörler</a:t>
            </a:r>
          </a:p>
          <a:p>
            <a:r>
              <a:rPr lang="tr-TR" sz="2800" dirty="0"/>
              <a:t>Atama Operatörleri</a:t>
            </a:r>
          </a:p>
          <a:p>
            <a:r>
              <a:rPr lang="tr-TR" sz="2800" dirty="0"/>
              <a:t>Karşılaştırma Operatörleri</a:t>
            </a:r>
          </a:p>
          <a:p>
            <a:r>
              <a:rPr lang="tr-TR" sz="2800" dirty="0"/>
              <a:t>Mantıksal Operatörler</a:t>
            </a:r>
          </a:p>
          <a:p>
            <a:r>
              <a:rPr lang="tr-TR" sz="2800" dirty="0" err="1"/>
              <a:t>String</a:t>
            </a:r>
            <a:r>
              <a:rPr lang="tr-TR" sz="2800" dirty="0"/>
              <a:t> (Metin) Operatörleri</a:t>
            </a:r>
          </a:p>
          <a:p>
            <a:r>
              <a:rPr lang="tr-TR" sz="2800" dirty="0"/>
              <a:t>Artırma ve Azaltma Operatörleri</a:t>
            </a:r>
            <a:endParaRPr lang="en-US" sz="2800" dirty="0"/>
          </a:p>
          <a:p>
            <a:r>
              <a:rPr lang="en-US" sz="2800" dirty="0"/>
              <a:t>Hata </a:t>
            </a:r>
            <a:r>
              <a:rPr lang="en-US" sz="2800" dirty="0" err="1"/>
              <a:t>Operatörü</a:t>
            </a:r>
            <a:endParaRPr lang="tr-TR" sz="2800" dirty="0"/>
          </a:p>
          <a:p>
            <a:endParaRPr lang="tr-T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1F3D30-6556-5913-F7B9-AE75617C1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PHP'de</a:t>
            </a:r>
            <a:r>
              <a:rPr lang="tr-TR" dirty="0"/>
              <a:t> operatörler, değişkenler ve değerler üzerinde işlemler gerçekleştirmek için kullanılan özel sembollerdir.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D3835E-5BAF-26CA-0300-A1A3A2E15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9D9B3-D101-425F-8527-D210206DC283}" type="slidenum">
              <a:rPr lang="tr-TR" altLang="en-US" smtClean="0"/>
              <a:pPr>
                <a:defRPr/>
              </a:pPr>
              <a:t>26</a:t>
            </a:fld>
            <a:endParaRPr lang="tr-TR" alt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4762833-C90D-15B8-25C2-D6E64FC17DA1}"/>
              </a:ext>
            </a:extLst>
          </p:cNvPr>
          <p:cNvSpPr txBox="1">
            <a:spLocks/>
          </p:cNvSpPr>
          <p:nvPr/>
        </p:nvSpPr>
        <p:spPr>
          <a:xfrm>
            <a:off x="323528" y="6005319"/>
            <a:ext cx="4248472" cy="3954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Kod</a:t>
            </a:r>
            <a:r>
              <a:rPr lang="en-US" sz="1600" dirty="0"/>
              <a:t>: h2-start &gt;&gt; </a:t>
            </a:r>
            <a:r>
              <a:rPr lang="tr-TR" sz="1600" dirty="0" err="1"/>
              <a:t>operatorler</a:t>
            </a:r>
            <a:r>
              <a:rPr lang="en-US" sz="1600" dirty="0"/>
              <a:t>.</a:t>
            </a:r>
            <a:r>
              <a:rPr lang="en-US" sz="1600" dirty="0" err="1"/>
              <a:t>php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3387859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1D287-C149-5DBB-CA59-FB4241B1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Aritmetik Operatörler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950D7E-BD79-3A5C-1EC9-367D34178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579812" y="1257300"/>
            <a:ext cx="5312667" cy="2914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40693-5F6C-9A0B-7071-BBEE1AB7A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tr-TR" dirty="0"/>
              <a:t>Sayısal değerlerle standart matematiksel işlemler yapmak için kullanılırlar.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690C2-A34E-7B85-C16C-DC476442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9D9B3-D101-425F-8527-D210206DC283}" type="slidenum">
              <a:rPr lang="tr-TR" altLang="en-US" smtClean="0"/>
              <a:pPr>
                <a:defRPr/>
              </a:pPr>
              <a:t>27</a:t>
            </a:fld>
            <a:endParaRPr lang="tr-TR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40AAAA-7125-95DE-F9E7-9E0F5099C128}"/>
              </a:ext>
            </a:extLst>
          </p:cNvPr>
          <p:cNvSpPr txBox="1">
            <a:spLocks/>
          </p:cNvSpPr>
          <p:nvPr/>
        </p:nvSpPr>
        <p:spPr>
          <a:xfrm>
            <a:off x="251520" y="6248400"/>
            <a:ext cx="4248472" cy="3954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Kod</a:t>
            </a:r>
            <a:r>
              <a:rPr lang="en-US" sz="1600" dirty="0"/>
              <a:t>: h2-start &gt;&gt; </a:t>
            </a:r>
            <a:r>
              <a:rPr lang="tr-TR" sz="1600" dirty="0" err="1"/>
              <a:t>operatorler</a:t>
            </a:r>
            <a:r>
              <a:rPr lang="en-US" sz="1600" dirty="0"/>
              <a:t>.</a:t>
            </a:r>
            <a:r>
              <a:rPr lang="en-US" sz="1600" dirty="0" err="1"/>
              <a:t>php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3313382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2E40EE6-7AED-C76E-FCDF-B1523C8D0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76366" y="491242"/>
            <a:ext cx="4810434" cy="5985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AA6B8B-E24F-9AB5-6804-DB25E89A2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Atama Operatörleri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8D9A9B-C7CD-3AAB-FDAA-C9BAA6D0D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Değişkenlere değer atamak için kullanılırlar.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Bileşik atama operatörleri kodu kısaltmanıza yardımcı olur.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D9942-F485-BC1E-8192-86822A08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9D9B3-D101-425F-8527-D210206DC283}" type="slidenum">
              <a:rPr lang="tr-TR" altLang="en-US" smtClean="0"/>
              <a:pPr>
                <a:defRPr/>
              </a:pPr>
              <a:t>28</a:t>
            </a:fld>
            <a:endParaRPr lang="tr-TR" alt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8227D97-A0D8-9457-2C88-B1892B5E44D2}"/>
              </a:ext>
            </a:extLst>
          </p:cNvPr>
          <p:cNvSpPr txBox="1">
            <a:spLocks/>
          </p:cNvSpPr>
          <p:nvPr/>
        </p:nvSpPr>
        <p:spPr>
          <a:xfrm>
            <a:off x="323528" y="6083007"/>
            <a:ext cx="4248472" cy="3954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Kod</a:t>
            </a:r>
            <a:r>
              <a:rPr lang="en-US" sz="1600" dirty="0"/>
              <a:t>: h2-start &gt;&gt; </a:t>
            </a:r>
            <a:r>
              <a:rPr lang="tr-TR" sz="1600" dirty="0" err="1"/>
              <a:t>operatorler</a:t>
            </a:r>
            <a:r>
              <a:rPr lang="en-US" sz="1600" dirty="0"/>
              <a:t>.</a:t>
            </a:r>
            <a:r>
              <a:rPr lang="en-US" sz="1600" dirty="0" err="1"/>
              <a:t>php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6998214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5CC0A5F-AFA3-7B71-31CF-55E41E922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910" y="3278061"/>
            <a:ext cx="5213553" cy="33372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C2B075-2D72-A609-A041-2878E3E5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Karşılaştırma Operatörleri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96427-89E2-F0FB-46F8-42897C39C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38" y="3429000"/>
            <a:ext cx="8056562" cy="2432050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DB8FE-448C-EE50-470E-D563BCD68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tr-TR" dirty="0"/>
              <a:t>İki değeri karşılaştırmak için kullanılır ve sonuç olarak </a:t>
            </a:r>
            <a:r>
              <a:rPr lang="tr-TR" b="1" dirty="0" err="1"/>
              <a:t>true</a:t>
            </a:r>
            <a:r>
              <a:rPr lang="tr-TR" dirty="0"/>
              <a:t> veya </a:t>
            </a:r>
            <a:r>
              <a:rPr lang="tr-TR" b="1" dirty="0" err="1"/>
              <a:t>false</a:t>
            </a:r>
            <a:r>
              <a:rPr lang="tr-TR" dirty="0"/>
              <a:t> (</a:t>
            </a:r>
            <a:r>
              <a:rPr lang="tr-TR" dirty="0" err="1"/>
              <a:t>boolean</a:t>
            </a:r>
            <a:r>
              <a:rPr lang="tr-TR" dirty="0"/>
              <a:t>) döndürürler.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B8760-E907-86F6-9992-43383EE9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9D9B3-D101-425F-8527-D210206DC283}" type="slidenum">
              <a:rPr lang="tr-TR" altLang="en-US" smtClean="0"/>
              <a:pPr>
                <a:defRPr/>
              </a:pPr>
              <a:t>29</a:t>
            </a:fld>
            <a:endParaRPr lang="tr-T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C66F59-CF5E-E676-7097-E069DB339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165" y="1269241"/>
            <a:ext cx="5132635" cy="1882558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CA57B73-B83B-A25D-5254-2CD03529BBB0}"/>
              </a:ext>
            </a:extLst>
          </p:cNvPr>
          <p:cNvSpPr txBox="1">
            <a:spLocks/>
          </p:cNvSpPr>
          <p:nvPr/>
        </p:nvSpPr>
        <p:spPr>
          <a:xfrm>
            <a:off x="26150" y="6324832"/>
            <a:ext cx="4248472" cy="3954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Kod</a:t>
            </a:r>
            <a:r>
              <a:rPr lang="en-US" sz="1600" dirty="0"/>
              <a:t>: h2-start &gt;&gt; </a:t>
            </a:r>
            <a:r>
              <a:rPr lang="tr-TR" sz="1600" dirty="0" err="1"/>
              <a:t>operatorler</a:t>
            </a:r>
            <a:r>
              <a:rPr lang="en-US" sz="1600" dirty="0"/>
              <a:t>.</a:t>
            </a:r>
            <a:r>
              <a:rPr lang="en-US" sz="1600" dirty="0" err="1"/>
              <a:t>php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3255277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CDAB-364C-EA96-653F-F7C5032A1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Mantıksal Operatörler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4908F-D382-58C4-30FE-CD35C9C12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Birden fazla koşulu birleştirmek için kullanılır.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ÖRNEK: </a:t>
            </a:r>
            <a:r>
              <a:rPr lang="tr-TR" dirty="0"/>
              <a:t>Berber randevu sisteminizde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i="1" dirty="0"/>
              <a:t>«Eğer kullanıcı giriş yapmışsa </a:t>
            </a:r>
            <a:r>
              <a:rPr lang="tr-TR" b="1" i="1" dirty="0"/>
              <a:t>VE</a:t>
            </a:r>
            <a:r>
              <a:rPr lang="tr-TR" i="1" dirty="0"/>
              <a:t> admin ise»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tr-TR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DCD9C-E57D-AE94-F4E5-EE61ADB9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9D9B3-D101-425F-8527-D210206DC283}" type="slidenum">
              <a:rPr lang="tr-TR" altLang="en-US" smtClean="0"/>
              <a:pPr>
                <a:defRPr/>
              </a:pPr>
              <a:t>30</a:t>
            </a:fld>
            <a:endParaRPr lang="tr-T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A959DA-A74A-7436-6104-866657806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168" y="2047062"/>
            <a:ext cx="4819632" cy="1478751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9430CDE-1F45-143A-94A9-07D0ECA398AF}"/>
              </a:ext>
            </a:extLst>
          </p:cNvPr>
          <p:cNvSpPr txBox="1">
            <a:spLocks/>
          </p:cNvSpPr>
          <p:nvPr/>
        </p:nvSpPr>
        <p:spPr>
          <a:xfrm>
            <a:off x="355983" y="6248365"/>
            <a:ext cx="4248472" cy="3954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Kod</a:t>
            </a:r>
            <a:r>
              <a:rPr lang="en-US" sz="1600" dirty="0"/>
              <a:t>: h2-start &gt;&gt; </a:t>
            </a:r>
            <a:r>
              <a:rPr lang="tr-TR" sz="1600" dirty="0" err="1"/>
              <a:t>operatorler</a:t>
            </a:r>
            <a:r>
              <a:rPr lang="en-US" sz="1600" dirty="0"/>
              <a:t>.</a:t>
            </a:r>
            <a:r>
              <a:rPr lang="en-US" sz="1600" dirty="0" err="1"/>
              <a:t>php</a:t>
            </a:r>
            <a:endParaRPr lang="tr-TR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F52B56-8A7B-7D16-0D6C-DE2BB994E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554" y="3678192"/>
            <a:ext cx="7411208" cy="251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218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DD604-BDAD-7579-B2DC-F05A4FCF7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String</a:t>
            </a:r>
            <a:r>
              <a:rPr lang="tr-TR" dirty="0"/>
              <a:t> (Metin) Operatörleri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DC6CF-EEC3-27DD-2E77-1CD2BC6D7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3657600"/>
            <a:ext cx="7833370" cy="2507704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57E4A-29E5-2C99-716D-E4FBB37DA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tr-TR" dirty="0"/>
              <a:t>Metinleri birleştirmek için kullanılır. </a:t>
            </a:r>
            <a:r>
              <a:rPr lang="tr-TR" dirty="0" err="1"/>
              <a:t>PHP'nin</a:t>
            </a:r>
            <a:r>
              <a:rPr lang="tr-TR" dirty="0"/>
              <a:t> </a:t>
            </a:r>
            <a:r>
              <a:rPr lang="tr-TR" b="1" dirty="0"/>
              <a:t>"HTML içine gömülebilen"</a:t>
            </a:r>
            <a:r>
              <a:rPr lang="tr-TR" dirty="0"/>
              <a:t> yapısında çıktı üretirken sıkça kullanılır.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54638-465A-ACB0-47C1-D488AC58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9D9B3-D101-425F-8527-D210206DC283}" type="slidenum">
              <a:rPr lang="tr-TR" altLang="en-US" smtClean="0"/>
              <a:pPr>
                <a:defRPr/>
              </a:pPr>
              <a:t>31</a:t>
            </a:fld>
            <a:endParaRPr lang="tr-T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4570C9-1699-B710-FD83-982EA93E2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848" y="1381901"/>
            <a:ext cx="4646914" cy="204709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6F4082-5EC7-54F4-7CBB-3BCB156EBFB7}"/>
              </a:ext>
            </a:extLst>
          </p:cNvPr>
          <p:cNvSpPr txBox="1">
            <a:spLocks/>
          </p:cNvSpPr>
          <p:nvPr/>
        </p:nvSpPr>
        <p:spPr>
          <a:xfrm>
            <a:off x="630238" y="6310119"/>
            <a:ext cx="4248472" cy="3954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Kod</a:t>
            </a:r>
            <a:r>
              <a:rPr lang="en-US" sz="1600" dirty="0"/>
              <a:t>: h2-start &gt;&gt; </a:t>
            </a:r>
            <a:r>
              <a:rPr lang="tr-TR" sz="1600" dirty="0" err="1"/>
              <a:t>operatorler</a:t>
            </a:r>
            <a:r>
              <a:rPr lang="en-US" sz="1600" dirty="0"/>
              <a:t>.</a:t>
            </a:r>
            <a:r>
              <a:rPr lang="en-US" sz="1600" dirty="0" err="1"/>
              <a:t>php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3909739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23815-59E0-006C-88EA-AE58A0FD5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Artırma ve Azaltma Operatörleri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D4506-F9A6-043A-861F-3B27B46D7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38" y="3284984"/>
            <a:ext cx="7886700" cy="2576066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AF916-E4B8-AF77-FBE7-30483856D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tr-TR" dirty="0"/>
              <a:t>Değişken değerini bir artırmak veya azaltmak için kullanılır.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950AA-B8C1-6D75-0AF2-7A5F57975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9D9B3-D101-425F-8527-D210206DC283}" type="slidenum">
              <a:rPr lang="tr-TR" altLang="en-US" smtClean="0"/>
              <a:pPr>
                <a:defRPr/>
              </a:pPr>
              <a:t>32</a:t>
            </a:fld>
            <a:endParaRPr lang="tr-T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EB762E-B2BA-B30B-29E1-914BE1738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1231294"/>
            <a:ext cx="4392488" cy="1776025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317A46-5E7A-358D-C084-3A3605F550A0}"/>
              </a:ext>
            </a:extLst>
          </p:cNvPr>
          <p:cNvSpPr txBox="1">
            <a:spLocks/>
          </p:cNvSpPr>
          <p:nvPr/>
        </p:nvSpPr>
        <p:spPr>
          <a:xfrm>
            <a:off x="539552" y="6138715"/>
            <a:ext cx="4248472" cy="3954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Kod</a:t>
            </a:r>
            <a:r>
              <a:rPr lang="en-US" sz="1600" dirty="0"/>
              <a:t>: h2-start &gt;&gt; </a:t>
            </a:r>
            <a:r>
              <a:rPr lang="tr-TR" sz="1600" dirty="0" err="1"/>
              <a:t>operatorler</a:t>
            </a:r>
            <a:r>
              <a:rPr lang="en-US" sz="1600" dirty="0"/>
              <a:t>.</a:t>
            </a:r>
            <a:r>
              <a:rPr lang="en-US" sz="1600" dirty="0" err="1"/>
              <a:t>php</a:t>
            </a:r>
            <a:endParaRPr lang="tr-TR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4CD2F5-0C6C-E4CA-3DDB-E7128C983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61" y="3316147"/>
            <a:ext cx="7948745" cy="760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42FD9A-557B-4466-0991-C41BEFC10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60" y="4119042"/>
            <a:ext cx="7948745" cy="94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457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B1DC4-7076-3734-E157-EA404DC14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952251"/>
            <a:ext cx="2949575" cy="1600200"/>
          </a:xfrm>
        </p:spPr>
        <p:txBody>
          <a:bodyPr/>
          <a:lstStyle/>
          <a:p>
            <a:r>
              <a:rPr lang="tr-TR" dirty="0"/>
              <a:t>Artırma ve Azaltma Operatörleri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D5BB1-FFD7-D889-0DCF-BB2BA9971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&lt;?</a:t>
            </a:r>
            <a:r>
              <a:rPr lang="tr-TR" sz="1100" dirty="0" err="1">
                <a:latin typeface="Consolas" panose="020B0609020204030204" pitchFamily="49" charset="0"/>
              </a:rPr>
              <a:t>php</a:t>
            </a:r>
            <a:r>
              <a:rPr lang="tr-TR" sz="1100" dirty="0">
                <a:latin typeface="Consolas" panose="020B0609020204030204" pitchFamily="49" charset="0"/>
              </a:rPr>
              <a:t> 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$</a:t>
            </a:r>
            <a:r>
              <a:rPr lang="tr-TR" sz="1100" dirty="0" err="1">
                <a:latin typeface="Consolas" panose="020B0609020204030204" pitchFamily="49" charset="0"/>
              </a:rPr>
              <a:t>sayi</a:t>
            </a:r>
            <a:r>
              <a:rPr lang="tr-TR" sz="1100" dirty="0">
                <a:latin typeface="Consolas" panose="020B0609020204030204" pitchFamily="49" charset="0"/>
              </a:rPr>
              <a:t> = 10; 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100" dirty="0" err="1">
                <a:latin typeface="Consolas" panose="020B0609020204030204" pitchFamily="49" charset="0"/>
              </a:rPr>
              <a:t>echo</a:t>
            </a:r>
            <a:r>
              <a:rPr lang="tr-TR" sz="1100" dirty="0">
                <a:latin typeface="Consolas" panose="020B0609020204030204" pitchFamily="49" charset="0"/>
              </a:rPr>
              <a:t> "Başlangıç: " . $</a:t>
            </a:r>
            <a:r>
              <a:rPr lang="tr-TR" sz="1100" dirty="0" err="1">
                <a:latin typeface="Consolas" panose="020B0609020204030204" pitchFamily="49" charset="0"/>
              </a:rPr>
              <a:t>sayi</a:t>
            </a:r>
            <a:r>
              <a:rPr lang="tr-TR" sz="1100" dirty="0">
                <a:latin typeface="Consolas" panose="020B0609020204030204" pitchFamily="49" charset="0"/>
              </a:rPr>
              <a:t> . "&lt;</a:t>
            </a:r>
            <a:r>
              <a:rPr lang="tr-TR" sz="1100" dirty="0" err="1">
                <a:latin typeface="Consolas" panose="020B0609020204030204" pitchFamily="49" charset="0"/>
              </a:rPr>
              <a:t>br</a:t>
            </a:r>
            <a:r>
              <a:rPr lang="tr-TR" sz="1100" dirty="0">
                <a:latin typeface="Consolas" panose="020B0609020204030204" pitchFamily="49" charset="0"/>
              </a:rPr>
              <a:t>&gt;"; // 10 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// Önce artırma akışı 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100" dirty="0" err="1">
                <a:latin typeface="Consolas" panose="020B0609020204030204" pitchFamily="49" charset="0"/>
              </a:rPr>
              <a:t>echo</a:t>
            </a:r>
            <a:r>
              <a:rPr lang="tr-TR" sz="1100" dirty="0">
                <a:latin typeface="Consolas" panose="020B0609020204030204" pitchFamily="49" charset="0"/>
              </a:rPr>
              <a:t> "Önce artır (++$</a:t>
            </a:r>
            <a:r>
              <a:rPr lang="tr-TR" sz="1100" dirty="0" err="1">
                <a:latin typeface="Consolas" panose="020B0609020204030204" pitchFamily="49" charset="0"/>
              </a:rPr>
              <a:t>sayi</a:t>
            </a:r>
            <a:r>
              <a:rPr lang="tr-TR" sz="1100" dirty="0">
                <a:latin typeface="Consolas" panose="020B0609020204030204" pitchFamily="49" charset="0"/>
              </a:rPr>
              <a:t>): " . ++$</a:t>
            </a:r>
            <a:r>
              <a:rPr lang="tr-TR" sz="1100" dirty="0" err="1">
                <a:latin typeface="Consolas" panose="020B0609020204030204" pitchFamily="49" charset="0"/>
              </a:rPr>
              <a:t>sayi</a:t>
            </a:r>
            <a:r>
              <a:rPr lang="tr-TR" sz="1100" dirty="0">
                <a:latin typeface="Consolas" panose="020B0609020204030204" pitchFamily="49" charset="0"/>
              </a:rPr>
              <a:t> . "&lt;</a:t>
            </a:r>
            <a:r>
              <a:rPr lang="tr-TR" sz="1100" dirty="0" err="1">
                <a:latin typeface="Consolas" panose="020B0609020204030204" pitchFamily="49" charset="0"/>
              </a:rPr>
              <a:t>br</a:t>
            </a:r>
            <a:r>
              <a:rPr lang="tr-TR" sz="1100" dirty="0">
                <a:latin typeface="Consolas" panose="020B0609020204030204" pitchFamily="49" charset="0"/>
              </a:rPr>
              <a:t>&gt;"; // Ekranda 11 görürüz. 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// Sonradan artırma akışı 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100" dirty="0" err="1">
                <a:latin typeface="Consolas" panose="020B0609020204030204" pitchFamily="49" charset="0"/>
              </a:rPr>
              <a:t>echo</a:t>
            </a:r>
            <a:r>
              <a:rPr lang="tr-TR" sz="1100" dirty="0">
                <a:latin typeface="Consolas" panose="020B0609020204030204" pitchFamily="49" charset="0"/>
              </a:rPr>
              <a:t> "Sonra artır ($</a:t>
            </a:r>
            <a:r>
              <a:rPr lang="tr-TR" sz="1100" dirty="0" err="1">
                <a:latin typeface="Consolas" panose="020B0609020204030204" pitchFamily="49" charset="0"/>
              </a:rPr>
              <a:t>sayi</a:t>
            </a:r>
            <a:r>
              <a:rPr lang="tr-TR" sz="1100" dirty="0">
                <a:latin typeface="Consolas" panose="020B0609020204030204" pitchFamily="49" charset="0"/>
              </a:rPr>
              <a:t>++): " . $</a:t>
            </a:r>
            <a:r>
              <a:rPr lang="tr-TR" sz="1100" dirty="0" err="1">
                <a:latin typeface="Consolas" panose="020B0609020204030204" pitchFamily="49" charset="0"/>
              </a:rPr>
              <a:t>sayi</a:t>
            </a:r>
            <a:r>
              <a:rPr lang="tr-TR" sz="1100" dirty="0">
                <a:latin typeface="Consolas" panose="020B0609020204030204" pitchFamily="49" charset="0"/>
              </a:rPr>
              <a:t>++ . "&lt;</a:t>
            </a:r>
            <a:r>
              <a:rPr lang="tr-TR" sz="1100" dirty="0" err="1">
                <a:latin typeface="Consolas" panose="020B0609020204030204" pitchFamily="49" charset="0"/>
              </a:rPr>
              <a:t>br</a:t>
            </a:r>
            <a:r>
              <a:rPr lang="tr-TR" sz="1100" dirty="0">
                <a:latin typeface="Consolas" panose="020B0609020204030204" pitchFamily="49" charset="0"/>
              </a:rPr>
              <a:t>&gt;"; // Ekranda hala 11 görürüz (çünkü işlemden sonra artacak). 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100" dirty="0" err="1">
                <a:latin typeface="Consolas" panose="020B0609020204030204" pitchFamily="49" charset="0"/>
              </a:rPr>
              <a:t>echo</a:t>
            </a:r>
            <a:r>
              <a:rPr lang="tr-TR" sz="1100" dirty="0">
                <a:latin typeface="Consolas" panose="020B0609020204030204" pitchFamily="49" charset="0"/>
              </a:rPr>
              <a:t> "Artırma sonrası son durum: " . $</a:t>
            </a:r>
            <a:r>
              <a:rPr lang="tr-TR" sz="1100" dirty="0" err="1">
                <a:latin typeface="Consolas" panose="020B0609020204030204" pitchFamily="49" charset="0"/>
              </a:rPr>
              <a:t>sayi</a:t>
            </a:r>
            <a:r>
              <a:rPr lang="tr-TR" sz="1100" dirty="0">
                <a:latin typeface="Consolas" panose="020B0609020204030204" pitchFamily="49" charset="0"/>
              </a:rPr>
              <a:t> . "&lt;</a:t>
            </a:r>
            <a:r>
              <a:rPr lang="tr-TR" sz="1100" dirty="0" err="1">
                <a:latin typeface="Consolas" panose="020B0609020204030204" pitchFamily="49" charset="0"/>
              </a:rPr>
              <a:t>br</a:t>
            </a:r>
            <a:r>
              <a:rPr lang="tr-TR" sz="1100" dirty="0">
                <a:latin typeface="Consolas" panose="020B0609020204030204" pitchFamily="49" charset="0"/>
              </a:rPr>
              <a:t>&gt;"; // Şimdi 12 olduğunu görürüz. 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// Azaltma akışı 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100" dirty="0" err="1">
                <a:latin typeface="Consolas" panose="020B0609020204030204" pitchFamily="49" charset="0"/>
              </a:rPr>
              <a:t>echo</a:t>
            </a:r>
            <a:r>
              <a:rPr lang="tr-TR" sz="1100" dirty="0">
                <a:latin typeface="Consolas" panose="020B0609020204030204" pitchFamily="49" charset="0"/>
              </a:rPr>
              <a:t> "Önce azalt (--$</a:t>
            </a:r>
            <a:r>
              <a:rPr lang="tr-TR" sz="1100" dirty="0" err="1">
                <a:latin typeface="Consolas" panose="020B0609020204030204" pitchFamily="49" charset="0"/>
              </a:rPr>
              <a:t>sayi</a:t>
            </a:r>
            <a:r>
              <a:rPr lang="tr-TR" sz="1100" dirty="0">
                <a:latin typeface="Consolas" panose="020B0609020204030204" pitchFamily="49" charset="0"/>
              </a:rPr>
              <a:t>): " . --$</a:t>
            </a:r>
            <a:r>
              <a:rPr lang="tr-TR" sz="1100" dirty="0" err="1">
                <a:latin typeface="Consolas" panose="020B0609020204030204" pitchFamily="49" charset="0"/>
              </a:rPr>
              <a:t>sayi</a:t>
            </a:r>
            <a:r>
              <a:rPr lang="tr-TR" sz="1100" dirty="0">
                <a:latin typeface="Consolas" panose="020B0609020204030204" pitchFamily="49" charset="0"/>
              </a:rPr>
              <a:t>; // Ekranda 11 görürüz. 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sz="1100" dirty="0">
                <a:latin typeface="Consolas" panose="020B0609020204030204" pitchFamily="49" charset="0"/>
              </a:rPr>
              <a:t>?&gt;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E4C9D-533F-47FF-AB65-A9D872D8A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AC262-C100-98BC-DF80-6FF0CB92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9D9B3-D101-425F-8527-D210206DC283}" type="slidenum">
              <a:rPr lang="tr-TR" altLang="en-US" smtClean="0"/>
              <a:pPr>
                <a:defRPr/>
              </a:pPr>
              <a:t>33</a:t>
            </a:fld>
            <a:endParaRPr lang="tr-T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7955A5-1EFA-6CD3-5501-C34F9B9D5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897341"/>
            <a:ext cx="7488832" cy="281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710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CE1F0-3416-51E7-9F41-2D0DC891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Hata </a:t>
            </a:r>
            <a:r>
              <a:rPr lang="en-US" dirty="0" err="1"/>
              <a:t>Operatörü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D8F54-49D0-0138-F349-D8C9DD352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b="1" u="sng" dirty="0">
                <a:solidFill>
                  <a:srgbClr val="FF0000"/>
                </a:solidFill>
              </a:rPr>
              <a:t>RİSKLER</a:t>
            </a:r>
          </a:p>
          <a:p>
            <a:pPr lvl="1"/>
            <a:r>
              <a:rPr lang="tr-TR" b="1" dirty="0"/>
              <a:t>Hata Ayıklamayı Zorlaştırır:</a:t>
            </a:r>
            <a:r>
              <a:rPr lang="tr-TR" dirty="0"/>
              <a:t> Gerçekten kritik bir hata oluştuğunda mesaj gizlendiği için sorunun kaynağını bulmak güçleşebilir.</a:t>
            </a:r>
          </a:p>
          <a:p>
            <a:pPr lvl="1"/>
            <a:r>
              <a:rPr lang="tr-TR" b="1" dirty="0"/>
              <a:t>Performans:</a:t>
            </a:r>
            <a:r>
              <a:rPr lang="tr-TR" dirty="0"/>
              <a:t> @ operatörü, </a:t>
            </a:r>
            <a:r>
              <a:rPr lang="tr-TR" dirty="0" err="1"/>
              <a:t>PHP'nin</a:t>
            </a:r>
            <a:r>
              <a:rPr lang="tr-TR" dirty="0"/>
              <a:t> hata raporlama seviyesini geçici olarak değiştirdiği için yoğun kullanımda performansı olumsuz etkileyebilir.</a:t>
            </a:r>
          </a:p>
          <a:p>
            <a:pPr lvl="1"/>
            <a:r>
              <a:rPr lang="tr-TR" b="1" dirty="0"/>
              <a:t>Kritik Hatalar:</a:t>
            </a:r>
            <a:r>
              <a:rPr lang="tr-TR" dirty="0"/>
              <a:t> Bu operatör, programın çalışmasını tamamen durduran "Fatal </a:t>
            </a:r>
            <a:r>
              <a:rPr lang="tr-TR" dirty="0" err="1"/>
              <a:t>Error</a:t>
            </a:r>
            <a:r>
              <a:rPr lang="tr-TR" dirty="0"/>
              <a:t>" (Ölümcül Hata) türündeki hataları engelleyemez.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D79C9-82EB-3BE7-1DC4-B07F94913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rgbClr val="FF0000"/>
                </a:solidFill>
              </a:rPr>
              <a:t>Mecbur dolmadıkça KULLANMAYIN!!!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 err="1">
                <a:solidFill>
                  <a:srgbClr val="00B050"/>
                </a:solidFill>
              </a:rPr>
              <a:t>Try-Catch</a:t>
            </a:r>
            <a:r>
              <a:rPr lang="tr-TR" b="1" dirty="0">
                <a:solidFill>
                  <a:srgbClr val="00B050"/>
                </a:solidFill>
              </a:rPr>
              <a:t> blokları KULLANIN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b="1" dirty="0"/>
              <a:t>@</a:t>
            </a:r>
            <a:r>
              <a:rPr lang="tr-TR" dirty="0"/>
              <a:t> işareti ile temsil edilir.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Önüne geldiği ifadenin oluşturabileceği hata mesajlarını (</a:t>
            </a:r>
            <a:r>
              <a:rPr lang="tr-TR" dirty="0" err="1"/>
              <a:t>warning</a:t>
            </a:r>
            <a:r>
              <a:rPr lang="tr-TR" dirty="0"/>
              <a:t>, </a:t>
            </a:r>
            <a:r>
              <a:rPr lang="tr-TR" dirty="0" err="1"/>
              <a:t>notice</a:t>
            </a:r>
            <a:r>
              <a:rPr lang="tr-TR" dirty="0"/>
              <a:t> vb.) bastırmak ve kullanıcıya gösterilmesini engellemektir.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2FB1A-F300-F1C3-50A3-166382BBC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9D9B3-D101-425F-8527-D210206DC283}" type="slidenum">
              <a:rPr lang="tr-TR" altLang="en-US" smtClean="0"/>
              <a:pPr>
                <a:defRPr/>
              </a:pPr>
              <a:t>34</a:t>
            </a:fld>
            <a:endParaRPr lang="tr-T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944924-A077-D419-FEC3-307FC1674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5454566"/>
            <a:ext cx="6743792" cy="946234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A1136E-1172-D937-81F0-DCB7D7CBE973}"/>
              </a:ext>
            </a:extLst>
          </p:cNvPr>
          <p:cNvSpPr txBox="1">
            <a:spLocks/>
          </p:cNvSpPr>
          <p:nvPr/>
        </p:nvSpPr>
        <p:spPr>
          <a:xfrm>
            <a:off x="1043608" y="6400800"/>
            <a:ext cx="4248472" cy="3954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Kod</a:t>
            </a:r>
            <a:r>
              <a:rPr lang="en-US" sz="1600" dirty="0"/>
              <a:t>: h2-start &gt;&gt; </a:t>
            </a:r>
            <a:r>
              <a:rPr lang="tr-TR" sz="1600" dirty="0" err="1"/>
              <a:t>operatorler</a:t>
            </a:r>
            <a:r>
              <a:rPr lang="en-US" sz="1600" dirty="0"/>
              <a:t>.</a:t>
            </a:r>
            <a:r>
              <a:rPr lang="en-US" sz="1600" dirty="0" err="1"/>
              <a:t>php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40682349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C1269-3C26-FA19-2930-02585B7C6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Tür </a:t>
            </a:r>
            <a:r>
              <a:rPr lang="en-US" dirty="0" err="1"/>
              <a:t>dönüşümleri</a:t>
            </a:r>
            <a:r>
              <a:rPr lang="en-US" dirty="0"/>
              <a:t> (Type casting)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64471-01E7-DA03-AC70-9F5D5D4D1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b="1" dirty="0"/>
              <a:t>Otomatik Tür Dönüşümü (</a:t>
            </a:r>
            <a:r>
              <a:rPr lang="tr-TR" b="1" dirty="0" err="1"/>
              <a:t>Type</a:t>
            </a:r>
            <a:r>
              <a:rPr lang="tr-TR" b="1" dirty="0"/>
              <a:t> </a:t>
            </a:r>
            <a:r>
              <a:rPr lang="tr-TR" b="1" dirty="0" err="1"/>
              <a:t>Juggling</a:t>
            </a:r>
            <a:r>
              <a:rPr lang="tr-TR" b="1" dirty="0"/>
              <a:t>)</a:t>
            </a:r>
            <a:endParaRPr lang="en-US" b="1" dirty="0"/>
          </a:p>
          <a:p>
            <a:pPr lvl="1"/>
            <a:r>
              <a:rPr lang="tr-TR" dirty="0"/>
              <a:t>işlem sırasında bir değişkenin türünü o anki bağlama göre kendisi belirler</a:t>
            </a:r>
            <a:r>
              <a:rPr lang="en-US" dirty="0"/>
              <a:t>.</a:t>
            </a:r>
          </a:p>
          <a:p>
            <a:r>
              <a:rPr lang="en-US" b="1" dirty="0"/>
              <a:t>Manuel Tür </a:t>
            </a:r>
            <a:r>
              <a:rPr lang="en-US" b="1" dirty="0" err="1"/>
              <a:t>Dönüşümü</a:t>
            </a:r>
            <a:r>
              <a:rPr lang="en-US" b="1" dirty="0"/>
              <a:t> (Type Casting):</a:t>
            </a:r>
          </a:p>
          <a:p>
            <a:pPr lvl="1"/>
            <a:r>
              <a:rPr lang="tr-TR" dirty="0"/>
              <a:t>Geliştiricinin, bir değişkenin türünü açıkça belirtmesi işlemidir</a:t>
            </a:r>
            <a:r>
              <a:rPr lang="en-US" dirty="0"/>
              <a:t>.</a:t>
            </a:r>
          </a:p>
          <a:p>
            <a:pPr lvl="1"/>
            <a:r>
              <a:rPr lang="tr-TR" dirty="0"/>
              <a:t>Değişkenin önüne parantez içinde hedef tür yazılarak gerçekleştirilir.</a:t>
            </a:r>
            <a:endParaRPr lang="en-US" dirty="0"/>
          </a:p>
          <a:p>
            <a:r>
              <a:rPr lang="en-US" b="1" dirty="0"/>
              <a:t>Ö</a:t>
            </a:r>
            <a:r>
              <a:rPr lang="tr-TR" b="1" dirty="0" err="1"/>
              <a:t>zel</a:t>
            </a:r>
            <a:r>
              <a:rPr lang="tr-TR" b="1" dirty="0"/>
              <a:t> Dönüşüm Fonksiyonları</a:t>
            </a:r>
            <a:r>
              <a:rPr lang="en-US" b="1" dirty="0"/>
              <a:t>: </a:t>
            </a:r>
          </a:p>
          <a:p>
            <a:pPr lvl="1"/>
            <a:r>
              <a:rPr lang="tr-TR" dirty="0"/>
              <a:t>Daha kontrollü dönüşümler yapmak için </a:t>
            </a:r>
            <a:r>
              <a:rPr lang="tr-TR" dirty="0" err="1"/>
              <a:t>PHP'nin</a:t>
            </a:r>
            <a:r>
              <a:rPr lang="tr-TR" dirty="0"/>
              <a:t> sunduğu hazır fonksiyonlar</a:t>
            </a:r>
            <a:r>
              <a:rPr lang="en-US" dirty="0" err="1"/>
              <a:t>dır</a:t>
            </a:r>
            <a:endParaRPr lang="tr-T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4A62AA-EF08-6F4E-9DF5-E21B3B91D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tr-TR" dirty="0">
                <a:solidFill>
                  <a:srgbClr val="C00000"/>
                </a:solidFill>
              </a:rPr>
              <a:t>Tür Dönüşümü Akışı ve Dikkat Edilmesi Gerekenler</a:t>
            </a:r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Dönüşüm işlemleri yapılırken veri kaybı yaşanabileceği unutulmamalıdır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</a:t>
            </a:r>
            <a:r>
              <a:rPr lang="tr-TR" dirty="0" err="1"/>
              <a:t>eritabanından</a:t>
            </a:r>
            <a:r>
              <a:rPr lang="tr-TR" dirty="0"/>
              <a:t> gelen tüm veriler genellikle "</a:t>
            </a:r>
            <a:r>
              <a:rPr lang="tr-TR" dirty="0" err="1"/>
              <a:t>string</a:t>
            </a:r>
            <a:r>
              <a:rPr lang="tr-TR" dirty="0"/>
              <a:t>" olarak döner.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Bu verileri matematiksel işlemlerde kullanmadan önce </a:t>
            </a:r>
            <a:r>
              <a:rPr lang="tr-TR" b="1" dirty="0"/>
              <a:t>(</a:t>
            </a:r>
            <a:r>
              <a:rPr lang="tr-TR" b="1" dirty="0" err="1"/>
              <a:t>int</a:t>
            </a:r>
            <a:r>
              <a:rPr lang="tr-TR" b="1" dirty="0"/>
              <a:t>)</a:t>
            </a:r>
            <a:r>
              <a:rPr lang="tr-TR" dirty="0"/>
              <a:t> veya </a:t>
            </a:r>
            <a:r>
              <a:rPr lang="tr-TR" b="1" dirty="0"/>
              <a:t>(</a:t>
            </a:r>
            <a:r>
              <a:rPr lang="tr-TR" b="1" dirty="0" err="1"/>
              <a:t>float</a:t>
            </a:r>
            <a:r>
              <a:rPr lang="tr-TR" b="1" dirty="0"/>
              <a:t>)</a:t>
            </a:r>
            <a:r>
              <a:rPr lang="tr-TR" dirty="0"/>
              <a:t> ile dönüştürmek, uygulamanızın daha kararlı çalışmasını sağlar.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8472A-964F-0FF3-49F7-25FD1958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9D9B3-D101-425F-8527-D210206DC283}" type="slidenum">
              <a:rPr lang="tr-TR" altLang="en-US" smtClean="0"/>
              <a:pPr>
                <a:defRPr/>
              </a:pPr>
              <a:t>35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0166357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97FACB-8767-6E16-59AC-9256D70F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Otomatik Tür Dönüşümü </a:t>
            </a:r>
            <a:r>
              <a:rPr lang="tr-TR" sz="2400" dirty="0"/>
              <a:t>(</a:t>
            </a:r>
            <a:r>
              <a:rPr lang="tr-TR" sz="2400" dirty="0" err="1"/>
              <a:t>Type</a:t>
            </a:r>
            <a:r>
              <a:rPr lang="tr-TR" sz="2400" dirty="0"/>
              <a:t> </a:t>
            </a:r>
            <a:r>
              <a:rPr lang="tr-TR" sz="2400" dirty="0" err="1"/>
              <a:t>Juggling</a:t>
            </a:r>
            <a:r>
              <a:rPr lang="tr-TR" sz="2400" dirty="0"/>
              <a:t>)</a:t>
            </a:r>
            <a:endParaRPr lang="tr-T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02A24B-E92E-99FE-0D54-72CC97965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36713"/>
            <a:ext cx="4629150" cy="5024338"/>
          </a:xfrm>
        </p:spPr>
        <p:txBody>
          <a:bodyPr/>
          <a:lstStyle/>
          <a:p>
            <a:pPr marL="0" indent="0">
              <a:buNone/>
            </a:pPr>
            <a:endParaRPr lang="tr-TR" sz="2400" dirty="0">
              <a:latin typeface="Consolas" panose="020B0609020204030204" pitchFamily="49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8E4A11-BC6F-579F-7FCB-3E8B92AB9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İ</a:t>
            </a:r>
            <a:r>
              <a:rPr lang="tr-TR" dirty="0" err="1"/>
              <a:t>şlem</a:t>
            </a:r>
            <a:r>
              <a:rPr lang="tr-TR" dirty="0"/>
              <a:t> sırasında bir değişkenin türünü o anki bağlama göre kendisi belirler</a:t>
            </a:r>
            <a:r>
              <a:rPr lang="en-US" dirty="0"/>
              <a:t>.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A1E43-8182-A043-A731-3B692F419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E76B57-1749-484A-BC30-43D176F9D50D}" type="slidenum">
              <a:rPr lang="tr-TR" altLang="en-US" smtClean="0"/>
              <a:pPr>
                <a:defRPr/>
              </a:pPr>
              <a:t>36</a:t>
            </a:fld>
            <a:endParaRPr lang="tr-T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5597A9-44B2-4B0A-7DC0-B1CCEA6EA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222" y="1174241"/>
            <a:ext cx="4695386" cy="1001386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843FC3F-73D0-14FD-9750-FE11BA444E0A}"/>
              </a:ext>
            </a:extLst>
          </p:cNvPr>
          <p:cNvSpPr txBox="1">
            <a:spLocks/>
          </p:cNvSpPr>
          <p:nvPr/>
        </p:nvSpPr>
        <p:spPr>
          <a:xfrm>
            <a:off x="4268466" y="6384520"/>
            <a:ext cx="4248472" cy="3954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Kod</a:t>
            </a:r>
            <a:r>
              <a:rPr lang="en-US" sz="1600" dirty="0"/>
              <a:t>: h2-start &gt;&gt; </a:t>
            </a:r>
            <a:r>
              <a:rPr lang="en-US" sz="1600" dirty="0" err="1"/>
              <a:t>tur_donusumu.php</a:t>
            </a:r>
            <a:endParaRPr lang="tr-TR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3E95C6-1FAC-8039-9E4E-175DA89C6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873914"/>
            <a:ext cx="8003232" cy="348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4858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E66CB1-B7A0-526B-FA8B-6189DAF2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Manuel Tür </a:t>
            </a:r>
            <a:r>
              <a:rPr lang="en-US" dirty="0" err="1"/>
              <a:t>Dönüşümü</a:t>
            </a:r>
            <a:r>
              <a:rPr lang="en-US" dirty="0"/>
              <a:t> </a:t>
            </a:r>
            <a:r>
              <a:rPr lang="en-US" sz="2000" dirty="0"/>
              <a:t>(Type Casting)</a:t>
            </a:r>
            <a:endParaRPr lang="tr-T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D342CC-5AC0-578E-6BD0-394986F08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239D7-829B-F2BC-0297-B0224F1C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9D9B3-D101-425F-8527-D210206DC283}" type="slidenum">
              <a:rPr lang="tr-TR" altLang="en-US" smtClean="0"/>
              <a:pPr>
                <a:defRPr/>
              </a:pPr>
              <a:t>37</a:t>
            </a:fld>
            <a:endParaRPr lang="tr-TR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FBCB95-F66F-5621-76A5-3EE622E88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62" y="1821827"/>
            <a:ext cx="8031675" cy="4206534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F8F1242-11B2-5001-C44B-593D0DC326CF}"/>
              </a:ext>
            </a:extLst>
          </p:cNvPr>
          <p:cNvSpPr txBox="1">
            <a:spLocks/>
          </p:cNvSpPr>
          <p:nvPr/>
        </p:nvSpPr>
        <p:spPr>
          <a:xfrm>
            <a:off x="4268466" y="6240503"/>
            <a:ext cx="4248472" cy="3954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Kod</a:t>
            </a:r>
            <a:r>
              <a:rPr lang="en-US" sz="1600" dirty="0"/>
              <a:t>: h2-start &gt;&gt; </a:t>
            </a:r>
            <a:r>
              <a:rPr lang="en-US" sz="1600" dirty="0" err="1"/>
              <a:t>tur_donusumu.php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1474117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B781-64A8-6F82-C413-FE2F20AD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Özel Dönüşüm Fonksiyonları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BC4570B-1A74-249A-0FAF-8C25C1C5C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V</a:t>
            </a:r>
            <a:r>
              <a:rPr lang="tr-TR" dirty="0" err="1"/>
              <a:t>erileri</a:t>
            </a:r>
            <a:r>
              <a:rPr lang="tr-TR" dirty="0"/>
              <a:t> daha kontrollü ve fonksiyonel bir şekilde dönüştürmek için özel fonksiyonlar kullanılır.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61E732-7859-DF21-49D3-4E08292FAC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 err="1"/>
              <a:t>settype</a:t>
            </a:r>
            <a:r>
              <a:rPr lang="tr-TR" dirty="0"/>
              <a:t>()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değişkenin</a:t>
            </a:r>
            <a:r>
              <a:rPr lang="en-US" dirty="0"/>
              <a:t> </a:t>
            </a:r>
            <a:r>
              <a:rPr lang="en-US" dirty="0" err="1"/>
              <a:t>türünü</a:t>
            </a:r>
            <a:r>
              <a:rPr lang="en-US" dirty="0"/>
              <a:t> </a:t>
            </a:r>
            <a:r>
              <a:rPr lang="en-US" dirty="0" err="1"/>
              <a:t>kalıcı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değiştirir</a:t>
            </a:r>
            <a:r>
              <a:rPr lang="en-US" dirty="0"/>
              <a:t>.</a:t>
            </a:r>
          </a:p>
          <a:p>
            <a:endParaRPr lang="tr-T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B5507C-B627-D483-9F99-D3A32E3A2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dirty="0"/>
              <a:t>Değer Döndüren Fonksiyonlar (</a:t>
            </a:r>
            <a:r>
              <a:rPr lang="tr-TR" dirty="0" err="1"/>
              <a:t>intval</a:t>
            </a:r>
            <a:r>
              <a:rPr lang="tr-TR" dirty="0"/>
              <a:t>, </a:t>
            </a:r>
            <a:r>
              <a:rPr lang="tr-TR" dirty="0" err="1"/>
              <a:t>floatval</a:t>
            </a:r>
            <a:r>
              <a:rPr lang="tr-TR" dirty="0"/>
              <a:t>, </a:t>
            </a:r>
            <a:r>
              <a:rPr lang="tr-TR" dirty="0" err="1"/>
              <a:t>strval</a:t>
            </a:r>
            <a:r>
              <a:rPr lang="tr-TR" dirty="0"/>
              <a:t>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1B563CC-5B3E-ACCA-F9C9-F85F484931B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/>
              <a:t>Bu fonksiyonlar değişkenin değerini alır, istenen tipe çevirir ve sonucu döndürür; ancak orijinal değişkene dokunmazlar</a:t>
            </a:r>
            <a:endParaRPr lang="en-US" dirty="0"/>
          </a:p>
          <a:p>
            <a:pPr lvl="1"/>
            <a:r>
              <a:rPr lang="tr-TR" b="1" dirty="0" err="1"/>
              <a:t>intval</a:t>
            </a:r>
            <a:r>
              <a:rPr lang="tr-TR" b="1" dirty="0"/>
              <a:t>($</a:t>
            </a:r>
            <a:r>
              <a:rPr lang="tr-TR" b="1" dirty="0" err="1"/>
              <a:t>degisken</a:t>
            </a:r>
            <a:r>
              <a:rPr lang="tr-TR" b="1" dirty="0"/>
              <a:t>)</a:t>
            </a:r>
            <a:r>
              <a:rPr lang="tr-TR" dirty="0"/>
              <a:t>: Değişkenin tam sayı değerini döndürür.</a:t>
            </a:r>
            <a:endParaRPr lang="en-US" dirty="0"/>
          </a:p>
          <a:p>
            <a:pPr lvl="1"/>
            <a:r>
              <a:rPr lang="tr-TR" b="1" dirty="0" err="1"/>
              <a:t>floatval</a:t>
            </a:r>
            <a:r>
              <a:rPr lang="tr-TR" b="1" dirty="0"/>
              <a:t>($</a:t>
            </a:r>
            <a:r>
              <a:rPr lang="tr-TR" b="1" dirty="0" err="1"/>
              <a:t>degisken</a:t>
            </a:r>
            <a:r>
              <a:rPr lang="tr-TR" b="1" dirty="0"/>
              <a:t>)</a:t>
            </a:r>
            <a:r>
              <a:rPr lang="tr-TR" dirty="0"/>
              <a:t>: Değişkenin ondalıklı sayı değerini döndürür.</a:t>
            </a:r>
            <a:endParaRPr lang="en-US" dirty="0"/>
          </a:p>
          <a:p>
            <a:pPr lvl="1"/>
            <a:r>
              <a:rPr lang="tr-TR" b="1" dirty="0" err="1"/>
              <a:t>strval</a:t>
            </a:r>
            <a:r>
              <a:rPr lang="tr-TR" b="1" dirty="0"/>
              <a:t>($</a:t>
            </a:r>
            <a:r>
              <a:rPr lang="tr-TR" b="1" dirty="0" err="1"/>
              <a:t>degisken</a:t>
            </a:r>
            <a:r>
              <a:rPr lang="tr-TR" b="1" dirty="0"/>
              <a:t>)</a:t>
            </a:r>
            <a:r>
              <a:rPr lang="tr-TR" dirty="0"/>
              <a:t>: Değişkenin metin (</a:t>
            </a:r>
            <a:r>
              <a:rPr lang="tr-TR" dirty="0" err="1"/>
              <a:t>string</a:t>
            </a:r>
            <a:r>
              <a:rPr lang="tr-TR" dirty="0"/>
              <a:t>) değerini döndürür.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B86FB-8DD9-9DA3-5AA2-C39A1E0E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E76B57-1749-484A-BC30-43D176F9D50D}" type="slidenum">
              <a:rPr lang="tr-TR" altLang="en-US" smtClean="0"/>
              <a:pPr>
                <a:defRPr/>
              </a:pPr>
              <a:t>38</a:t>
            </a:fld>
            <a:endParaRPr lang="tr-TR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3AD9F4-97CE-9835-6E87-173F3F3D5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934" y="3429000"/>
            <a:ext cx="1760999" cy="32129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E766B5A-8B17-5A4A-B826-C444E1061304}"/>
              </a:ext>
            </a:extLst>
          </p:cNvPr>
          <p:cNvSpPr txBox="1"/>
          <p:nvPr/>
        </p:nvSpPr>
        <p:spPr>
          <a:xfrm>
            <a:off x="33982" y="5969655"/>
            <a:ext cx="2530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dirty="0">
                <a:hlinkClick r:id="rId3"/>
              </a:rPr>
              <a:t>https://www.php.net/manual/en/function.settype.php</a:t>
            </a:r>
            <a:r>
              <a:rPr lang="en-US" sz="1400" dirty="0"/>
              <a:t> </a:t>
            </a:r>
            <a:endParaRPr lang="tr-T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881FFF-712F-1E2F-369B-10F878A27DB1}"/>
              </a:ext>
            </a:extLst>
          </p:cNvPr>
          <p:cNvSpPr txBox="1"/>
          <p:nvPr/>
        </p:nvSpPr>
        <p:spPr>
          <a:xfrm>
            <a:off x="5148064" y="6223447"/>
            <a:ext cx="4580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h2-start &gt;&gt; </a:t>
            </a:r>
            <a:r>
              <a:rPr lang="tr-TR" dirty="0" err="1"/>
              <a:t>tur_donusumu.php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225675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E33E8-ECA8-75B8-5F7B-A947AD58E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98DA9-7B7A-9533-23AD-36D2BC7B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Özel Dönüşüm Fonksiyonları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19A30F-C11E-997B-72F6-8C6D56A3B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V</a:t>
            </a:r>
            <a:r>
              <a:rPr lang="tr-TR" dirty="0" err="1"/>
              <a:t>erileri</a:t>
            </a:r>
            <a:r>
              <a:rPr lang="tr-TR" dirty="0"/>
              <a:t> daha kontrollü ve fonksiyonel bir şekilde dönüştürmek için özel fonksiyonlar kullanılır.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E736AE-5E74-CDEC-A4EE-9A67778AF0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 err="1"/>
              <a:t>settype</a:t>
            </a:r>
            <a:r>
              <a:rPr lang="tr-TR" dirty="0"/>
              <a:t>()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değişkenin</a:t>
            </a:r>
            <a:r>
              <a:rPr lang="en-US" dirty="0"/>
              <a:t> </a:t>
            </a:r>
            <a:r>
              <a:rPr lang="en-US" dirty="0" err="1"/>
              <a:t>türünü</a:t>
            </a:r>
            <a:r>
              <a:rPr lang="en-US" dirty="0"/>
              <a:t> </a:t>
            </a:r>
            <a:r>
              <a:rPr lang="en-US" dirty="0" err="1"/>
              <a:t>kalıcı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değiştirir</a:t>
            </a:r>
            <a:r>
              <a:rPr lang="en-US" dirty="0"/>
              <a:t>.</a:t>
            </a:r>
          </a:p>
          <a:p>
            <a:endParaRPr lang="tr-T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61884E-8DD2-46CA-7378-9389F15F0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dirty="0"/>
              <a:t>Değer Döndüren Fonksiyonlar (</a:t>
            </a:r>
            <a:r>
              <a:rPr lang="tr-TR" dirty="0" err="1"/>
              <a:t>intval</a:t>
            </a:r>
            <a:r>
              <a:rPr lang="tr-TR" dirty="0"/>
              <a:t>, </a:t>
            </a:r>
            <a:r>
              <a:rPr lang="tr-TR" dirty="0" err="1"/>
              <a:t>floatval</a:t>
            </a:r>
            <a:r>
              <a:rPr lang="tr-TR" dirty="0"/>
              <a:t>, </a:t>
            </a:r>
            <a:r>
              <a:rPr lang="tr-TR" dirty="0" err="1"/>
              <a:t>strval</a:t>
            </a:r>
            <a:r>
              <a:rPr lang="tr-TR" dirty="0"/>
              <a:t>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7E64621-E14C-13F3-A508-D2109B59C97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/>
              <a:t>Bu fonksiyonlar değişkenin değerini alır, istenen tipe çevirir ve sonucu döndürür; ancak orijinal değişkene dokunmazlar</a:t>
            </a:r>
            <a:endParaRPr lang="en-US" dirty="0"/>
          </a:p>
          <a:p>
            <a:pPr lvl="1"/>
            <a:r>
              <a:rPr lang="tr-TR" b="1" dirty="0" err="1"/>
              <a:t>intval</a:t>
            </a:r>
            <a:r>
              <a:rPr lang="tr-TR" b="1" dirty="0"/>
              <a:t>($</a:t>
            </a:r>
            <a:r>
              <a:rPr lang="tr-TR" b="1" dirty="0" err="1"/>
              <a:t>degisken</a:t>
            </a:r>
            <a:r>
              <a:rPr lang="tr-TR" b="1" dirty="0"/>
              <a:t>)</a:t>
            </a:r>
            <a:r>
              <a:rPr lang="tr-TR" dirty="0"/>
              <a:t>: Değişkenin tam sayı değerini döndürür.</a:t>
            </a:r>
            <a:endParaRPr lang="en-US" dirty="0"/>
          </a:p>
          <a:p>
            <a:pPr lvl="1"/>
            <a:r>
              <a:rPr lang="tr-TR" b="1" dirty="0" err="1"/>
              <a:t>floatval</a:t>
            </a:r>
            <a:r>
              <a:rPr lang="tr-TR" b="1" dirty="0"/>
              <a:t>($</a:t>
            </a:r>
            <a:r>
              <a:rPr lang="tr-TR" b="1" dirty="0" err="1"/>
              <a:t>degisken</a:t>
            </a:r>
            <a:r>
              <a:rPr lang="tr-TR" b="1" dirty="0"/>
              <a:t>)</a:t>
            </a:r>
            <a:r>
              <a:rPr lang="tr-TR" dirty="0"/>
              <a:t>: Değişkenin ondalıklı sayı değerini döndürür.</a:t>
            </a:r>
            <a:endParaRPr lang="en-US" dirty="0"/>
          </a:p>
          <a:p>
            <a:pPr lvl="1"/>
            <a:r>
              <a:rPr lang="tr-TR" b="1" dirty="0" err="1"/>
              <a:t>strval</a:t>
            </a:r>
            <a:r>
              <a:rPr lang="tr-TR" b="1" dirty="0"/>
              <a:t>($</a:t>
            </a:r>
            <a:r>
              <a:rPr lang="tr-TR" b="1" dirty="0" err="1"/>
              <a:t>degisken</a:t>
            </a:r>
            <a:r>
              <a:rPr lang="tr-TR" b="1" dirty="0"/>
              <a:t>)</a:t>
            </a:r>
            <a:r>
              <a:rPr lang="tr-TR" dirty="0"/>
              <a:t>: Değişkenin metin (</a:t>
            </a:r>
            <a:r>
              <a:rPr lang="tr-TR" dirty="0" err="1"/>
              <a:t>string</a:t>
            </a:r>
            <a:r>
              <a:rPr lang="tr-TR" dirty="0"/>
              <a:t>) değerini döndürür.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EFC08-BB96-2DB7-0BA0-967D0639D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E76B57-1749-484A-BC30-43D176F9D50D}" type="slidenum">
              <a:rPr lang="tr-TR" altLang="en-US" smtClean="0"/>
              <a:pPr>
                <a:defRPr/>
              </a:pPr>
              <a:t>39</a:t>
            </a:fld>
            <a:endParaRPr lang="tr-T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C21613-D199-5A0C-C623-C0AF0D773C21}"/>
              </a:ext>
            </a:extLst>
          </p:cNvPr>
          <p:cNvSpPr txBox="1"/>
          <p:nvPr/>
        </p:nvSpPr>
        <p:spPr>
          <a:xfrm>
            <a:off x="33982" y="5969655"/>
            <a:ext cx="2530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dirty="0">
                <a:hlinkClick r:id="rId2"/>
              </a:rPr>
              <a:t>https://www.php.net/manual/en/function.intval.php</a:t>
            </a:r>
            <a:r>
              <a:rPr lang="en-US" sz="1400" dirty="0"/>
              <a:t> </a:t>
            </a:r>
            <a:endParaRPr lang="tr-TR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878DDA-9070-9B38-EC9B-8EE250D6F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62" y="1782576"/>
            <a:ext cx="3868737" cy="42352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DFA683-B6B3-7E4B-64B5-031E5ED8EC55}"/>
              </a:ext>
            </a:extLst>
          </p:cNvPr>
          <p:cNvSpPr txBox="1"/>
          <p:nvPr/>
        </p:nvSpPr>
        <p:spPr>
          <a:xfrm>
            <a:off x="3936472" y="6248400"/>
            <a:ext cx="4580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h2-start&gt;&gt;</a:t>
            </a:r>
            <a:r>
              <a:rPr lang="tr-TR" dirty="0" err="1"/>
              <a:t>ozel_tur_donusum_fonk.php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297509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BD5FB39-F46E-5C10-5929-0D6B11A4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Ödev</a:t>
            </a:r>
            <a:r>
              <a:rPr lang="en-US" dirty="0"/>
              <a:t> 1</a:t>
            </a:r>
            <a:endParaRPr lang="tr-T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0F919E-4DF3-683F-6CB0-DC0C8333B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PHP </a:t>
            </a:r>
            <a:r>
              <a:rPr lang="en-US" dirty="0" err="1"/>
              <a:t>fonksiyonlarında</a:t>
            </a:r>
            <a:r>
              <a:rPr lang="en-US" dirty="0"/>
              <a:t> echo </a:t>
            </a:r>
            <a:r>
              <a:rPr lang="en-US" dirty="0" err="1"/>
              <a:t>ve</a:t>
            </a:r>
            <a:r>
              <a:rPr lang="en-US" dirty="0"/>
              <a:t> print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, </a:t>
            </a:r>
            <a:r>
              <a:rPr lang="en-US" dirty="0" err="1"/>
              <a:t>farkı</a:t>
            </a:r>
            <a:r>
              <a:rPr lang="en-US" dirty="0"/>
              <a:t> </a:t>
            </a:r>
            <a:r>
              <a:rPr lang="en-US" dirty="0" err="1"/>
              <a:t>nedir</a:t>
            </a:r>
            <a:r>
              <a:rPr lang="en-US" dirty="0"/>
              <a:t>?</a:t>
            </a:r>
          </a:p>
          <a:p>
            <a:r>
              <a:rPr lang="en-US" dirty="0"/>
              <a:t>Metin/Text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tipinin</a:t>
            </a:r>
            <a:r>
              <a:rPr lang="en-US" dirty="0"/>
              <a:t> “” (</a:t>
            </a:r>
            <a:r>
              <a:rPr lang="en-US" dirty="0" err="1"/>
              <a:t>çift</a:t>
            </a:r>
            <a:r>
              <a:rPr lang="en-US" dirty="0"/>
              <a:t> </a:t>
            </a:r>
            <a:r>
              <a:rPr lang="en-US" dirty="0" err="1"/>
              <a:t>tırnak</a:t>
            </a:r>
            <a:r>
              <a:rPr lang="en-US" dirty="0"/>
              <a:t>) </a:t>
            </a:r>
            <a:r>
              <a:rPr lang="en-US" dirty="0" err="1"/>
              <a:t>veya</a:t>
            </a:r>
            <a:r>
              <a:rPr lang="en-US" dirty="0"/>
              <a:t> ‘’ (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tırnak</a:t>
            </a:r>
            <a:r>
              <a:rPr lang="en-US" dirty="0"/>
              <a:t>)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yazılmasını</a:t>
            </a:r>
            <a:r>
              <a:rPr lang="en-US" dirty="0"/>
              <a:t> </a:t>
            </a:r>
            <a:r>
              <a:rPr lang="en-US" dirty="0" err="1"/>
              <a:t>farkları</a:t>
            </a:r>
            <a:r>
              <a:rPr lang="en-US" dirty="0"/>
              <a:t> </a:t>
            </a:r>
            <a:r>
              <a:rPr lang="en-US" dirty="0" err="1"/>
              <a:t>nelerdir</a:t>
            </a:r>
            <a:r>
              <a:rPr lang="en-US" dirty="0"/>
              <a:t>?</a:t>
            </a:r>
          </a:p>
          <a:p>
            <a:r>
              <a:rPr lang="en-US" dirty="0"/>
              <a:t>Metin </a:t>
            </a:r>
            <a:r>
              <a:rPr lang="en-US" dirty="0" err="1"/>
              <a:t>yazarken</a:t>
            </a:r>
            <a:r>
              <a:rPr lang="en-US" dirty="0"/>
              <a:t> “” (</a:t>
            </a:r>
            <a:r>
              <a:rPr lang="en-US" dirty="0" err="1"/>
              <a:t>çift</a:t>
            </a:r>
            <a:r>
              <a:rPr lang="en-US" dirty="0"/>
              <a:t> </a:t>
            </a:r>
            <a:r>
              <a:rPr lang="en-US" dirty="0" err="1"/>
              <a:t>tırnak</a:t>
            </a:r>
            <a:r>
              <a:rPr lang="en-US" dirty="0"/>
              <a:t>)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çift</a:t>
            </a:r>
            <a:r>
              <a:rPr lang="en-US" dirty="0"/>
              <a:t> </a:t>
            </a:r>
            <a:r>
              <a:rPr lang="en-US" dirty="0" err="1"/>
              <a:t>tırnak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?</a:t>
            </a:r>
            <a:r>
              <a:rPr lang="tr-TR" dirty="0"/>
              <a:t> Yok sayma (</a:t>
            </a:r>
            <a:r>
              <a:rPr lang="tr-TR" dirty="0" err="1"/>
              <a:t>escape</a:t>
            </a:r>
            <a:r>
              <a:rPr lang="tr-TR" dirty="0"/>
              <a:t>) kaçış işareti.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5261D-C9C4-4D4C-0955-64B57A17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9D9B3-D101-425F-8527-D210206DC283}" type="slidenum">
              <a:rPr lang="tr-TR" altLang="en-US" smtClean="0"/>
              <a:pPr>
                <a:defRPr/>
              </a:pPr>
              <a:t>40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5270242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4312E-2A79-9425-B3D2-5F26C92D7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Kaynaklar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F48DD-E5BC-8713-A013-2EFA491FC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>
                <a:hlinkClick r:id="rId2"/>
              </a:rPr>
              <a:t>https://htmlcheatsheet.com/</a:t>
            </a:r>
            <a:endParaRPr lang="en-US" dirty="0"/>
          </a:p>
          <a:p>
            <a:r>
              <a:rPr lang="en-US" dirty="0"/>
              <a:t>Git </a:t>
            </a:r>
            <a:r>
              <a:rPr lang="en-US" dirty="0" err="1"/>
              <a:t>eğitimi</a:t>
            </a:r>
            <a:r>
              <a:rPr lang="en-US" dirty="0"/>
              <a:t>: </a:t>
            </a:r>
            <a:r>
              <a:rPr lang="tr-TR" dirty="0">
                <a:hlinkClick r:id="rId3"/>
              </a:rPr>
              <a:t>https://www.youtube.com/watch?v=rWG70T7fePg</a:t>
            </a:r>
            <a:endParaRPr lang="en-US" dirty="0"/>
          </a:p>
          <a:p>
            <a:r>
              <a:rPr lang="en-US" dirty="0"/>
              <a:t>CSS</a:t>
            </a:r>
          </a:p>
          <a:p>
            <a:pPr lvl="1"/>
            <a:r>
              <a:rPr lang="tr-TR" dirty="0">
                <a:hlinkClick r:id="rId4"/>
              </a:rPr>
              <a:t>https://css-tricks.com/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https://flexboxfroggy.com/#tr</a:t>
            </a:r>
            <a:endParaRPr lang="en-US" dirty="0"/>
          </a:p>
          <a:p>
            <a:r>
              <a:rPr lang="en-US" dirty="0"/>
              <a:t>https://codepen.io/</a:t>
            </a:r>
          </a:p>
          <a:p>
            <a:endParaRPr lang="en-US" dirty="0"/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71269-6593-5BAB-458B-3CF5FF70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E76B57-1749-484A-BC30-43D176F9D50D}" type="slidenum">
              <a:rPr lang="tr-TR" altLang="en-US" smtClean="0"/>
              <a:pPr>
                <a:defRPr/>
              </a:pPr>
              <a:t>41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674744468"/>
      </p:ext>
    </p:extLst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Custom 1">
      <a:majorFont>
        <a:latin typeface="Raleway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2850</TotalTime>
  <Words>3710</Words>
  <Application>Microsoft Office PowerPoint</Application>
  <PresentationFormat>On-screen Show (4:3)</PresentationFormat>
  <Paragraphs>475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Calibri</vt:lpstr>
      <vt:lpstr>Consolas</vt:lpstr>
      <vt:lpstr>Raleway</vt:lpstr>
      <vt:lpstr>SegoeUI</vt:lpstr>
      <vt:lpstr>SegoeUI-BoldItalic</vt:lpstr>
      <vt:lpstr>SegoeUI-Italic</vt:lpstr>
      <vt:lpstr>Wingdings</vt:lpstr>
      <vt:lpstr>Network</vt:lpstr>
      <vt:lpstr>HTML / CSS – DUYARLI(RESPONSİVE) TASARIM</vt:lpstr>
      <vt:lpstr>HTML – Hyper Text Markup Language (Yüksek Metin İşaretleme Dili) </vt:lpstr>
      <vt:lpstr>HTML Sayfası Temel Yapısı</vt:lpstr>
      <vt:lpstr>HTML Etiketleri</vt:lpstr>
      <vt:lpstr>HTML Etiketleri</vt:lpstr>
      <vt:lpstr>HTML Etiketleri</vt:lpstr>
      <vt:lpstr>HTML Etiketleri</vt:lpstr>
      <vt:lpstr>HTML Etiketleri</vt:lpstr>
      <vt:lpstr>HTML Etiketleri</vt:lpstr>
      <vt:lpstr>HTML Etiketleri</vt:lpstr>
      <vt:lpstr>PHP Personal Home Page Hypertext Preprocessor </vt:lpstr>
      <vt:lpstr>PHP Nedir?</vt:lpstr>
      <vt:lpstr>Neden saat değişti?</vt:lpstr>
      <vt:lpstr>Bilgisayarlarda PHP bulunmuyorsa – Online Compiler</vt:lpstr>
      <vt:lpstr>Sistemde PHP kontrolü</vt:lpstr>
      <vt:lpstr>PHP Syntax ve Temel Kurallar </vt:lpstr>
      <vt:lpstr>echo = Ekrana yazdır</vt:lpstr>
      <vt:lpstr>HTML il PHP içi içe çalışması</vt:lpstr>
      <vt:lpstr>Değişkenler</vt:lpstr>
      <vt:lpstr>Değişkenler ve Veri Tipleri</vt:lpstr>
      <vt:lpstr>Değişken Veri Tipleri ve Tanımlama</vt:lpstr>
      <vt:lpstr>Değişken Tanımlama Örnekleri</vt:lpstr>
      <vt:lpstr>Object (Nesne) veri tipi</vt:lpstr>
      <vt:lpstr>Değişken Kapsamı (Scope)</vt:lpstr>
      <vt:lpstr>Örnek</vt:lpstr>
      <vt:lpstr>OPERATÖRLER</vt:lpstr>
      <vt:lpstr>Aritmetik Operatörler</vt:lpstr>
      <vt:lpstr>Atama Operatörleri</vt:lpstr>
      <vt:lpstr>Karşılaştırma Operatörleri</vt:lpstr>
      <vt:lpstr>Mantıksal Operatörler</vt:lpstr>
      <vt:lpstr>String (Metin) Operatörleri</vt:lpstr>
      <vt:lpstr>Artırma ve Azaltma Operatörleri</vt:lpstr>
      <vt:lpstr>Artırma ve Azaltma Operatörleri</vt:lpstr>
      <vt:lpstr>Hata Operatörü</vt:lpstr>
      <vt:lpstr>Tür dönüşümleri (Type casting)</vt:lpstr>
      <vt:lpstr>Otomatik Tür Dönüşümü (Type Juggling)</vt:lpstr>
      <vt:lpstr>Manuel Tür Dönüşümü (Type Casting)</vt:lpstr>
      <vt:lpstr>Özel Dönüşüm Fonksiyonları</vt:lpstr>
      <vt:lpstr>Özel Dönüşüm Fonksiyonları</vt:lpstr>
      <vt:lpstr>Ödev 1</vt:lpstr>
      <vt:lpstr>Link ve Kaynaklar</vt:lpstr>
    </vt:vector>
  </TitlesOfParts>
  <Company>METUCC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Teknolojileri ve Programla</dc:title>
  <dc:creator>Erman</dc:creator>
  <cp:lastModifiedBy>mustafa volkan gungor</cp:lastModifiedBy>
  <cp:revision>125</cp:revision>
  <dcterms:created xsi:type="dcterms:W3CDTF">2010-04-13T12:22:36Z</dcterms:created>
  <dcterms:modified xsi:type="dcterms:W3CDTF">2026-02-24T19:26:30Z</dcterms:modified>
</cp:coreProperties>
</file>