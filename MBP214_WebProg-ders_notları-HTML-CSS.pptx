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1"/>
  </p:notesMasterIdLst>
  <p:sldIdLst>
    <p:sldId id="295" r:id="rId2"/>
    <p:sldId id="277" r:id="rId3"/>
    <p:sldId id="297" r:id="rId4"/>
    <p:sldId id="298" r:id="rId5"/>
    <p:sldId id="299" r:id="rId6"/>
    <p:sldId id="300" r:id="rId7"/>
    <p:sldId id="301" r:id="rId8"/>
    <p:sldId id="303" r:id="rId9"/>
    <p:sldId id="302" r:id="rId10"/>
    <p:sldId id="320" r:id="rId11"/>
    <p:sldId id="321" r:id="rId12"/>
    <p:sldId id="322" r:id="rId13"/>
    <p:sldId id="304" r:id="rId14"/>
    <p:sldId id="308" r:id="rId15"/>
    <p:sldId id="305" r:id="rId16"/>
    <p:sldId id="306" r:id="rId17"/>
    <p:sldId id="307" r:id="rId18"/>
    <p:sldId id="309" r:id="rId19"/>
    <p:sldId id="310" r:id="rId20"/>
    <p:sldId id="311" r:id="rId21"/>
    <p:sldId id="312" r:id="rId22"/>
    <p:sldId id="313" r:id="rId23"/>
    <p:sldId id="315" r:id="rId24"/>
    <p:sldId id="316" r:id="rId25"/>
    <p:sldId id="317" r:id="rId26"/>
    <p:sldId id="319" r:id="rId27"/>
    <p:sldId id="318" r:id="rId28"/>
    <p:sldId id="323" r:id="rId29"/>
    <p:sldId id="324" r:id="rId30"/>
  </p:sldIdLst>
  <p:sldSz cx="9144000" cy="6858000" type="screen4x3"/>
  <p:notesSz cx="6858000" cy="9144000"/>
  <p:defaultTextStyle>
    <a:defPPr>
      <a:defRPr lang="tr-T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TML" id="{4B028E3E-98A5-4707-8E5A-937DD532F8E6}">
          <p14:sldIdLst>
            <p14:sldId id="295"/>
            <p14:sldId id="277"/>
            <p14:sldId id="297"/>
            <p14:sldId id="298"/>
            <p14:sldId id="299"/>
            <p14:sldId id="300"/>
            <p14:sldId id="301"/>
            <p14:sldId id="303"/>
            <p14:sldId id="302"/>
            <p14:sldId id="320"/>
            <p14:sldId id="321"/>
            <p14:sldId id="322"/>
            <p14:sldId id="304"/>
          </p14:sldIdLst>
        </p14:section>
        <p14:section name="CSS" id="{1FF0001E-02C2-4542-8204-EBD1FB6535C8}">
          <p14:sldIdLst>
            <p14:sldId id="308"/>
            <p14:sldId id="305"/>
            <p14:sldId id="306"/>
            <p14:sldId id="307"/>
            <p14:sldId id="309"/>
            <p14:sldId id="310"/>
            <p14:sldId id="311"/>
            <p14:sldId id="312"/>
            <p14:sldId id="313"/>
            <p14:sldId id="315"/>
            <p14:sldId id="316"/>
            <p14:sldId id="317"/>
            <p14:sldId id="319"/>
            <p14:sldId id="318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95" autoAdjust="0"/>
    <p:restoredTop sz="94660"/>
  </p:normalViewPr>
  <p:slideViewPr>
    <p:cSldViewPr>
      <p:cViewPr>
        <p:scale>
          <a:sx n="100" d="100"/>
          <a:sy n="100" d="100"/>
        </p:scale>
        <p:origin x="72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5CDE7-D414-4387-A93E-57A709A67DEF}" type="datetimeFigureOut">
              <a:rPr lang="tr-TR" smtClean="0"/>
              <a:t>18.02.2026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26520-E089-4D90-8017-0D21A24222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5896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D2F7C56F-70D5-960B-367E-7E833A6B9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3" name="Line 40">
            <a:extLst>
              <a:ext uri="{FF2B5EF4-FFF2-40B4-BE49-F238E27FC236}">
                <a16:creationId xmlns:a16="http://schemas.microsoft.com/office/drawing/2014/main" id="{B89C3292-F31C-C93C-18E1-616E7D6BF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F5D3C-8228-876C-AAC0-016177845B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3295650"/>
            <a:ext cx="2058987" cy="205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tr-TR" altLang="en-US" noProof="0"/>
              <a:t>Click to edit Master title style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tr-TR" altLang="en-US" noProof="0"/>
              <a:t>Click to edit Master subtitle style</a:t>
            </a:r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45CD8BCD-81B3-94DF-9730-F827336AC7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3655E2F2-EE2F-B711-A905-C0B4D6F75F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F0B7B375-FAEE-2628-00C8-B2E8ACF7ED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0B4907-0757-4FB1-AC4C-D0B974A19098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05478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C1FCB4B-F33C-8AE9-3EAA-A7C76AA738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934C3DB-E616-D223-CD92-F6E9F47EB9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2D6E0FE-A914-B549-97A2-884DEC2578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5FAD2-FFD3-4501-8CEC-D2A32AC2E90D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09469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EE8BFDB-7521-8BB1-8981-85441BEAF0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3242EA-31CF-5A5A-0EA1-4B676A7366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99558A4-96CF-D70D-6B44-0BD0EC21F3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4C715-BF1E-4D7E-9965-3C9C9EDC776C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51636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E94CA8-1B38-C8A7-CDFD-BBE3DEDCCB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D416E3-5853-AE75-459A-95B980B30E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EE243F5-3FD4-78DC-F51C-200EE50E1E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231392-402A-40CB-9D4F-9AFD3B2BA6F6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653067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6876145-D19F-B539-18D2-4AD7FBF64E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2D0833A-9428-D418-74F3-0535607114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D0DD6FD-F00B-C013-7567-9247523D4B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03B3E6-6879-443F-B0D5-B81ECD1FBCD7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318193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25335E7-3C3E-9197-E29D-888998B8B1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7EB450C-1DEF-2F42-83FA-F02F4541B6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3869D4B-B67F-FDB4-D644-AD4EA26265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E5B7FC-F805-47D8-9CE7-DC9B711FA68D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46960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746AEB6-A6FF-21C9-C965-BEBAEB5179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4FCC181-4871-3BE9-D3AF-6FFFF641C2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0852063-42BE-E757-FE97-DE78F1067D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0B970-3822-4CE2-A2D3-29DE5D840F25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864227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768ABC-205E-1590-D637-3543EE4B7D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352C16-C5B2-1925-C030-AB7BDF0E72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B5C21DE-A324-4D2B-C7F8-51948454A7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37F55A-D849-487D-AD41-D5F73529ED98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539979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BCE7AD-B201-4482-D87B-1DFB9432B0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616723-74C8-65D0-1A85-771B443BB9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7280A99-7642-8D59-E08C-885B1C0A62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5DF176-C085-4A73-873D-41CF9919265C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30037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0777970-6175-7DAA-DBB0-22089142CA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B2BAE52-2B0A-52F1-E480-3FBFD65C5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4F21601-F6E3-6A47-C560-9BF2627F71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F90C8-9C0A-4178-A164-C4AA3538A162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263534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3980EBE-2698-0298-680E-2271E5E1AD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C6974DD-E647-788D-F7E5-AE80C4C5B7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1170D62-AC28-377A-0517-242AD64666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545074-DD8D-4F5A-B787-6460BAE3A165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560537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pPr lvl="0"/>
            <a:endParaRPr lang="tr-TR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AEF8E9B-229F-C045-986D-C7DB1E118E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19C462-4412-32F8-7DE3-C583DCE736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43C7D8B-4F1E-BAF6-8435-4F6FE689B2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BEB4B-3D09-4432-87A4-5AF66343A129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896958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EAAB8761-BA23-9605-ABF7-05EA970D2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8550483-0E3F-69AB-A392-F3E0E602A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DEDCDC1-B19D-1F82-E275-A01E638046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/>
              <a:t>Click to edit Master text styles</a:t>
            </a:r>
          </a:p>
          <a:p>
            <a:pPr lvl="1"/>
            <a:r>
              <a:rPr lang="tr-TR" altLang="en-US"/>
              <a:t>Second level</a:t>
            </a:r>
          </a:p>
          <a:p>
            <a:pPr lvl="2"/>
            <a:r>
              <a:rPr lang="tr-TR" altLang="en-US"/>
              <a:t>Third level</a:t>
            </a:r>
          </a:p>
          <a:p>
            <a:pPr lvl="3"/>
            <a:r>
              <a:rPr lang="tr-TR" altLang="en-US"/>
              <a:t>Fourth level</a:t>
            </a:r>
          </a:p>
          <a:p>
            <a:pPr lvl="4"/>
            <a:r>
              <a:rPr lang="tr-TR" altLang="en-US"/>
              <a:t>Fifth level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ECE6B7D-133C-CD94-1054-692BB6BC9B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270E3CB-6194-696A-19BC-5E5C103806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7BF8FCC7-D142-1ED5-1943-9FF4726C4DF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B3E4D504-F2E3-4B12-A944-B3EBCB318880}" type="slidenum">
              <a:rPr lang="tr-TR" altLang="en-US"/>
              <a:pPr>
                <a:defRPr/>
              </a:pPr>
              <a:t>‹#›</a:t>
            </a:fld>
            <a:endParaRPr lang="tr-TR" altLang="en-US" dirty="0"/>
          </a:p>
        </p:txBody>
      </p:sp>
      <p:pic>
        <p:nvPicPr>
          <p:cNvPr id="1032" name="Picture 4">
            <a:extLst>
              <a:ext uri="{FF2B5EF4-FFF2-40B4-BE49-F238E27FC236}">
                <a16:creationId xmlns:a16="http://schemas.microsoft.com/office/drawing/2014/main" id="{44AC9D11-70F6-4817-9307-1A162A6B92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57163"/>
            <a:ext cx="1295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Raleway" pitchFamily="2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Raleway" pitchFamily="2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Raleway" pitchFamily="2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Raleway" pitchFamily="2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tr.wikipedia.org/wiki/%C4%B0%C5%9Faretleme_dili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css-tricks.com/" TargetMode="External"/><Relationship Id="rId3" Type="http://schemas.openxmlformats.org/officeDocument/2006/relationships/hyperlink" Target="https://www.yusufsezer.com.tr/css3-flexbox/" TargetMode="External"/><Relationship Id="rId7" Type="http://schemas.openxmlformats.org/officeDocument/2006/relationships/hyperlink" Target="https://www.youtube.com/watch?v=rWG70T7fePg" TargetMode="External"/><Relationship Id="rId2" Type="http://schemas.openxmlformats.org/officeDocument/2006/relationships/hyperlink" Target="https://www.yusufsezer.com.tr/css3-grid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tmlcheatsheet.com/" TargetMode="External"/><Relationship Id="rId5" Type="http://schemas.openxmlformats.org/officeDocument/2006/relationships/hyperlink" Target="https://www.w3schools.com/html/" TargetMode="External"/><Relationship Id="rId4" Type="http://schemas.openxmlformats.org/officeDocument/2006/relationships/hyperlink" Target="https://www.w3schools.com/css/" TargetMode="External"/><Relationship Id="rId9" Type="http://schemas.openxmlformats.org/officeDocument/2006/relationships/hyperlink" Target="https://flexboxfroggy.com/#tr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gungor/js-react-ders-kod-repo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C61D-E1BD-D22B-AEDF-8ACD444473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HTML </a:t>
            </a:r>
            <a:r>
              <a:rPr lang="en-US" sz="4000" dirty="0"/>
              <a:t>/</a:t>
            </a:r>
            <a:r>
              <a:rPr lang="en-US" sz="4400" dirty="0"/>
              <a:t> CSS – DUYARLI(RESPONSİVE)</a:t>
            </a:r>
            <a:endParaRPr lang="tr-TR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B5925-4CD9-3AFD-9A7A-1697A235D0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tr-TR" sz="2800" dirty="0"/>
              <a:t>HTML ve Modern CSS Temelleri</a:t>
            </a:r>
            <a:endParaRPr lang="en-US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tr-TR" sz="2800" dirty="0"/>
              <a:t>İleri Seviye CSS</a:t>
            </a:r>
            <a:endParaRPr lang="en-US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tr-TR" sz="2800" dirty="0"/>
              <a:t>Duyarlı (</a:t>
            </a:r>
            <a:r>
              <a:rPr lang="tr-TR" sz="2800" dirty="0" err="1"/>
              <a:t>Responsive</a:t>
            </a:r>
            <a:r>
              <a:rPr lang="tr-TR" sz="2800" dirty="0"/>
              <a:t>) Tasarım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1F044-DDA2-E98D-6624-3A8CBE09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0B4907-0757-4FB1-AC4C-D0B974A19098}" type="slidenum">
              <a:rPr lang="tr-TR" altLang="en-US" smtClean="0"/>
              <a:pPr>
                <a:defRPr/>
              </a:pPr>
              <a:t>1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552885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5DA7E2A-17FE-EC65-EF16-F5AA2A061B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sz="3200" dirty="0"/>
              <a:t>HTML – Hyper Text Markup Language </a:t>
            </a:r>
            <a:r>
              <a:rPr lang="en-US" altLang="tr-TR" sz="3200" b="0" dirty="0"/>
              <a:t>(Yüksek Metin </a:t>
            </a:r>
            <a:r>
              <a:rPr lang="en-US" altLang="tr-TR" sz="3200" b="0" dirty="0" err="1"/>
              <a:t>İşaretleme</a:t>
            </a:r>
            <a:r>
              <a:rPr lang="en-US" altLang="tr-TR" sz="3200" b="0" dirty="0"/>
              <a:t> Dili) </a:t>
            </a:r>
            <a:endParaRPr lang="tr-TR" altLang="tr-TR" sz="3200" b="0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3E09069-21A9-F7AE-A44C-2F71B294F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HTML, </a:t>
            </a:r>
            <a:r>
              <a:rPr lang="tr-TR" dirty="0"/>
              <a:t>web sayfalarını oluşturmak için kullanılan standart </a:t>
            </a:r>
            <a:r>
              <a:rPr lang="tr-TR" dirty="0">
                <a:hlinkClick r:id="rId2"/>
              </a:rPr>
              <a:t>metin işaretleme dilidir</a:t>
            </a:r>
            <a:r>
              <a:rPr lang="en-US" dirty="0"/>
              <a:t>.</a:t>
            </a:r>
          </a:p>
          <a:p>
            <a:pPr eaLnBrk="1" hangingPunct="1"/>
            <a:r>
              <a:rPr lang="en-US" dirty="0"/>
              <a:t>Web </a:t>
            </a:r>
            <a:r>
              <a:rPr lang="en-US" dirty="0" err="1"/>
              <a:t>sitelerinin</a:t>
            </a:r>
            <a:r>
              <a:rPr lang="en-US" dirty="0"/>
              <a:t> </a:t>
            </a:r>
            <a:r>
              <a:rPr lang="en-US" dirty="0" err="1"/>
              <a:t>şekillendirilmesinde</a:t>
            </a:r>
            <a:r>
              <a:rPr lang="en-US" dirty="0"/>
              <a:t>, </a:t>
            </a:r>
            <a:r>
              <a:rPr lang="en-US" dirty="0" err="1"/>
              <a:t>içerik</a:t>
            </a:r>
            <a:r>
              <a:rPr lang="en-US" dirty="0"/>
              <a:t> </a:t>
            </a:r>
            <a:r>
              <a:rPr lang="en-US" dirty="0" err="1"/>
              <a:t>düzenleme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yapılandırma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pPr eaLnBrk="1" hangingPunct="1"/>
            <a:r>
              <a:rPr lang="tr-TR" dirty="0"/>
              <a:t>HTML dosyasının uzantısı </a:t>
            </a:r>
            <a:r>
              <a:rPr lang="en-US" dirty="0"/>
              <a:t>*.</a:t>
            </a:r>
            <a:r>
              <a:rPr lang="tr-TR" b="1" dirty="0" err="1"/>
              <a:t>htm</a:t>
            </a:r>
            <a:r>
              <a:rPr lang="tr-TR" b="1" dirty="0"/>
              <a:t> </a:t>
            </a:r>
            <a:r>
              <a:rPr lang="tr-TR" dirty="0"/>
              <a:t>veya </a:t>
            </a:r>
            <a:r>
              <a:rPr lang="en-US" dirty="0"/>
              <a:t>*.</a:t>
            </a:r>
            <a:r>
              <a:rPr lang="tr-TR" b="1" dirty="0"/>
              <a:t>html </a:t>
            </a:r>
            <a:r>
              <a:rPr lang="tr-TR" dirty="0"/>
              <a:t>olmak zorundadır</a:t>
            </a:r>
            <a:r>
              <a:rPr lang="en-US" dirty="0"/>
              <a:t> </a:t>
            </a:r>
            <a:r>
              <a:rPr lang="en-US" sz="1600" dirty="0"/>
              <a:t>(</a:t>
            </a:r>
            <a:r>
              <a:rPr lang="en-US" sz="1600" dirty="0" err="1"/>
              <a:t>farklı</a:t>
            </a:r>
            <a:r>
              <a:rPr lang="en-US" sz="1600" dirty="0"/>
              <a:t> </a:t>
            </a:r>
            <a:r>
              <a:rPr lang="en-US" sz="1600" dirty="0" err="1"/>
              <a:t>amaçlar</a:t>
            </a:r>
            <a:r>
              <a:rPr lang="en-US" sz="1600" dirty="0"/>
              <a:t> </a:t>
            </a:r>
            <a:r>
              <a:rPr lang="en-US" sz="1600" dirty="0" err="1"/>
              <a:t>ile</a:t>
            </a:r>
            <a:r>
              <a:rPr lang="en-US" sz="1600" dirty="0"/>
              <a:t> framework </a:t>
            </a:r>
            <a:r>
              <a:rPr lang="en-US" sz="1600" dirty="0" err="1"/>
              <a:t>veya</a:t>
            </a:r>
            <a:r>
              <a:rPr lang="en-US" sz="1600" dirty="0"/>
              <a:t> </a:t>
            </a:r>
            <a:r>
              <a:rPr lang="en-US" sz="1600" dirty="0" err="1"/>
              <a:t>uygulamaya</a:t>
            </a:r>
            <a:r>
              <a:rPr lang="en-US" sz="1600" dirty="0"/>
              <a:t> </a:t>
            </a:r>
            <a:r>
              <a:rPr lang="en-US" sz="1600" dirty="0" err="1"/>
              <a:t>özel</a:t>
            </a:r>
            <a:r>
              <a:rPr lang="en-US" sz="1600" dirty="0"/>
              <a:t> </a:t>
            </a:r>
            <a:r>
              <a:rPr lang="en-US" sz="1600" dirty="0" err="1"/>
              <a:t>dosya</a:t>
            </a:r>
            <a:r>
              <a:rPr lang="en-US" sz="1600" dirty="0"/>
              <a:t> tipi </a:t>
            </a:r>
            <a:r>
              <a:rPr lang="en-US" sz="1600" dirty="0" err="1"/>
              <a:t>kullanılmadıkça</a:t>
            </a:r>
            <a:r>
              <a:rPr lang="en-US" sz="1600" dirty="0"/>
              <a:t>).</a:t>
            </a:r>
            <a:endParaRPr lang="tr-TR" altLang="tr-TR" dirty="0"/>
          </a:p>
        </p:txBody>
      </p:sp>
      <p:sp>
        <p:nvSpPr>
          <p:cNvPr id="3076" name="Line 4">
            <a:extLst>
              <a:ext uri="{FF2B5EF4-FFF2-40B4-BE49-F238E27FC236}">
                <a16:creationId xmlns:a16="http://schemas.microsoft.com/office/drawing/2014/main" id="{8D28E940-2E72-EFB8-5F9E-21BE3B36CA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1557338"/>
            <a:ext cx="7775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F5E95E-B9E2-DA25-AA16-8825C329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2</a:t>
            </a:fld>
            <a:endParaRPr lang="tr-T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6CC4-5529-BC26-6FBD-D575D0D4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</a:t>
            </a:r>
            <a:r>
              <a:rPr lang="en-US" dirty="0" err="1"/>
              <a:t>Sayfası</a:t>
            </a:r>
            <a:r>
              <a:rPr lang="en-US" dirty="0"/>
              <a:t> Temel </a:t>
            </a:r>
            <a:r>
              <a:rPr lang="en-US" dirty="0" err="1"/>
              <a:t>Yapısı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F2594-1208-E961-3F13-52D5AE64A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sz="2800" dirty="0">
                <a:latin typeface="Consolas" panose="020B0609020204030204" pitchFamily="49" charset="0"/>
              </a:rPr>
              <a:t>&lt;!DOCTYPE Html&gt;</a:t>
            </a:r>
          </a:p>
          <a:p>
            <a:pPr marL="0" indent="0">
              <a:buNone/>
            </a:pPr>
            <a:r>
              <a:rPr lang="tr-TR" sz="2800" dirty="0">
                <a:latin typeface="Consolas" panose="020B0609020204030204" pitchFamily="49" charset="0"/>
              </a:rPr>
              <a:t>&lt;html&gt;</a:t>
            </a:r>
          </a:p>
          <a:p>
            <a:pPr marL="349250" lvl="1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&lt;</a:t>
            </a:r>
            <a:r>
              <a:rPr lang="tr-TR" sz="2400" dirty="0" err="1">
                <a:latin typeface="Consolas" panose="020B0609020204030204" pitchFamily="49" charset="0"/>
              </a:rPr>
              <a:t>head</a:t>
            </a:r>
            <a:r>
              <a:rPr lang="tr-TR" sz="2400" dirty="0">
                <a:latin typeface="Consolas" panose="020B0609020204030204" pitchFamily="49" charset="0"/>
              </a:rPr>
              <a:t>&gt;</a:t>
            </a:r>
          </a:p>
          <a:p>
            <a:pPr marL="349250" lvl="1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tr-TR" sz="2400" dirty="0">
                <a:latin typeface="Consolas" panose="020B0609020204030204" pitchFamily="49" charset="0"/>
              </a:rPr>
              <a:t>&lt;</a:t>
            </a:r>
            <a:r>
              <a:rPr lang="tr-TR" sz="2400" dirty="0" err="1">
                <a:latin typeface="Consolas" panose="020B0609020204030204" pitchFamily="49" charset="0"/>
              </a:rPr>
              <a:t>title</a:t>
            </a:r>
            <a:r>
              <a:rPr lang="tr-TR" sz="2400" dirty="0">
                <a:latin typeface="Consolas" panose="020B0609020204030204" pitchFamily="49" charset="0"/>
              </a:rPr>
              <a:t>&gt; Benim Sayfam &lt;/</a:t>
            </a:r>
            <a:r>
              <a:rPr lang="tr-TR" sz="2400" dirty="0" err="1">
                <a:latin typeface="Consolas" panose="020B0609020204030204" pitchFamily="49" charset="0"/>
              </a:rPr>
              <a:t>title</a:t>
            </a:r>
            <a:r>
              <a:rPr lang="tr-TR" sz="2400" dirty="0">
                <a:latin typeface="Consolas" panose="020B0609020204030204" pitchFamily="49" charset="0"/>
              </a:rPr>
              <a:t>&gt;</a:t>
            </a:r>
            <a:endParaRPr lang="en-US" sz="2400" dirty="0">
              <a:latin typeface="Consolas" panose="020B0609020204030204" pitchFamily="49" charset="0"/>
            </a:endParaRPr>
          </a:p>
          <a:p>
            <a:pPr marL="349250" lvl="1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tr-TR" sz="2400" dirty="0">
                <a:latin typeface="Consolas" panose="020B0609020204030204" pitchFamily="49" charset="0"/>
              </a:rPr>
              <a:t>&lt;meta </a:t>
            </a:r>
            <a:r>
              <a:rPr lang="tr-TR" sz="2400" dirty="0" err="1">
                <a:latin typeface="Consolas" panose="020B0609020204030204" pitchFamily="49" charset="0"/>
              </a:rPr>
              <a:t>charset</a:t>
            </a:r>
            <a:r>
              <a:rPr lang="tr-TR" sz="2400" dirty="0">
                <a:latin typeface="Consolas" panose="020B0609020204030204" pitchFamily="49" charset="0"/>
              </a:rPr>
              <a:t>=”UTF-8”&gt;</a:t>
            </a:r>
          </a:p>
          <a:p>
            <a:pPr marL="349250" lvl="1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&lt;/</a:t>
            </a:r>
            <a:r>
              <a:rPr lang="tr-TR" sz="2400" dirty="0" err="1">
                <a:latin typeface="Consolas" panose="020B0609020204030204" pitchFamily="49" charset="0"/>
              </a:rPr>
              <a:t>head</a:t>
            </a:r>
            <a:r>
              <a:rPr lang="tr-TR" sz="2400" dirty="0">
                <a:latin typeface="Consolas" panose="020B0609020204030204" pitchFamily="49" charset="0"/>
              </a:rPr>
              <a:t>&gt;</a:t>
            </a:r>
          </a:p>
          <a:p>
            <a:pPr marL="349250" lvl="1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&lt;body&gt;</a:t>
            </a:r>
          </a:p>
          <a:p>
            <a:pPr marL="349250" lvl="1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&lt;h1&gt;</a:t>
            </a:r>
            <a:r>
              <a:rPr lang="tr-TR" sz="2400" dirty="0">
                <a:latin typeface="Consolas" panose="020B0609020204030204" pitchFamily="49" charset="0"/>
              </a:rPr>
              <a:t>Sayfama Hoş geldiniz!</a:t>
            </a:r>
            <a:r>
              <a:rPr lang="en-US" sz="2400" dirty="0">
                <a:latin typeface="Consolas" panose="020B0609020204030204" pitchFamily="49" charset="0"/>
              </a:rPr>
              <a:t>&lt;/h1&gt;</a:t>
            </a:r>
            <a:endParaRPr lang="tr-TR" sz="2400" dirty="0">
              <a:latin typeface="Consolas" panose="020B0609020204030204" pitchFamily="49" charset="0"/>
            </a:endParaRPr>
          </a:p>
          <a:p>
            <a:pPr marL="349250" lvl="1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&lt;/body&gt;</a:t>
            </a:r>
          </a:p>
          <a:p>
            <a:pPr marL="0" indent="0">
              <a:buNone/>
            </a:pPr>
            <a:r>
              <a:rPr lang="tr-TR" sz="2800" dirty="0">
                <a:latin typeface="Consolas" panose="020B0609020204030204" pitchFamily="49" charset="0"/>
              </a:rPr>
              <a:t>&lt;/html&gt;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C25F6-6338-311C-BA2F-ABEB4E58F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3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953682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F4AC0-DBDB-09A0-EE62-A9785941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Etiketleri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6C335-93AB-5CA5-58E5-DC9706699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tr-TR" b="1" dirty="0"/>
              <a:t>Başlık etiketleri:</a:t>
            </a:r>
            <a:r>
              <a:rPr lang="en-US" b="1" dirty="0"/>
              <a:t> </a:t>
            </a:r>
            <a:r>
              <a:rPr lang="tr-TR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&lt;h1&gt;</a:t>
            </a:r>
            <a:r>
              <a:rPr lang="tr-TR" b="1" i="1" dirty="0">
                <a:solidFill>
                  <a:srgbClr val="0070C0"/>
                </a:solidFill>
              </a:rPr>
              <a:t> </a:t>
            </a:r>
            <a:r>
              <a:rPr lang="tr-TR" dirty="0"/>
              <a:t>ve </a:t>
            </a:r>
            <a:r>
              <a:rPr lang="tr-TR" sz="2600" i="1" dirty="0">
                <a:solidFill>
                  <a:srgbClr val="0070C0"/>
                </a:solidFill>
              </a:rPr>
              <a:t>&lt;h6&gt; </a:t>
            </a:r>
            <a:r>
              <a:rPr lang="tr-TR" dirty="0"/>
              <a:t>dâhil olmak üzere aradaki tüm rakamlar kullanılarak tanımlanabilir</a:t>
            </a:r>
            <a:endParaRPr lang="en-US" dirty="0"/>
          </a:p>
          <a:p>
            <a:r>
              <a:rPr lang="tr-TR" b="1" dirty="0"/>
              <a:t>Paragraf etiketi:</a:t>
            </a:r>
            <a:r>
              <a:rPr lang="en-US" b="1" dirty="0"/>
              <a:t> </a:t>
            </a:r>
            <a:r>
              <a:rPr lang="pt-BR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&lt;p&gt; Bu bir paragraf &lt;/p&gt;</a:t>
            </a:r>
          </a:p>
          <a:p>
            <a:r>
              <a:rPr lang="tr-TR" b="1" dirty="0"/>
              <a:t>Satır etiketi :</a:t>
            </a:r>
            <a:r>
              <a:rPr lang="en-US" b="1" dirty="0"/>
              <a:t> </a:t>
            </a:r>
            <a:r>
              <a:rPr lang="tr-TR" dirty="0"/>
              <a:t>Satır</a:t>
            </a:r>
            <a:r>
              <a:rPr lang="en-US" dirty="0"/>
              <a:t> </a:t>
            </a:r>
            <a:r>
              <a:rPr lang="tr-TR" dirty="0"/>
              <a:t>atlama etiketi </a:t>
            </a:r>
            <a:r>
              <a:rPr lang="tr-TR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tr-TR" sz="2600" i="1" dirty="0" err="1">
                <a:solidFill>
                  <a:srgbClr val="0070C0"/>
                </a:solidFill>
                <a:latin typeface="Consolas" panose="020B0609020204030204" pitchFamily="49" charset="0"/>
              </a:rPr>
              <a:t>br</a:t>
            </a:r>
            <a:r>
              <a:rPr lang="tr-TR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  <a:r>
              <a:rPr lang="en-US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/>
              <a:t>veya</a:t>
            </a:r>
            <a:r>
              <a:rPr lang="en-US" i="1" dirty="0"/>
              <a:t> </a:t>
            </a:r>
            <a:r>
              <a:rPr lang="tr-TR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tr-TR" sz="2600" i="1" dirty="0" err="1">
                <a:solidFill>
                  <a:srgbClr val="0070C0"/>
                </a:solidFill>
                <a:latin typeface="Consolas" panose="020B0609020204030204" pitchFamily="49" charset="0"/>
              </a:rPr>
              <a:t>br</a:t>
            </a:r>
            <a:r>
              <a:rPr lang="tr-TR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/&gt; </a:t>
            </a:r>
            <a:r>
              <a:rPr lang="tr-TR" dirty="0"/>
              <a:t>etiketidir, bu etiketin bitiş etiketi yoktur.</a:t>
            </a:r>
            <a:endParaRPr lang="en-US" dirty="0"/>
          </a:p>
          <a:p>
            <a:r>
              <a:rPr lang="tr-TR" b="1" dirty="0"/>
              <a:t>Yorum etiketi:</a:t>
            </a:r>
            <a:r>
              <a:rPr lang="en-US" b="1" dirty="0"/>
              <a:t> </a:t>
            </a:r>
            <a:r>
              <a:rPr lang="tr-TR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&lt;!-- Bu bir açıklama -- &gt;</a:t>
            </a:r>
            <a:endParaRPr lang="en-US" sz="2600" i="1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tr-TR" b="1" dirty="0"/>
              <a:t>HTML Links – </a:t>
            </a:r>
            <a:r>
              <a:rPr lang="tr-TR" b="1" dirty="0" err="1"/>
              <a:t>Hyperlinks</a:t>
            </a:r>
            <a:r>
              <a:rPr lang="en-US" b="1" dirty="0"/>
              <a:t>: </a:t>
            </a:r>
            <a:r>
              <a:rPr lang="en-US" dirty="0"/>
              <a:t>Html </a:t>
            </a:r>
            <a:r>
              <a:rPr lang="en-US" dirty="0" err="1"/>
              <a:t>sayfalarında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sayfaya</a:t>
            </a:r>
            <a:r>
              <a:rPr lang="en-US" dirty="0"/>
              <a:t>, </a:t>
            </a:r>
            <a:r>
              <a:rPr lang="en-US" dirty="0" err="1"/>
              <a:t>içeriğe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adresine</a:t>
            </a:r>
            <a:r>
              <a:rPr lang="en-US" dirty="0"/>
              <a:t> </a:t>
            </a:r>
            <a:r>
              <a:rPr lang="en-US" dirty="0" err="1"/>
              <a:t>bağlantı</a:t>
            </a:r>
            <a:r>
              <a:rPr lang="en-US" dirty="0"/>
              <a:t> </a:t>
            </a:r>
            <a:r>
              <a:rPr lang="en-US" dirty="0" err="1"/>
              <a:t>oluşturabiliriz</a:t>
            </a:r>
            <a:endParaRPr lang="en-US" dirty="0"/>
          </a:p>
          <a:p>
            <a:pPr lvl="1"/>
            <a:r>
              <a:rPr lang="tr-TR" sz="2800" b="1" i="1" dirty="0" err="1"/>
              <a:t>href</a:t>
            </a:r>
            <a:r>
              <a:rPr lang="tr-TR" sz="2800" b="1" i="1" dirty="0"/>
              <a:t>: </a:t>
            </a:r>
            <a:r>
              <a:rPr lang="tr-TR" sz="2800" i="1" dirty="0"/>
              <a:t>Hangi bağlantıya gideceğini burada belirtiriz.</a:t>
            </a:r>
          </a:p>
          <a:p>
            <a:pPr lvl="1"/>
            <a:r>
              <a:rPr lang="tr-TR" sz="2800" b="1" i="1" dirty="0" err="1"/>
              <a:t>target</a:t>
            </a:r>
            <a:r>
              <a:rPr lang="tr-TR" sz="2800" b="1" i="1" dirty="0"/>
              <a:t>: </a:t>
            </a:r>
            <a:r>
              <a:rPr lang="tr-TR" sz="2800" i="1" dirty="0"/>
              <a:t>Sayfanın nerede açılacağını burada belirtiriz. Örneğin </a:t>
            </a:r>
            <a:r>
              <a:rPr lang="tr-TR" sz="2800" i="1" dirty="0" err="1"/>
              <a:t>target</a:t>
            </a:r>
            <a:r>
              <a:rPr lang="tr-TR" sz="2800" i="1" dirty="0"/>
              <a:t>="_</a:t>
            </a:r>
            <a:r>
              <a:rPr lang="tr-TR" sz="2800" i="1" dirty="0" err="1"/>
              <a:t>blank</a:t>
            </a:r>
            <a:r>
              <a:rPr lang="tr-TR" sz="2800" i="1" dirty="0"/>
              <a:t>" Bağlantıyı yeni bir</a:t>
            </a:r>
            <a:r>
              <a:rPr lang="en-US" sz="2800" i="1" dirty="0"/>
              <a:t> </a:t>
            </a:r>
            <a:r>
              <a:rPr lang="tr-TR" sz="2800" i="1" dirty="0"/>
              <a:t>pencerede açar.</a:t>
            </a:r>
            <a:endParaRPr lang="en-US" sz="2800" i="1" dirty="0"/>
          </a:p>
          <a:p>
            <a:pPr lvl="2"/>
            <a:r>
              <a:rPr lang="pt-BR" sz="2400" dirty="0">
                <a:solidFill>
                  <a:srgbClr val="0070C0"/>
                </a:solidFill>
                <a:latin typeface="Consolas" panose="020B0609020204030204" pitchFamily="49" charset="0"/>
              </a:rPr>
              <a:t>&lt;a href=”images.html” &gt; FOTOĞRAFLAR &lt;/a&gt; </a:t>
            </a:r>
            <a:r>
              <a:rPr lang="tr-TR" i="1" dirty="0"/>
              <a:t>yazıya tıkayınca </a:t>
            </a:r>
            <a:r>
              <a:rPr lang="tr-TR" b="1" i="1" dirty="0"/>
              <a:t>images.html </a:t>
            </a:r>
            <a:r>
              <a:rPr lang="tr-TR" i="1" dirty="0"/>
              <a:t>sayfası açılacak</a:t>
            </a:r>
            <a:r>
              <a:rPr lang="en-US" i="1" dirty="0"/>
              <a:t>: </a:t>
            </a:r>
          </a:p>
          <a:p>
            <a:pPr lvl="2"/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&lt;a 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href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=” https://www.google.com” &gt; Google &lt;/a&gt; </a:t>
            </a:r>
            <a:r>
              <a:rPr lang="en-US" i="1" dirty="0" err="1"/>
              <a:t>yazıya</a:t>
            </a:r>
            <a:r>
              <a:rPr lang="en-US" i="1" dirty="0"/>
              <a:t> </a:t>
            </a:r>
            <a:r>
              <a:rPr lang="en-US" i="1" dirty="0" err="1"/>
              <a:t>tıkayınca</a:t>
            </a:r>
            <a:r>
              <a:rPr lang="en-US" i="1" dirty="0"/>
              <a:t> </a:t>
            </a:r>
            <a:r>
              <a:rPr lang="en-US" i="1" dirty="0" err="1"/>
              <a:t>ilgili</a:t>
            </a:r>
            <a:r>
              <a:rPr lang="en-US" i="1" dirty="0"/>
              <a:t> web </a:t>
            </a:r>
            <a:r>
              <a:rPr lang="en-US" i="1" dirty="0" err="1"/>
              <a:t>adresi</a:t>
            </a:r>
            <a:r>
              <a:rPr lang="en-US" i="1" dirty="0"/>
              <a:t> </a:t>
            </a:r>
            <a:r>
              <a:rPr lang="en-US" i="1" dirty="0" err="1"/>
              <a:t>açılacak</a:t>
            </a:r>
            <a:r>
              <a:rPr lang="en-US" i="1" dirty="0"/>
              <a:t>.</a:t>
            </a:r>
          </a:p>
          <a:p>
            <a:r>
              <a:rPr lang="en-US" b="1" dirty="0" err="1"/>
              <a:t>Resimler</a:t>
            </a:r>
            <a:r>
              <a:rPr lang="en-US" b="1" dirty="0"/>
              <a:t>: 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img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src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=“images/basketball.jpeg” alt=“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basketbol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”&gt;</a:t>
            </a:r>
          </a:p>
          <a:p>
            <a:pPr lvl="1"/>
            <a:endParaRPr lang="tr-TR" b="1" dirty="0"/>
          </a:p>
          <a:p>
            <a:endParaRPr lang="en-US" dirty="0"/>
          </a:p>
          <a:p>
            <a:endParaRPr lang="tr-T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610C34-0A90-A30A-7C7A-2D0904A94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4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57146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65A79-C573-7888-BA9D-F540CDE68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Etiketleri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12648-6A20-987A-DABD-4C3180A2C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4114800" cy="44116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tr-TR" b="1" dirty="0"/>
              <a:t>LİSTELER:</a:t>
            </a:r>
            <a:endParaRPr lang="en-US" b="1" dirty="0"/>
          </a:p>
          <a:p>
            <a:pPr lvl="1"/>
            <a:r>
              <a:rPr lang="tr-TR" b="1" dirty="0"/>
              <a:t>Sırasız Listeler</a:t>
            </a:r>
            <a:r>
              <a:rPr lang="tr-TR" dirty="0"/>
              <a:t>: Sırasız bir liste maddelerden oluşur.</a:t>
            </a:r>
            <a:r>
              <a:rPr lang="en-US" dirty="0"/>
              <a:t> 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&lt;ul&gt; &lt;li&gt;…&lt;/li&gt;&lt;li&gt;…&lt;/li&gt;&lt;/ul&gt;</a:t>
            </a:r>
          </a:p>
          <a:p>
            <a:pPr lvl="1"/>
            <a:r>
              <a:rPr lang="tr-TR" b="1" dirty="0"/>
              <a:t>Sıralı Listeler: </a:t>
            </a:r>
            <a:r>
              <a:rPr lang="tr-TR" dirty="0"/>
              <a:t>Maddeler rakamlar, roma rakamları veya harfler ile listelenir</a:t>
            </a:r>
            <a:r>
              <a:rPr lang="en-US" dirty="0"/>
              <a:t>. 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1900" dirty="0" err="1">
                <a:solidFill>
                  <a:srgbClr val="FF0000"/>
                </a:solidFill>
                <a:latin typeface="Consolas" panose="020B0609020204030204" pitchFamily="49" charset="0"/>
              </a:rPr>
              <a:t>ol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&gt; &lt;li&gt;…&lt;/li&gt;&lt;li&gt;…&lt;/li&gt;&lt;/</a:t>
            </a:r>
            <a:r>
              <a:rPr lang="en-US" sz="1900" dirty="0" err="1">
                <a:solidFill>
                  <a:srgbClr val="FF0000"/>
                </a:solidFill>
                <a:latin typeface="Consolas" panose="020B0609020204030204" pitchFamily="49" charset="0"/>
              </a:rPr>
              <a:t>ol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F2AEC-B687-DDE7-81B8-65E7348C2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916832"/>
            <a:ext cx="2676899" cy="1390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7A074B-E4C2-19E5-83D2-3A91D5250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077" y="2197193"/>
            <a:ext cx="1276528" cy="1076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CCD095-A738-6921-27D6-9FBA4AC12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171" y="3931897"/>
            <a:ext cx="2241755" cy="11089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8B3BF6-CFE4-0C03-9995-20507AE9C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867" y="4122569"/>
            <a:ext cx="1428949" cy="9907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602B7C-B8F6-0B54-266A-52E2A349E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4" y="5445224"/>
            <a:ext cx="1800476" cy="10097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C3E796-488F-07DE-E1FB-82DEDA96F6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817" y="5602948"/>
            <a:ext cx="1476581" cy="981212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C03D954-2D57-D374-2DC3-94932E5E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5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95464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93561-CB4D-4DBE-06C3-4B246A515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AE6B67-4D35-824D-FAFA-9760B297F65A}"/>
              </a:ext>
            </a:extLst>
          </p:cNvPr>
          <p:cNvSpPr txBox="1"/>
          <p:nvPr/>
        </p:nvSpPr>
        <p:spPr>
          <a:xfrm>
            <a:off x="4716016" y="476672"/>
            <a:ext cx="461132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table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 </a:t>
            </a:r>
            <a:r>
              <a:rPr lang="tr-TR" sz="1600" b="0" i="0" u="none" strike="noStrike" baseline="0" dirty="0" err="1">
                <a:solidFill>
                  <a:srgbClr val="CE3131"/>
                </a:solidFill>
                <a:latin typeface="SegoeUI"/>
              </a:rPr>
              <a:t>border</a:t>
            </a:r>
            <a:r>
              <a:rPr lang="tr-TR" sz="1600" b="0" i="0" u="none" strike="noStrike" baseline="0" dirty="0">
                <a:solidFill>
                  <a:srgbClr val="000000"/>
                </a:solidFill>
                <a:latin typeface="SegoeUI"/>
              </a:rPr>
              <a:t>=</a:t>
            </a:r>
            <a:r>
              <a:rPr lang="tr-TR" sz="1600" b="0" i="0" u="none" strike="noStrike" baseline="0" dirty="0">
                <a:solidFill>
                  <a:srgbClr val="0000FF"/>
                </a:solidFill>
                <a:latin typeface="SegoeUI"/>
              </a:rPr>
              <a:t>"2"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thead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&lt;tr&gt;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  <a:r>
              <a:rPr lang="en-US" sz="1600" dirty="0" err="1">
                <a:solidFill>
                  <a:srgbClr val="000000"/>
                </a:solidFill>
                <a:latin typeface="SegoeUI"/>
              </a:rPr>
              <a:t>İsim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SegoeUI"/>
              </a:rPr>
              <a:t>Ödev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SegoeUI"/>
              </a:rPr>
              <a:t>Proje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  <a:endParaRPr lang="en-US" sz="1600" b="0" i="0" u="none" strike="noStrike" baseline="0" dirty="0">
              <a:solidFill>
                <a:srgbClr val="810000"/>
              </a:solidFill>
              <a:latin typeface="SegoeUI"/>
            </a:endParaRPr>
          </a:p>
          <a:p>
            <a:pPr lvl="1"/>
            <a:r>
              <a:rPr lang="tr-TR" sz="160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SegoeUI"/>
              </a:rPr>
              <a:t>Vize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</a:t>
            </a:r>
            <a:endParaRPr lang="en-US" sz="1600" dirty="0">
              <a:solidFill>
                <a:srgbClr val="810000"/>
              </a:solidFill>
              <a:latin typeface="SegoeUI"/>
            </a:endParaRPr>
          </a:p>
          <a:p>
            <a:pPr lvl="1"/>
            <a:r>
              <a:rPr lang="tr-TR" sz="160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SegoeUI"/>
              </a:rPr>
              <a:t>Final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</a:t>
            </a:r>
            <a:endParaRPr lang="tr-TR" sz="1600" b="0" i="0" u="none" strike="noStrike" baseline="0" dirty="0">
              <a:solidFill>
                <a:srgbClr val="810000"/>
              </a:solidFill>
              <a:latin typeface="SegoeUI"/>
            </a:endParaRP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&lt;/tr&gt;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thead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tbody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2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&lt;tr&gt;</a:t>
            </a:r>
          </a:p>
          <a:p>
            <a:pPr lvl="2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SegoeUI"/>
              </a:rPr>
              <a:t>Volkan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2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 </a:t>
            </a:r>
            <a:r>
              <a:rPr lang="en-US" sz="1600" dirty="0">
                <a:solidFill>
                  <a:srgbClr val="000000"/>
                </a:solidFill>
                <a:latin typeface="SegoeUI"/>
              </a:rPr>
              <a:t>5</a:t>
            </a:r>
            <a:r>
              <a:rPr lang="tr-TR" sz="1600" b="0" i="0" u="none" strike="noStrike" baseline="0" dirty="0">
                <a:solidFill>
                  <a:srgbClr val="000000"/>
                </a:solidFill>
                <a:latin typeface="SegoeUI"/>
              </a:rPr>
              <a:t>0 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2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SegoeUI"/>
              </a:rPr>
              <a:t>90</a:t>
            </a:r>
            <a:r>
              <a:rPr lang="tr-TR" sz="1600" b="0" i="0" u="none" strike="noStrike" baseline="0" dirty="0">
                <a:solidFill>
                  <a:srgbClr val="000000"/>
                </a:solidFill>
                <a:latin typeface="SegoeUI"/>
              </a:rPr>
              <a:t> 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  <a:endParaRPr lang="en-US" sz="1600" b="0" i="0" u="none" strike="noStrike" baseline="0" dirty="0">
              <a:solidFill>
                <a:srgbClr val="810000"/>
              </a:solidFill>
              <a:latin typeface="SegoeUI"/>
            </a:endParaRPr>
          </a:p>
          <a:p>
            <a:pPr lvl="2"/>
            <a:r>
              <a:rPr lang="tr-TR" sz="160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 </a:t>
            </a:r>
            <a:r>
              <a:rPr lang="en-US" sz="1600" dirty="0">
                <a:solidFill>
                  <a:srgbClr val="000000"/>
                </a:solidFill>
                <a:latin typeface="SegoeUI"/>
              </a:rPr>
              <a:t>80</a:t>
            </a:r>
            <a:r>
              <a:rPr lang="tr-TR" sz="1600" dirty="0">
                <a:solidFill>
                  <a:srgbClr val="000000"/>
                </a:solidFill>
                <a:latin typeface="SegoeUI"/>
              </a:rPr>
              <a:t> 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</a:t>
            </a:r>
            <a:endParaRPr lang="en-US" sz="1600" b="0" i="0" u="none" strike="noStrike" baseline="0" dirty="0">
              <a:solidFill>
                <a:srgbClr val="810000"/>
              </a:solidFill>
              <a:latin typeface="SegoeUI"/>
            </a:endParaRPr>
          </a:p>
          <a:p>
            <a:pPr lvl="2"/>
            <a:r>
              <a:rPr lang="tr-TR" sz="160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 </a:t>
            </a:r>
            <a:r>
              <a:rPr lang="en-US" sz="1600" dirty="0">
                <a:solidFill>
                  <a:srgbClr val="000000"/>
                </a:solidFill>
                <a:latin typeface="SegoeUI"/>
              </a:rPr>
              <a:t>100</a:t>
            </a:r>
            <a:r>
              <a:rPr lang="tr-TR" sz="1600" dirty="0">
                <a:solidFill>
                  <a:srgbClr val="000000"/>
                </a:solidFill>
                <a:latin typeface="SegoeUI"/>
              </a:rPr>
              <a:t> 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</a:t>
            </a:r>
            <a:endParaRPr lang="tr-TR" sz="1600" b="0" i="0" u="none" strike="noStrike" baseline="0" dirty="0">
              <a:solidFill>
                <a:srgbClr val="810000"/>
              </a:solidFill>
              <a:latin typeface="SegoeUI"/>
            </a:endParaRPr>
          </a:p>
          <a:p>
            <a:pPr lvl="2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&lt;/tr&gt;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tbody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algn="l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table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  <a:endParaRPr lang="tr-TR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ED3AE-D17D-8C59-D0A9-E613D914D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Etiketleri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99FC9-48C6-C6F5-DE5F-0CC3D831B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4114800" cy="441166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tr-TR" b="1" dirty="0"/>
              <a:t>TABLOLAR:</a:t>
            </a:r>
            <a:endParaRPr lang="en-US" b="1" dirty="0"/>
          </a:p>
          <a:p>
            <a:r>
              <a:rPr lang="tr-TR" sz="3200" b="1" i="1" dirty="0"/>
              <a:t>&lt;</a:t>
            </a:r>
            <a:r>
              <a:rPr lang="tr-TR" sz="3200" b="1" i="1" dirty="0" err="1"/>
              <a:t>table</a:t>
            </a:r>
            <a:r>
              <a:rPr lang="tr-TR" sz="3200" b="1" i="1" dirty="0"/>
              <a:t>&gt; </a:t>
            </a:r>
            <a:r>
              <a:rPr lang="tr-TR" sz="3200" i="1" dirty="0"/>
              <a:t>Tablonun başlangıç ve bitiş etiketidir.</a:t>
            </a:r>
          </a:p>
          <a:p>
            <a:r>
              <a:rPr lang="tr-TR" sz="3200" b="1" i="1" dirty="0"/>
              <a:t>&lt;tr&gt; </a:t>
            </a:r>
            <a:r>
              <a:rPr lang="tr-TR" sz="3200" i="1" dirty="0"/>
              <a:t>Tablo satırı ekleme etiketidir.</a:t>
            </a:r>
          </a:p>
          <a:p>
            <a:r>
              <a:rPr lang="tr-TR" sz="3200" b="1" i="1" dirty="0"/>
              <a:t>&lt;</a:t>
            </a:r>
            <a:r>
              <a:rPr lang="tr-TR" sz="3200" b="1" i="1" dirty="0" err="1"/>
              <a:t>td</a:t>
            </a:r>
            <a:r>
              <a:rPr lang="tr-TR" sz="3200" b="1" i="1" dirty="0"/>
              <a:t>&gt; </a:t>
            </a:r>
            <a:r>
              <a:rPr lang="tr-TR" sz="3200" i="1" dirty="0"/>
              <a:t>Tablo veri hücresi ekleme etiketidir. Sütun ekleme olarak da düşünebiliriz.</a:t>
            </a:r>
          </a:p>
          <a:p>
            <a:r>
              <a:rPr lang="tr-TR" sz="3200" b="1" i="1" dirty="0"/>
              <a:t>&lt;</a:t>
            </a:r>
            <a:r>
              <a:rPr lang="tr-TR" sz="3200" b="1" i="1" dirty="0" err="1"/>
              <a:t>th</a:t>
            </a:r>
            <a:r>
              <a:rPr lang="tr-TR" sz="3200" b="1" i="1" dirty="0"/>
              <a:t>&gt; </a:t>
            </a:r>
            <a:r>
              <a:rPr lang="tr-TR" sz="3200" i="1" dirty="0"/>
              <a:t>Tablo başlığı ekleme etiketidir.</a:t>
            </a:r>
          </a:p>
          <a:p>
            <a:r>
              <a:rPr lang="tr-TR" sz="3200" b="1" i="1" dirty="0"/>
              <a:t>&lt;</a:t>
            </a:r>
            <a:r>
              <a:rPr lang="tr-TR" sz="3200" b="1" i="1" dirty="0" err="1"/>
              <a:t>thead</a:t>
            </a:r>
            <a:r>
              <a:rPr lang="tr-TR" sz="3200" b="1" i="1" dirty="0"/>
              <a:t>&gt; </a:t>
            </a:r>
            <a:r>
              <a:rPr lang="tr-TR" sz="3200" i="1" dirty="0"/>
              <a:t>Tablo başlığını belirgin hale getirmek için kullanılır. Görünüşe etkisi yoktur.</a:t>
            </a:r>
          </a:p>
          <a:p>
            <a:r>
              <a:rPr lang="tr-TR" sz="3200" b="1" i="1" dirty="0"/>
              <a:t>&lt;</a:t>
            </a:r>
            <a:r>
              <a:rPr lang="tr-TR" sz="3200" b="1" i="1" dirty="0" err="1"/>
              <a:t>tbody</a:t>
            </a:r>
            <a:r>
              <a:rPr lang="tr-TR" sz="3200" b="1" i="1" dirty="0"/>
              <a:t>&gt; </a:t>
            </a:r>
            <a:r>
              <a:rPr lang="tr-TR" sz="3200" i="1" dirty="0"/>
              <a:t>Tablo gövdesini belirgin hale getirmek için kullanılır. Görünüşe etkisi yoktur.</a:t>
            </a:r>
            <a:endParaRPr lang="tr-T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91F64D-3FE2-4C81-FB7A-AA3D482F5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42" y="5673661"/>
            <a:ext cx="7659169" cy="914528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FF6C37E-71E4-FA51-8923-B65CE5BE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6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533509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991EE-9D92-99B0-1521-F157471C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DB391-A16C-E2A1-7389-7AF448229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Etiketleri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12607-200E-14B7-72FD-09ECD6FB0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4114800" cy="441166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tr-TR" b="1" dirty="0"/>
              <a:t>FORMLAR</a:t>
            </a:r>
            <a:r>
              <a:rPr lang="tr-TR" dirty="0"/>
              <a:t>:</a:t>
            </a:r>
            <a:endParaRPr lang="en-US" dirty="0"/>
          </a:p>
          <a:p>
            <a:r>
              <a:rPr lang="tr-TR" sz="3200" b="1" i="1" dirty="0" err="1"/>
              <a:t>input</a:t>
            </a:r>
            <a:r>
              <a:rPr lang="tr-TR" sz="3200" i="1" dirty="0"/>
              <a:t>: Kullanıcının bilgi girişi yapması gereken yerlerde kullanılır.</a:t>
            </a:r>
          </a:p>
          <a:p>
            <a:r>
              <a:rPr lang="tr-TR" sz="3200" b="1" i="1" dirty="0" err="1"/>
              <a:t>type</a:t>
            </a:r>
            <a:r>
              <a:rPr lang="tr-TR" sz="3200" i="1" dirty="0"/>
              <a:t>: Formun türünü belirler.</a:t>
            </a:r>
          </a:p>
          <a:p>
            <a:r>
              <a:rPr lang="tr-TR" sz="3200" b="1" i="1" dirty="0" err="1"/>
              <a:t>text</a:t>
            </a:r>
            <a:r>
              <a:rPr lang="tr-TR" sz="3200" i="1" dirty="0"/>
              <a:t>: Metin girişi yapılması içindir.</a:t>
            </a:r>
          </a:p>
          <a:p>
            <a:r>
              <a:rPr lang="tr-TR" sz="3200" b="1" i="1" dirty="0"/>
              <a:t>name</a:t>
            </a:r>
            <a:r>
              <a:rPr lang="tr-TR" sz="3200" i="1" dirty="0"/>
              <a:t>: Değişken değerini belirler. Her </a:t>
            </a:r>
            <a:r>
              <a:rPr lang="tr-TR" sz="3200" i="1" dirty="0" err="1"/>
              <a:t>input</a:t>
            </a:r>
            <a:r>
              <a:rPr lang="tr-TR" sz="3200" i="1" dirty="0"/>
              <a:t> değeri için farklı isim vermemiz zorunludur.</a:t>
            </a:r>
          </a:p>
          <a:p>
            <a:r>
              <a:rPr lang="tr-TR" sz="3200" b="1" i="1" dirty="0" err="1"/>
              <a:t>value</a:t>
            </a:r>
            <a:r>
              <a:rPr lang="tr-TR" sz="3200" i="1" dirty="0"/>
              <a:t>: </a:t>
            </a:r>
            <a:r>
              <a:rPr lang="tr-TR" sz="3200" i="1" dirty="0" err="1"/>
              <a:t>input</a:t>
            </a:r>
            <a:r>
              <a:rPr lang="tr-TR" sz="3200" i="1" dirty="0"/>
              <a:t> elemanı içerisine varsayılan olarak yazı yazmamızı sağlar</a:t>
            </a:r>
            <a:endParaRPr lang="en-US" sz="3200" i="1" dirty="0"/>
          </a:p>
          <a:p>
            <a:endParaRPr lang="en-US" sz="3200" i="1" dirty="0"/>
          </a:p>
          <a:p>
            <a:pPr marL="0" indent="0">
              <a:buNone/>
            </a:pPr>
            <a:r>
              <a:rPr lang="tr-TR" b="1" dirty="0"/>
              <a:t>Bazı </a:t>
            </a:r>
            <a:r>
              <a:rPr lang="tr-TR" b="1" dirty="0" err="1"/>
              <a:t>input</a:t>
            </a:r>
            <a:r>
              <a:rPr lang="tr-TR" b="1" dirty="0"/>
              <a:t> ve </a:t>
            </a:r>
            <a:r>
              <a:rPr lang="tr-TR" b="1" dirty="0" err="1"/>
              <a:t>textarea</a:t>
            </a:r>
            <a:r>
              <a:rPr lang="tr-TR" b="1" dirty="0"/>
              <a:t> parametreleri:</a:t>
            </a:r>
          </a:p>
          <a:p>
            <a:r>
              <a:rPr lang="tr-TR" b="1" i="1" dirty="0" err="1"/>
              <a:t>autofocus</a:t>
            </a:r>
            <a:r>
              <a:rPr lang="tr-TR" b="1" i="1" dirty="0"/>
              <a:t>: </a:t>
            </a:r>
            <a:r>
              <a:rPr lang="tr-TR" i="1" dirty="0"/>
              <a:t>İlgili metin alanını seçili hale getirir ve böylece görsel olarak öne çıkmasını sağlar.</a:t>
            </a:r>
          </a:p>
          <a:p>
            <a:r>
              <a:rPr lang="tr-TR" b="1" i="1" dirty="0" err="1"/>
              <a:t>disabled</a:t>
            </a:r>
            <a:r>
              <a:rPr lang="tr-TR" b="1" i="1" dirty="0"/>
              <a:t>: </a:t>
            </a:r>
            <a:r>
              <a:rPr lang="tr-TR" i="1" dirty="0"/>
              <a:t>Veri girişini pasif hale getirir.</a:t>
            </a:r>
          </a:p>
          <a:p>
            <a:r>
              <a:rPr lang="tr-TR" b="1" i="1" dirty="0" err="1"/>
              <a:t>readonly</a:t>
            </a:r>
            <a:r>
              <a:rPr lang="tr-TR" b="1" i="1" dirty="0"/>
              <a:t>: </a:t>
            </a:r>
            <a:r>
              <a:rPr lang="tr-TR" i="1" dirty="0"/>
              <a:t>Sadece okunabilir metin gözükür. Bu alanı fare ile seçemeyiz.</a:t>
            </a:r>
          </a:p>
          <a:p>
            <a:r>
              <a:rPr lang="tr-TR" b="1" i="1" dirty="0" err="1"/>
              <a:t>required</a:t>
            </a:r>
            <a:r>
              <a:rPr lang="tr-TR" b="1" i="1" dirty="0"/>
              <a:t>: </a:t>
            </a:r>
            <a:r>
              <a:rPr lang="tr-TR" i="1" dirty="0"/>
              <a:t>Doldurulması zorunlu alanlarda bu parametreyi kullanırız.</a:t>
            </a:r>
            <a:endParaRPr lang="tr-TR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17ED8F-40C4-9044-991F-FA85BEFE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7</a:t>
            </a:fld>
            <a:endParaRPr lang="tr-T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93788-B148-031E-DA56-482BB1E21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2391355"/>
            <a:ext cx="3791479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29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F1380-0645-0178-D02C-7FBE8A82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025C0-A4E8-BF88-7353-33E55FCEF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Etiketleri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0EE29-2E89-1260-BA20-E3E472677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19263"/>
            <a:ext cx="5626968" cy="5016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100" b="1" i="1" dirty="0" err="1">
                <a:latin typeface="+mj-lt"/>
              </a:rPr>
              <a:t>input</a:t>
            </a:r>
            <a:r>
              <a:rPr lang="tr-TR" sz="1100" b="1" i="1" dirty="0">
                <a:latin typeface="+mj-lt"/>
              </a:rPr>
              <a:t> </a:t>
            </a:r>
            <a:r>
              <a:rPr lang="tr-TR" sz="1100" b="1" i="1" dirty="0" err="1">
                <a:latin typeface="+mj-lt"/>
              </a:rPr>
              <a:t>type</a:t>
            </a:r>
            <a:r>
              <a:rPr lang="tr-TR" sz="1100" b="1" i="1" dirty="0">
                <a:latin typeface="+mj-lt"/>
              </a:rPr>
              <a:t> parametresine ait diğer özellikler</a:t>
            </a:r>
            <a:r>
              <a:rPr lang="tr-TR" sz="1100" i="1" dirty="0">
                <a:latin typeface="+mj-lt"/>
              </a:rPr>
              <a:t>:</a:t>
            </a:r>
          </a:p>
          <a:p>
            <a:pPr marL="360363" indent="-92075"/>
            <a:r>
              <a:rPr lang="tr-TR" sz="1200" b="1" i="1" dirty="0" err="1"/>
              <a:t>password</a:t>
            </a:r>
            <a:r>
              <a:rPr lang="tr-TR" sz="1200" b="1" i="1" dirty="0"/>
              <a:t>: </a:t>
            </a:r>
            <a:r>
              <a:rPr lang="tr-TR" sz="1200" i="1" dirty="0"/>
              <a:t>Şifreli alanlarda bu özelliği kullanırız. Karakterler yıldız şeklinde gözükür.</a:t>
            </a:r>
          </a:p>
          <a:p>
            <a:pPr marL="360363" indent="-92075"/>
            <a:r>
              <a:rPr lang="tr-TR" sz="1200" b="1" i="1" dirty="0"/>
              <a:t>reset: </a:t>
            </a:r>
            <a:r>
              <a:rPr lang="tr-TR" sz="1200" i="1" dirty="0"/>
              <a:t>Formdaki girilmiş tüm verileri temizler.</a:t>
            </a:r>
          </a:p>
          <a:p>
            <a:pPr marL="360363" indent="-92075"/>
            <a:r>
              <a:rPr lang="tr-TR" sz="1200" b="1" i="1" dirty="0"/>
              <a:t>file: </a:t>
            </a:r>
            <a:r>
              <a:rPr lang="tr-TR" sz="1200" i="1" dirty="0"/>
              <a:t>Dosya yükleme butonudur. Bu butona tıklayınca bir pencere açılacak, yüklenecek dosya buradan</a:t>
            </a:r>
          </a:p>
          <a:p>
            <a:pPr marL="360363" indent="-92075"/>
            <a:r>
              <a:rPr lang="tr-TR" sz="1200" i="1" dirty="0"/>
              <a:t>seçilecektir.</a:t>
            </a:r>
          </a:p>
          <a:p>
            <a:pPr marL="360363" indent="-92075"/>
            <a:r>
              <a:rPr lang="tr-TR" sz="1200" b="1" i="1" dirty="0" err="1"/>
              <a:t>hidden</a:t>
            </a:r>
            <a:r>
              <a:rPr lang="tr-TR" sz="1200" b="1" i="1" dirty="0"/>
              <a:t>: </a:t>
            </a:r>
            <a:r>
              <a:rPr lang="tr-TR" sz="1200" i="1" dirty="0"/>
              <a:t>Gizlemek istediğimiz kısımlar için bu özelliği kullanırız.</a:t>
            </a:r>
          </a:p>
          <a:p>
            <a:pPr marL="360363" indent="-92075"/>
            <a:r>
              <a:rPr lang="tr-TR" sz="1200" b="1" i="1" dirty="0" err="1"/>
              <a:t>image</a:t>
            </a:r>
            <a:r>
              <a:rPr lang="tr-TR" sz="1200" b="1" i="1" dirty="0"/>
              <a:t>: </a:t>
            </a:r>
            <a:r>
              <a:rPr lang="tr-TR" sz="1200" i="1" dirty="0"/>
              <a:t>Gönder butonu yerine resim koymak için bu özelliği kullanırız.</a:t>
            </a:r>
          </a:p>
          <a:p>
            <a:pPr marL="360363" indent="-92075"/>
            <a:r>
              <a:rPr lang="tr-TR" sz="1200" b="1" i="1" dirty="0"/>
              <a:t>url: </a:t>
            </a:r>
            <a:r>
              <a:rPr lang="tr-TR" sz="1200" i="1" dirty="0"/>
              <a:t>Web adresi girişi için kullanılırız.</a:t>
            </a:r>
          </a:p>
          <a:p>
            <a:pPr marL="360363" indent="-92075"/>
            <a:r>
              <a:rPr lang="tr-TR" sz="1200" b="1" i="1" dirty="0"/>
              <a:t>tel: </a:t>
            </a:r>
            <a:r>
              <a:rPr lang="tr-TR" sz="1200" i="1" dirty="0"/>
              <a:t>Telefon numarası girişi için kullanılırız.</a:t>
            </a:r>
          </a:p>
          <a:p>
            <a:pPr marL="360363" indent="-92075"/>
            <a:r>
              <a:rPr lang="tr-TR" sz="1200" b="1" i="1" dirty="0" err="1"/>
              <a:t>number</a:t>
            </a:r>
            <a:r>
              <a:rPr lang="tr-TR" sz="1200" b="1" i="1" dirty="0"/>
              <a:t>: </a:t>
            </a:r>
            <a:r>
              <a:rPr lang="tr-TR" sz="1200" i="1" dirty="0"/>
              <a:t>Sayı seçimleri için kullanırız. Aşağı yukarı oklar gözükür.</a:t>
            </a:r>
          </a:p>
          <a:p>
            <a:pPr marL="360363" indent="-92075"/>
            <a:r>
              <a:rPr lang="tr-TR" sz="1200" b="1" i="1" dirty="0" err="1"/>
              <a:t>range</a:t>
            </a:r>
            <a:r>
              <a:rPr lang="tr-TR" sz="1200" b="1" i="1" dirty="0"/>
              <a:t>: </a:t>
            </a:r>
            <a:r>
              <a:rPr lang="tr-TR" sz="1200" i="1" dirty="0"/>
              <a:t>Sürgü ile minimum ve </a:t>
            </a:r>
            <a:r>
              <a:rPr lang="tr-TR" sz="1200" i="1" dirty="0" err="1"/>
              <a:t>maximum</a:t>
            </a:r>
            <a:r>
              <a:rPr lang="tr-TR" sz="1200" i="1" dirty="0"/>
              <a:t> değerler seçmek için kullanırız.</a:t>
            </a:r>
          </a:p>
          <a:p>
            <a:pPr marL="360363" indent="-92075"/>
            <a:r>
              <a:rPr lang="tr-TR" sz="1200" b="1" i="1" dirty="0" err="1"/>
              <a:t>color</a:t>
            </a:r>
            <a:r>
              <a:rPr lang="tr-TR" sz="1200" b="1" i="1" dirty="0"/>
              <a:t>: </a:t>
            </a:r>
            <a:r>
              <a:rPr lang="tr-TR" sz="1200" i="1" dirty="0"/>
              <a:t>Renk paletinden renk seçeriz.</a:t>
            </a:r>
          </a:p>
          <a:p>
            <a:pPr marL="360363" indent="-92075"/>
            <a:r>
              <a:rPr lang="tr-TR" sz="1200" b="1" i="1" dirty="0" err="1"/>
              <a:t>search</a:t>
            </a:r>
            <a:r>
              <a:rPr lang="tr-TR" sz="1200" b="1" i="1" dirty="0"/>
              <a:t>: </a:t>
            </a:r>
            <a:r>
              <a:rPr lang="tr-TR" sz="1200" i="1" dirty="0"/>
              <a:t>Arama motoru için bu metin kutusunu kullanırız.</a:t>
            </a:r>
          </a:p>
          <a:p>
            <a:pPr marL="360363" indent="-92075"/>
            <a:r>
              <a:rPr lang="tr-TR" sz="1200" b="1" i="1" dirty="0" err="1"/>
              <a:t>email</a:t>
            </a:r>
            <a:r>
              <a:rPr lang="tr-TR" sz="1200" b="1" i="1" dirty="0"/>
              <a:t>: </a:t>
            </a:r>
            <a:r>
              <a:rPr lang="tr-TR" sz="1200" i="1" dirty="0"/>
              <a:t>Mail adresi girişi için kullanılırız.</a:t>
            </a:r>
          </a:p>
          <a:p>
            <a:pPr marL="360363" indent="-92075"/>
            <a:r>
              <a:rPr lang="tr-TR" sz="1200" b="1" i="1" dirty="0" err="1"/>
              <a:t>date</a:t>
            </a:r>
            <a:r>
              <a:rPr lang="tr-TR" sz="1200" b="1" i="1" dirty="0"/>
              <a:t>: </a:t>
            </a:r>
            <a:r>
              <a:rPr lang="tr-TR" sz="1200" i="1" dirty="0"/>
              <a:t>Gün, ay ve yıl seçmemizi sağlar.</a:t>
            </a:r>
          </a:p>
          <a:p>
            <a:pPr marL="360363" indent="-92075"/>
            <a:r>
              <a:rPr lang="tr-TR" sz="1200" b="1" i="1" dirty="0" err="1"/>
              <a:t>month</a:t>
            </a:r>
            <a:r>
              <a:rPr lang="tr-TR" sz="1200" b="1" i="1" dirty="0"/>
              <a:t>: </a:t>
            </a:r>
            <a:r>
              <a:rPr lang="tr-TR" sz="1200" i="1" dirty="0"/>
              <a:t>Ay seçmemizi sağlar.</a:t>
            </a:r>
          </a:p>
          <a:p>
            <a:pPr marL="360363" indent="-92075"/>
            <a:r>
              <a:rPr lang="tr-TR" sz="1200" b="1" i="1" dirty="0" err="1"/>
              <a:t>week</a:t>
            </a:r>
            <a:r>
              <a:rPr lang="tr-TR" sz="1200" b="1" i="1" dirty="0"/>
              <a:t>: </a:t>
            </a:r>
            <a:r>
              <a:rPr lang="tr-TR" sz="1200" i="1" dirty="0"/>
              <a:t>Hafta seçmemizi sağlar.</a:t>
            </a:r>
          </a:p>
          <a:p>
            <a:pPr marL="360363" indent="-92075"/>
            <a:r>
              <a:rPr lang="tr-TR" sz="1200" b="1" i="1" dirty="0"/>
              <a:t>time: </a:t>
            </a:r>
            <a:r>
              <a:rPr lang="tr-TR" sz="1200" i="1" dirty="0"/>
              <a:t>Saat ve dakika seçmemizi sağlar.</a:t>
            </a:r>
          </a:p>
          <a:p>
            <a:pPr marL="360363" indent="-92075"/>
            <a:r>
              <a:rPr lang="tr-TR" sz="1200" b="1" i="1" dirty="0" err="1"/>
              <a:t>datetime-local</a:t>
            </a:r>
            <a:r>
              <a:rPr lang="tr-TR" sz="1200" b="1" i="1" dirty="0"/>
              <a:t>: </a:t>
            </a:r>
            <a:r>
              <a:rPr lang="tr-TR" sz="1200" i="1" dirty="0"/>
              <a:t>Tek bir seferde gün, ay, yıl, saat ve dakika seçmemizi sağlar.</a:t>
            </a:r>
          </a:p>
          <a:p>
            <a:pPr marL="360363" indent="-92075"/>
            <a:r>
              <a:rPr lang="tr-TR" sz="1200" b="1" i="1" dirty="0" err="1"/>
              <a:t>button</a:t>
            </a:r>
            <a:r>
              <a:rPr lang="tr-TR" sz="1200" b="1" i="1" dirty="0"/>
              <a:t>: </a:t>
            </a:r>
            <a:r>
              <a:rPr lang="tr-TR" sz="1200" i="1" dirty="0"/>
              <a:t>Buton oluşturmak için bu özelliği kullanırız.</a:t>
            </a:r>
            <a:endParaRPr lang="tr-TR" sz="12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28D0BF8-F582-364F-74A1-8779CBA6C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8</a:t>
            </a:fld>
            <a:endParaRPr lang="tr-T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189EED-0886-F893-95FE-07FF99C13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2492896"/>
            <a:ext cx="3791479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05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75F75-251C-AAE5-071B-F55CFDBBB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0F48C8-7B21-A020-8808-316938292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37" y="685148"/>
            <a:ext cx="2742977" cy="19936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B9C67C-BD17-F88D-7D37-F2579D8F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Etiketleri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93DB5-E6DD-A96A-3AE6-BA80AF9D8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14" y="2822563"/>
            <a:ext cx="7543800" cy="4411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</a:rPr>
              <a:t>&lt;form </a:t>
            </a:r>
            <a:r>
              <a:rPr lang="tr-TR" sz="1600" b="1" dirty="0" err="1">
                <a:latin typeface="Consolas" panose="020B0609020204030204" pitchFamily="49" charset="0"/>
              </a:rPr>
              <a:t>action</a:t>
            </a:r>
            <a:r>
              <a:rPr lang="tr-TR" sz="1600" b="1" dirty="0">
                <a:latin typeface="Consolas" panose="020B0609020204030204" pitchFamily="49" charset="0"/>
              </a:rPr>
              <a:t>="/</a:t>
            </a:r>
            <a:r>
              <a:rPr lang="tr-TR" sz="1600" b="1" dirty="0" err="1">
                <a:latin typeface="Consolas" panose="020B0609020204030204" pitchFamily="49" charset="0"/>
              </a:rPr>
              <a:t>action_page.php</a:t>
            </a:r>
            <a:r>
              <a:rPr lang="tr-TR" sz="1600" b="1" dirty="0">
                <a:latin typeface="Consolas" panose="020B0609020204030204" pitchFamily="49" charset="0"/>
              </a:rPr>
              <a:t>"&gt;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</a:rPr>
              <a:t>  &lt;</a:t>
            </a:r>
            <a:r>
              <a:rPr lang="tr-TR" sz="1600" b="1" dirty="0" err="1">
                <a:latin typeface="Consolas" panose="020B0609020204030204" pitchFamily="49" charset="0"/>
              </a:rPr>
              <a:t>label</a:t>
            </a:r>
            <a:r>
              <a:rPr lang="tr-TR" sz="1600" b="1" dirty="0"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latin typeface="Consolas" panose="020B0609020204030204" pitchFamily="49" charset="0"/>
              </a:rPr>
              <a:t>for</a:t>
            </a:r>
            <a:r>
              <a:rPr lang="tr-TR" sz="1600" b="1" dirty="0">
                <a:latin typeface="Consolas" panose="020B0609020204030204" pitchFamily="49" charset="0"/>
              </a:rPr>
              <a:t>=“</a:t>
            </a:r>
            <a:r>
              <a:rPr lang="en-US" sz="1600" b="1" dirty="0">
                <a:latin typeface="Consolas" panose="020B0609020204030204" pitchFamily="49" charset="0"/>
              </a:rPr>
              <a:t>ad</a:t>
            </a:r>
            <a:r>
              <a:rPr lang="tr-TR" sz="1600" b="1" dirty="0">
                <a:latin typeface="Consolas" panose="020B0609020204030204" pitchFamily="49" charset="0"/>
              </a:rPr>
              <a:t>"&gt;</a:t>
            </a:r>
            <a:r>
              <a:rPr lang="en-US" sz="1600" b="1" dirty="0" err="1">
                <a:latin typeface="Consolas" panose="020B0609020204030204" pitchFamily="49" charset="0"/>
              </a:rPr>
              <a:t>İsim</a:t>
            </a:r>
            <a:r>
              <a:rPr lang="tr-TR" sz="1600" b="1" dirty="0">
                <a:latin typeface="Consolas" panose="020B0609020204030204" pitchFamily="49" charset="0"/>
              </a:rPr>
              <a:t>:&lt;/</a:t>
            </a:r>
            <a:r>
              <a:rPr lang="tr-TR" sz="1600" b="1" dirty="0" err="1">
                <a:latin typeface="Consolas" panose="020B0609020204030204" pitchFamily="49" charset="0"/>
              </a:rPr>
              <a:t>label</a:t>
            </a:r>
            <a:r>
              <a:rPr lang="tr-TR" sz="1600" b="1" dirty="0">
                <a:latin typeface="Consolas" panose="020B0609020204030204" pitchFamily="49" charset="0"/>
              </a:rPr>
              <a:t>&gt;&lt;</a:t>
            </a:r>
            <a:r>
              <a:rPr lang="tr-TR" sz="1600" b="1" dirty="0" err="1">
                <a:latin typeface="Consolas" panose="020B0609020204030204" pitchFamily="49" charset="0"/>
              </a:rPr>
              <a:t>br</a:t>
            </a:r>
            <a:r>
              <a:rPr lang="tr-TR" sz="1600" b="1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</a:rPr>
              <a:t>  &lt;</a:t>
            </a:r>
            <a:r>
              <a:rPr lang="tr-TR" sz="1600" b="1" dirty="0" err="1">
                <a:latin typeface="Consolas" panose="020B0609020204030204" pitchFamily="49" charset="0"/>
              </a:rPr>
              <a:t>input</a:t>
            </a:r>
            <a:r>
              <a:rPr lang="tr-TR" sz="1600" b="1" dirty="0"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latin typeface="Consolas" panose="020B0609020204030204" pitchFamily="49" charset="0"/>
              </a:rPr>
              <a:t>type</a:t>
            </a:r>
            <a:r>
              <a:rPr lang="tr-TR" sz="1600" b="1" dirty="0">
                <a:latin typeface="Consolas" panose="020B0609020204030204" pitchFamily="49" charset="0"/>
              </a:rPr>
              <a:t>="</a:t>
            </a:r>
            <a:r>
              <a:rPr lang="tr-TR" sz="1600" b="1" dirty="0" err="1">
                <a:latin typeface="Consolas" panose="020B0609020204030204" pitchFamily="49" charset="0"/>
              </a:rPr>
              <a:t>text</a:t>
            </a:r>
            <a:r>
              <a:rPr lang="tr-TR" sz="1600" b="1" dirty="0">
                <a:latin typeface="Consolas" panose="020B0609020204030204" pitchFamily="49" charset="0"/>
              </a:rPr>
              <a:t>" id=“</a:t>
            </a:r>
            <a:r>
              <a:rPr lang="en-US" sz="1600" b="1" dirty="0">
                <a:latin typeface="Consolas" panose="020B0609020204030204" pitchFamily="49" charset="0"/>
              </a:rPr>
              <a:t>ad</a:t>
            </a:r>
            <a:r>
              <a:rPr lang="tr-TR" sz="1600" b="1" dirty="0">
                <a:latin typeface="Consolas" panose="020B0609020204030204" pitchFamily="49" charset="0"/>
              </a:rPr>
              <a:t>" name=“</a:t>
            </a:r>
            <a:r>
              <a:rPr lang="en-US" sz="1600" b="1" dirty="0">
                <a:latin typeface="Consolas" panose="020B0609020204030204" pitchFamily="49" charset="0"/>
              </a:rPr>
              <a:t>ad</a:t>
            </a:r>
            <a:r>
              <a:rPr lang="tr-TR" sz="1600" b="1" dirty="0">
                <a:latin typeface="Consolas" panose="020B0609020204030204" pitchFamily="49" charset="0"/>
              </a:rPr>
              <a:t>" </a:t>
            </a:r>
            <a:r>
              <a:rPr lang="tr-TR" sz="1600" b="1" dirty="0" err="1">
                <a:latin typeface="Consolas" panose="020B0609020204030204" pitchFamily="49" charset="0"/>
              </a:rPr>
              <a:t>value</a:t>
            </a:r>
            <a:r>
              <a:rPr lang="tr-TR" sz="1600" b="1" dirty="0">
                <a:latin typeface="Consolas" panose="020B0609020204030204" pitchFamily="49" charset="0"/>
              </a:rPr>
              <a:t>="John"&gt;&lt;</a:t>
            </a:r>
            <a:r>
              <a:rPr lang="tr-TR" sz="1600" b="1" dirty="0" err="1">
                <a:latin typeface="Consolas" panose="020B0609020204030204" pitchFamily="49" charset="0"/>
              </a:rPr>
              <a:t>br</a:t>
            </a:r>
            <a:r>
              <a:rPr lang="tr-TR" sz="1600" b="1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</a:rPr>
              <a:t>  &lt;</a:t>
            </a:r>
            <a:r>
              <a:rPr lang="tr-TR" sz="1600" b="1" dirty="0" err="1">
                <a:latin typeface="Consolas" panose="020B0609020204030204" pitchFamily="49" charset="0"/>
              </a:rPr>
              <a:t>label</a:t>
            </a:r>
            <a:r>
              <a:rPr lang="tr-TR" sz="1600" b="1" dirty="0"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latin typeface="Consolas" panose="020B0609020204030204" pitchFamily="49" charset="0"/>
              </a:rPr>
              <a:t>for</a:t>
            </a:r>
            <a:r>
              <a:rPr lang="tr-TR" sz="1600" b="1" dirty="0">
                <a:latin typeface="Consolas" panose="020B0609020204030204" pitchFamily="49" charset="0"/>
              </a:rPr>
              <a:t>=“</a:t>
            </a:r>
            <a:r>
              <a:rPr lang="en-US" sz="1600" b="1" dirty="0" err="1">
                <a:latin typeface="Consolas" panose="020B0609020204030204" pitchFamily="49" charset="0"/>
              </a:rPr>
              <a:t>soyad</a:t>
            </a:r>
            <a:r>
              <a:rPr lang="tr-TR" sz="1600" b="1" dirty="0">
                <a:latin typeface="Consolas" panose="020B0609020204030204" pitchFamily="49" charset="0"/>
              </a:rPr>
              <a:t>"&gt;</a:t>
            </a:r>
            <a:r>
              <a:rPr lang="tr-TR" sz="1600" b="1" dirty="0" err="1">
                <a:latin typeface="Consolas" panose="020B0609020204030204" pitchFamily="49" charset="0"/>
              </a:rPr>
              <a:t>Last</a:t>
            </a:r>
            <a:r>
              <a:rPr lang="tr-TR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Soyad</a:t>
            </a:r>
            <a:r>
              <a:rPr lang="tr-TR" sz="1600" b="1" dirty="0">
                <a:latin typeface="Consolas" panose="020B0609020204030204" pitchFamily="49" charset="0"/>
              </a:rPr>
              <a:t>:&lt;/</a:t>
            </a:r>
            <a:r>
              <a:rPr lang="tr-TR" sz="1600" b="1" dirty="0" err="1">
                <a:latin typeface="Consolas" panose="020B0609020204030204" pitchFamily="49" charset="0"/>
              </a:rPr>
              <a:t>label</a:t>
            </a:r>
            <a:r>
              <a:rPr lang="tr-TR" sz="1600" b="1" dirty="0">
                <a:latin typeface="Consolas" panose="020B0609020204030204" pitchFamily="49" charset="0"/>
              </a:rPr>
              <a:t>&gt;&lt;</a:t>
            </a:r>
            <a:r>
              <a:rPr lang="tr-TR" sz="1600" b="1" dirty="0" err="1">
                <a:latin typeface="Consolas" panose="020B0609020204030204" pitchFamily="49" charset="0"/>
              </a:rPr>
              <a:t>br</a:t>
            </a:r>
            <a:r>
              <a:rPr lang="tr-TR" sz="1600" b="1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</a:rPr>
              <a:t>  &lt;</a:t>
            </a:r>
            <a:r>
              <a:rPr lang="tr-TR" sz="1600" b="1" dirty="0" err="1">
                <a:latin typeface="Consolas" panose="020B0609020204030204" pitchFamily="49" charset="0"/>
              </a:rPr>
              <a:t>input</a:t>
            </a:r>
            <a:r>
              <a:rPr lang="tr-TR" sz="1600" b="1" dirty="0"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latin typeface="Consolas" panose="020B0609020204030204" pitchFamily="49" charset="0"/>
              </a:rPr>
              <a:t>type</a:t>
            </a:r>
            <a:r>
              <a:rPr lang="tr-TR" sz="1600" b="1" dirty="0">
                <a:latin typeface="Consolas" panose="020B0609020204030204" pitchFamily="49" charset="0"/>
              </a:rPr>
              <a:t>="</a:t>
            </a:r>
            <a:r>
              <a:rPr lang="tr-TR" sz="1600" b="1" dirty="0" err="1">
                <a:latin typeface="Consolas" panose="020B0609020204030204" pitchFamily="49" charset="0"/>
              </a:rPr>
              <a:t>text</a:t>
            </a:r>
            <a:r>
              <a:rPr lang="tr-TR" sz="1600" b="1" dirty="0">
                <a:latin typeface="Consolas" panose="020B0609020204030204" pitchFamily="49" charset="0"/>
              </a:rPr>
              <a:t>" id="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soyad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tr-TR" sz="1600" b="1" dirty="0">
                <a:latin typeface="Consolas" panose="020B0609020204030204" pitchFamily="49" charset="0"/>
              </a:rPr>
              <a:t>" name="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soyad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tr-TR" sz="1600" b="1" dirty="0">
                <a:latin typeface="Consolas" panose="020B0609020204030204" pitchFamily="49" charset="0"/>
              </a:rPr>
              <a:t>" </a:t>
            </a:r>
            <a:r>
              <a:rPr lang="tr-TR" sz="1600" b="1" dirty="0" err="1">
                <a:latin typeface="Consolas" panose="020B0609020204030204" pitchFamily="49" charset="0"/>
              </a:rPr>
              <a:t>value</a:t>
            </a:r>
            <a:r>
              <a:rPr lang="tr-TR" sz="1600" b="1" dirty="0">
                <a:latin typeface="Consolas" panose="020B0609020204030204" pitchFamily="49" charset="0"/>
              </a:rPr>
              <a:t>=“</a:t>
            </a:r>
            <a:r>
              <a:rPr lang="en-US" sz="1600" b="1" dirty="0">
                <a:latin typeface="Consolas" panose="020B0609020204030204" pitchFamily="49" charset="0"/>
              </a:rPr>
              <a:t>Güngör</a:t>
            </a:r>
            <a:r>
              <a:rPr lang="tr-TR" sz="1600" b="1" dirty="0">
                <a:latin typeface="Consolas" panose="020B0609020204030204" pitchFamily="49" charset="0"/>
              </a:rPr>
              <a:t>"&gt;&lt;</a:t>
            </a:r>
            <a:r>
              <a:rPr lang="tr-TR" sz="1600" b="1" dirty="0" err="1">
                <a:latin typeface="Consolas" panose="020B0609020204030204" pitchFamily="49" charset="0"/>
              </a:rPr>
              <a:t>br</a:t>
            </a:r>
            <a:r>
              <a:rPr lang="tr-TR" sz="1600" b="1" dirty="0">
                <a:latin typeface="Consolas" panose="020B0609020204030204" pitchFamily="49" charset="0"/>
              </a:rPr>
              <a:t>&gt;&lt;</a:t>
            </a:r>
            <a:r>
              <a:rPr lang="tr-TR" sz="1600" b="1" dirty="0" err="1">
                <a:latin typeface="Consolas" panose="020B0609020204030204" pitchFamily="49" charset="0"/>
              </a:rPr>
              <a:t>br</a:t>
            </a:r>
            <a:r>
              <a:rPr lang="tr-TR" sz="1600" b="1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</a:rPr>
              <a:t>  &lt;</a:t>
            </a:r>
            <a:r>
              <a:rPr lang="tr-TR" sz="1600" b="1" dirty="0" err="1">
                <a:latin typeface="Consolas" panose="020B0609020204030204" pitchFamily="49" charset="0"/>
              </a:rPr>
              <a:t>input</a:t>
            </a:r>
            <a:r>
              <a:rPr lang="tr-TR" sz="1600" b="1" dirty="0"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latin typeface="Consolas" panose="020B0609020204030204" pitchFamily="49" charset="0"/>
              </a:rPr>
              <a:t>type</a:t>
            </a:r>
            <a:r>
              <a:rPr lang="tr-TR" sz="1600" b="1" dirty="0">
                <a:latin typeface="Consolas" panose="020B0609020204030204" pitchFamily="49" charset="0"/>
              </a:rPr>
              <a:t>="</a:t>
            </a:r>
            <a:r>
              <a:rPr lang="tr-TR" sz="1600" b="1" dirty="0" err="1">
                <a:latin typeface="Consolas" panose="020B0609020204030204" pitchFamily="49" charset="0"/>
              </a:rPr>
              <a:t>submit</a:t>
            </a:r>
            <a:r>
              <a:rPr lang="tr-TR" sz="1600" b="1" dirty="0">
                <a:latin typeface="Consolas" panose="020B0609020204030204" pitchFamily="49" charset="0"/>
              </a:rPr>
              <a:t>" </a:t>
            </a:r>
            <a:r>
              <a:rPr lang="tr-TR" sz="1600" b="1" dirty="0" err="1">
                <a:latin typeface="Consolas" panose="020B0609020204030204" pitchFamily="49" charset="0"/>
              </a:rPr>
              <a:t>value</a:t>
            </a:r>
            <a:r>
              <a:rPr lang="tr-TR" sz="1600" b="1" dirty="0">
                <a:latin typeface="Consolas" panose="020B0609020204030204" pitchFamily="49" charset="0"/>
              </a:rPr>
              <a:t>=“</a:t>
            </a:r>
            <a:r>
              <a:rPr lang="en-US" sz="1600" b="1" dirty="0" err="1">
                <a:latin typeface="Consolas" panose="020B0609020204030204" pitchFamily="49" charset="0"/>
              </a:rPr>
              <a:t>Gönder</a:t>
            </a:r>
            <a:r>
              <a:rPr lang="tr-TR" sz="1600" b="1" dirty="0">
                <a:latin typeface="Consolas" panose="020B0609020204030204" pitchFamily="49" charset="0"/>
              </a:rPr>
              <a:t>"&gt;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</a:rPr>
              <a:t>&lt;/form&gt; </a:t>
            </a:r>
            <a:endParaRPr lang="tr-TR" sz="1600" dirty="0">
              <a:latin typeface="Consolas" panose="020B0609020204030204" pitchFamily="49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A516ED9-63DB-8F17-EAF8-D293C556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9</a:t>
            </a:fld>
            <a:endParaRPr lang="tr-TR" alt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6854072-24F6-0BF1-BFD6-ABED70EB0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004" y="2895547"/>
            <a:ext cx="2304796" cy="2376264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6366D1F-9697-492C-BE8E-46CBCC97C17E}"/>
              </a:ext>
            </a:extLst>
          </p:cNvPr>
          <p:cNvCxnSpPr/>
          <p:nvPr/>
        </p:nvCxnSpPr>
        <p:spPr>
          <a:xfrm>
            <a:off x="4355976" y="4725144"/>
            <a:ext cx="2197224" cy="2160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EF70341-AA5C-9A56-FD9C-5B49305D4636}"/>
              </a:ext>
            </a:extLst>
          </p:cNvPr>
          <p:cNvSpPr txBox="1"/>
          <p:nvPr/>
        </p:nvSpPr>
        <p:spPr>
          <a:xfrm>
            <a:off x="2627784" y="5302643"/>
            <a:ext cx="622677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100" b="1" i="1" u="none" strike="noStrike" baseline="0" dirty="0" err="1">
                <a:solidFill>
                  <a:srgbClr val="0070C0"/>
                </a:solidFill>
                <a:latin typeface="SegoeUI-BoldItalic"/>
              </a:rPr>
              <a:t>action</a:t>
            </a:r>
            <a:r>
              <a:rPr lang="tr-TR" sz="1100" b="1" i="1" u="none" strike="noStrike" baseline="0" dirty="0">
                <a:solidFill>
                  <a:srgbClr val="0070C0"/>
                </a:solidFill>
                <a:latin typeface="SegoeUI-BoldItalic"/>
              </a:rPr>
              <a:t>:</a:t>
            </a:r>
            <a:r>
              <a:rPr lang="tr-TR" sz="1100" b="1" i="1" u="none" strike="noStrike" baseline="0" dirty="0">
                <a:solidFill>
                  <a:srgbClr val="FF0000"/>
                </a:solidFill>
                <a:latin typeface="SegoeUI-BoldItalic"/>
              </a:rPr>
              <a:t> </a:t>
            </a:r>
            <a:r>
              <a:rPr lang="tr-TR" sz="1100" b="0" i="1" u="none" strike="noStrike" baseline="0" dirty="0">
                <a:solidFill>
                  <a:srgbClr val="000000"/>
                </a:solidFill>
                <a:latin typeface="SegoeUI-Italic"/>
              </a:rPr>
              <a:t>Formun gönderileceği adresin yazıldığı parametredir. Eğer yukarıdaki kutuya bir şeyler yazıp</a:t>
            </a:r>
          </a:p>
          <a:p>
            <a:pPr algn="l"/>
            <a:r>
              <a:rPr lang="tr-TR" sz="1100" b="0" i="1" u="none" strike="noStrike" baseline="0" dirty="0">
                <a:solidFill>
                  <a:srgbClr val="000000"/>
                </a:solidFill>
                <a:latin typeface="SegoeUI-Italic"/>
              </a:rPr>
              <a:t>gönder butonuna tıklarsanız, girdiğiniz bilgileri "</a:t>
            </a:r>
            <a:r>
              <a:rPr lang="tr-TR" sz="1100" b="0" i="1" u="none" strike="noStrike" baseline="0" dirty="0" err="1">
                <a:solidFill>
                  <a:srgbClr val="000000"/>
                </a:solidFill>
                <a:latin typeface="SegoeUI-Italic"/>
              </a:rPr>
              <a:t>kullanici.php</a:t>
            </a:r>
            <a:r>
              <a:rPr lang="tr-TR" sz="1100" b="0" i="1" u="none" strike="noStrike" baseline="0" dirty="0">
                <a:solidFill>
                  <a:srgbClr val="000000"/>
                </a:solidFill>
                <a:latin typeface="SegoeUI-Italic"/>
              </a:rPr>
              <a:t>" adlı veri dosyasına göndermiş olursunuz.</a:t>
            </a:r>
          </a:p>
          <a:p>
            <a:pPr algn="l"/>
            <a:r>
              <a:rPr lang="tr-TR" sz="1100" b="1" i="1" dirty="0" err="1">
                <a:solidFill>
                  <a:srgbClr val="0070C0"/>
                </a:solidFill>
                <a:latin typeface="SegoeUI-BoldItalic"/>
              </a:rPr>
              <a:t>method</a:t>
            </a:r>
            <a:r>
              <a:rPr lang="tr-TR" sz="1100" b="1" i="1" dirty="0">
                <a:solidFill>
                  <a:srgbClr val="0070C0"/>
                </a:solidFill>
                <a:latin typeface="SegoeUI-BoldItalic"/>
              </a:rPr>
              <a:t>: </a:t>
            </a:r>
            <a:r>
              <a:rPr lang="tr-TR" sz="1100" b="0" i="1" u="none" strike="noStrike" baseline="0" dirty="0">
                <a:solidFill>
                  <a:srgbClr val="000000"/>
                </a:solidFill>
                <a:latin typeface="SegoeUI-Italic"/>
              </a:rPr>
              <a:t>Formun gönderilme yöntemidir. </a:t>
            </a:r>
            <a:r>
              <a:rPr lang="tr-TR" sz="1100" b="1" i="1" u="none" strike="noStrike" baseline="0" dirty="0">
                <a:solidFill>
                  <a:srgbClr val="000000"/>
                </a:solidFill>
                <a:latin typeface="SegoeUI-BoldItalic"/>
              </a:rPr>
              <a:t>“GET“ </a:t>
            </a:r>
            <a:r>
              <a:rPr lang="tr-TR" sz="1100" b="0" i="1" u="none" strike="noStrike" baseline="0" dirty="0">
                <a:solidFill>
                  <a:srgbClr val="000000"/>
                </a:solidFill>
                <a:latin typeface="SegoeUI-Italic"/>
              </a:rPr>
              <a:t>metodu kullanıldığında istekler adres satırında</a:t>
            </a:r>
          </a:p>
          <a:p>
            <a:pPr algn="l"/>
            <a:r>
              <a:rPr lang="tr-TR" sz="1100" b="0" i="1" u="none" strike="noStrike" baseline="0" dirty="0">
                <a:solidFill>
                  <a:srgbClr val="000000"/>
                </a:solidFill>
                <a:latin typeface="SegoeUI-Italic"/>
              </a:rPr>
              <a:t>görüntülenir. Bir de </a:t>
            </a:r>
            <a:r>
              <a:rPr lang="tr-TR" sz="1100" b="1" i="1" u="none" strike="noStrike" baseline="0" dirty="0">
                <a:solidFill>
                  <a:srgbClr val="000000"/>
                </a:solidFill>
                <a:latin typeface="SegoeUI-BoldItalic"/>
              </a:rPr>
              <a:t>“POST“ </a:t>
            </a:r>
            <a:r>
              <a:rPr lang="tr-TR" sz="1100" b="0" i="1" u="none" strike="noStrike" baseline="0" dirty="0">
                <a:solidFill>
                  <a:srgbClr val="000000"/>
                </a:solidFill>
                <a:latin typeface="SegoeUI-Italic"/>
              </a:rPr>
              <a:t>metodu vardır. Şimdilik bunlara değinmeyeceğiz.</a:t>
            </a:r>
          </a:p>
          <a:p>
            <a:pPr algn="l"/>
            <a:r>
              <a:rPr lang="da-DK" sz="1100" b="1" i="1" dirty="0">
                <a:solidFill>
                  <a:srgbClr val="0070C0"/>
                </a:solidFill>
                <a:latin typeface="SegoeUI-BoldItalic"/>
              </a:rPr>
              <a:t>target="_blank": </a:t>
            </a:r>
            <a:r>
              <a:rPr lang="da-DK" sz="1100" b="0" i="1" u="none" strike="noStrike" baseline="0" dirty="0">
                <a:solidFill>
                  <a:srgbClr val="000000"/>
                </a:solidFill>
                <a:latin typeface="SegoeUI-Italic"/>
              </a:rPr>
              <a:t>Form yeni bir pencerede açılır.</a:t>
            </a:r>
          </a:p>
          <a:p>
            <a:pPr algn="l"/>
            <a:r>
              <a:rPr lang="fr-FR" sz="1100" b="1" i="1" dirty="0">
                <a:solidFill>
                  <a:srgbClr val="0070C0"/>
                </a:solidFill>
                <a:latin typeface="SegoeUI-BoldItalic"/>
              </a:rPr>
              <a:t>value: </a:t>
            </a:r>
            <a:r>
              <a:rPr lang="fr-FR" sz="1100" b="0" i="1" u="none" strike="noStrike" baseline="0" dirty="0" err="1">
                <a:solidFill>
                  <a:srgbClr val="000000"/>
                </a:solidFill>
                <a:latin typeface="SegoeUI-Italic"/>
              </a:rPr>
              <a:t>Butonun</a:t>
            </a:r>
            <a:r>
              <a:rPr lang="fr-FR" sz="1100" b="0" i="1" u="none" strike="noStrike" baseline="0" dirty="0">
                <a:solidFill>
                  <a:srgbClr val="000000"/>
                </a:solidFill>
                <a:latin typeface="SegoeUI-Italic"/>
              </a:rPr>
              <a:t> </a:t>
            </a:r>
            <a:r>
              <a:rPr lang="fr-FR" sz="1100" b="0" i="1" u="none" strike="noStrike" baseline="0" dirty="0" err="1">
                <a:solidFill>
                  <a:srgbClr val="000000"/>
                </a:solidFill>
                <a:latin typeface="SegoeUI-Italic"/>
              </a:rPr>
              <a:t>üstünde</a:t>
            </a:r>
            <a:r>
              <a:rPr lang="fr-FR" sz="1100" b="0" i="1" u="none" strike="noStrike" baseline="0" dirty="0">
                <a:solidFill>
                  <a:srgbClr val="000000"/>
                </a:solidFill>
                <a:latin typeface="SegoeUI-Italic"/>
              </a:rPr>
              <a:t> ne </a:t>
            </a:r>
            <a:r>
              <a:rPr lang="fr-FR" sz="1100" b="0" i="1" u="none" strike="noStrike" baseline="0" dirty="0" err="1">
                <a:solidFill>
                  <a:srgbClr val="000000"/>
                </a:solidFill>
                <a:latin typeface="SegoeUI-Italic"/>
              </a:rPr>
              <a:t>yazacağını</a:t>
            </a:r>
            <a:r>
              <a:rPr lang="fr-FR" sz="1100" b="0" i="1" u="none" strike="noStrike" baseline="0" dirty="0">
                <a:solidFill>
                  <a:srgbClr val="000000"/>
                </a:solidFill>
                <a:latin typeface="SegoeUI-Italic"/>
              </a:rPr>
              <a:t> </a:t>
            </a:r>
            <a:r>
              <a:rPr lang="fr-FR" sz="1100" b="0" i="1" u="none" strike="noStrike" baseline="0" dirty="0" err="1">
                <a:solidFill>
                  <a:srgbClr val="000000"/>
                </a:solidFill>
                <a:latin typeface="SegoeUI-Italic"/>
              </a:rPr>
              <a:t>belirler</a:t>
            </a:r>
            <a:r>
              <a:rPr lang="fr-FR" sz="1100" b="0" i="1" u="none" strike="noStrike" baseline="0" dirty="0">
                <a:solidFill>
                  <a:srgbClr val="000000"/>
                </a:solidFill>
                <a:latin typeface="SegoeUI-Italic"/>
              </a:rPr>
              <a:t>.</a:t>
            </a:r>
            <a:endParaRPr lang="tr-TR" sz="1100" dirty="0"/>
          </a:p>
        </p:txBody>
      </p:sp>
    </p:spTree>
    <p:extLst>
      <p:ext uri="{BB962C8B-B14F-4D97-AF65-F5344CB8AC3E}">
        <p14:creationId xmlns:p14="http://schemas.microsoft.com/office/powerpoint/2010/main" val="286941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727DE-C456-7D0C-9E0A-114376DAE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B27DAD2-78B8-8F86-4620-5D22D0AA4B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sz="3200" dirty="0"/>
              <a:t>HTML </a:t>
            </a:r>
            <a:r>
              <a:rPr lang="tr-TR" altLang="tr-TR" sz="3200" dirty="0" err="1"/>
              <a:t>for</a:t>
            </a:r>
            <a:r>
              <a:rPr lang="tr-TR" altLang="tr-TR" sz="3200" dirty="0"/>
              <a:t> </a:t>
            </a:r>
            <a:r>
              <a:rPr lang="tr-TR" altLang="tr-TR" sz="3200" dirty="0" err="1"/>
              <a:t>action</a:t>
            </a:r>
            <a:r>
              <a:rPr lang="tr-TR" altLang="tr-TR" sz="3200" dirty="0"/>
              <a:t> – </a:t>
            </a:r>
            <a:r>
              <a:rPr lang="tr-TR" altLang="tr-TR" sz="3200" dirty="0" err="1"/>
              <a:t>Javascript</a:t>
            </a:r>
            <a:r>
              <a:rPr lang="tr-TR" altLang="tr-TR" sz="3200" dirty="0"/>
              <a:t> Olaylar (</a:t>
            </a:r>
            <a:r>
              <a:rPr lang="tr-TR" altLang="tr-TR" sz="3200" dirty="0" err="1"/>
              <a:t>Events</a:t>
            </a:r>
            <a:r>
              <a:rPr lang="tr-TR" altLang="tr-TR" sz="3200" dirty="0"/>
              <a:t>) bağlantısı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7F4B7A0-015F-6B46-2CF8-38ED3E0ED8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805362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</a:pPr>
            <a:r>
              <a:rPr lang="tr-TR" altLang="tr-TR" sz="1700"/>
              <a:t>Javascriptde nesnelerini tetikleyenler unsurlardır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tr-TR" sz="1600" b="1"/>
              <a:t>Örnegin; Fare linklerin üzerinde geldiginde, "onMouseOver" özelliği tetiklenmiş olur.</a:t>
            </a:r>
            <a:r>
              <a:rPr lang="tr-TR" altLang="tr-TR" sz="1600"/>
              <a:t> </a:t>
            </a:r>
            <a:r>
              <a:rPr lang="tr-TR" altLang="tr-TR" sz="1600" b="1"/>
              <a:t>Eğer linki tıklarsa, bu sefer "onClick" tetiklenmiş olur. </a:t>
            </a:r>
          </a:p>
          <a:p>
            <a:pPr lvl="2" eaLnBrk="1" hangingPunct="1">
              <a:lnSpc>
                <a:spcPct val="80000"/>
              </a:lnSpc>
            </a:pPr>
            <a:endParaRPr lang="tr-TR" altLang="tr-TR" sz="1600" b="1"/>
          </a:p>
          <a:p>
            <a:pPr lvl="2" eaLnBrk="1" hangingPunct="1">
              <a:lnSpc>
                <a:spcPct val="80000"/>
              </a:lnSpc>
            </a:pPr>
            <a:r>
              <a:rPr lang="tr-TR" altLang="tr-TR" sz="1600"/>
              <a:t>1. onclick Fareyle tıklamayı ifade eder.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tr-TR" sz="1600"/>
              <a:t>2. ondblclick Fareyle çift tıklamayı ifade eder.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tr-TR" sz="1600"/>
              <a:t>3. onmouseover Farenin imleciyle üzerine gelmeyi ifade eder.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tr-TR" sz="1600"/>
              <a:t>4. onmouseout Farenin imlecini üzerinden çekmeyi ifade eder.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tr-TR" sz="1600"/>
              <a:t>5. onmousedown Fare düğmesine basmayı ifade eder.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tr-TR" sz="1600"/>
              <a:t>6. onmouseup Fare düğmesini bırakmayı ifade eder.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tr-TR" sz="1600"/>
              <a:t>7. onload Sayfanın yüklenmesini ifade eder.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tr-TR" sz="1600"/>
              <a:t>8. onunload Sayfanın kapatılmasını ifade eder.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tr-TR" sz="1600"/>
              <a:t>9. onchange Form aracının değişmesini ifade eder.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tr-TR" sz="1600"/>
              <a:t>10. onsubmit Form bilgilerinin gönderilmesini ifade eder.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tr-TR" sz="1600"/>
              <a:t>11. onreset Form bilgilerinin silinmesini ifade eder.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tr-TR" sz="1600"/>
              <a:t>12. onselect Form aracının seçilmesini ifade eder.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tr-TR" sz="1600"/>
              <a:t>13. onblur Form aracının pasif hale geçmesini ifade eder.</a:t>
            </a:r>
          </a:p>
          <a:p>
            <a:pPr lvl="2" eaLnBrk="1" hangingPunct="1">
              <a:lnSpc>
                <a:spcPct val="80000"/>
              </a:lnSpc>
            </a:pPr>
            <a:r>
              <a:rPr lang="tr-TR" altLang="tr-TR" sz="1600"/>
              <a:t>14. onfocus Form aracının aktif hale geçmesini ifade eder. </a:t>
            </a:r>
            <a:endParaRPr lang="tr-TR" altLang="tr-TR" sz="1200" b="1"/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r-TR" altLang="tr-TR" sz="1200"/>
          </a:p>
          <a:p>
            <a:pPr lvl="2" eaLnBrk="1" hangingPunct="1">
              <a:lnSpc>
                <a:spcPct val="80000"/>
              </a:lnSpc>
            </a:pPr>
            <a:endParaRPr lang="tr-TR" altLang="tr-TR" sz="1200"/>
          </a:p>
        </p:txBody>
      </p:sp>
      <p:sp>
        <p:nvSpPr>
          <p:cNvPr id="17412" name="Line 4">
            <a:extLst>
              <a:ext uri="{FF2B5EF4-FFF2-40B4-BE49-F238E27FC236}">
                <a16:creationId xmlns:a16="http://schemas.microsoft.com/office/drawing/2014/main" id="{9F183157-DBC2-9165-AA47-FDEA9A264A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1557338"/>
            <a:ext cx="7775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9C627A-2C07-E704-8ADA-C77610F79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10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8879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B85A2-95DD-D948-1CF0-3AFDBBF6E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48E2647-97B7-73D4-C1D2-285F46E81E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sz="3200" dirty="0"/>
              <a:t>HTML </a:t>
            </a:r>
            <a:r>
              <a:rPr lang="tr-TR" altLang="tr-TR" sz="3200" dirty="0" err="1"/>
              <a:t>for</a:t>
            </a:r>
            <a:r>
              <a:rPr lang="tr-TR" altLang="tr-TR" sz="3200" dirty="0"/>
              <a:t> </a:t>
            </a:r>
            <a:r>
              <a:rPr lang="tr-TR" altLang="tr-TR" sz="3200" dirty="0" err="1"/>
              <a:t>action</a:t>
            </a:r>
            <a:r>
              <a:rPr lang="tr-TR" altLang="tr-TR" sz="3200" dirty="0"/>
              <a:t> – </a:t>
            </a:r>
            <a:r>
              <a:rPr lang="tr-TR" altLang="tr-TR" sz="3200" dirty="0" err="1"/>
              <a:t>Javascript</a:t>
            </a:r>
            <a:r>
              <a:rPr lang="tr-TR" altLang="tr-TR" sz="3200" dirty="0"/>
              <a:t> Olaylar (</a:t>
            </a:r>
            <a:r>
              <a:rPr lang="tr-TR" altLang="tr-TR" sz="3200" dirty="0" err="1"/>
              <a:t>Events</a:t>
            </a:r>
            <a:r>
              <a:rPr lang="tr-TR" altLang="tr-TR" sz="3200" dirty="0"/>
              <a:t>) bağlantısı - Örnek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F712AD9-D94B-CB2D-291E-020FEBA7B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805362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</a:pPr>
            <a:r>
              <a:rPr lang="tr-TR" altLang="tr-TR" sz="2200" b="1" dirty="0" err="1"/>
              <a:t>Onclick</a:t>
            </a:r>
            <a:r>
              <a:rPr lang="tr-TR" altLang="tr-TR" sz="2200" b="1" dirty="0"/>
              <a:t> olayına örnek:</a:t>
            </a:r>
          </a:p>
          <a:p>
            <a:pPr marL="1347788" lvl="2" indent="-65405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r-TR" altLang="tr-TR" sz="2100" dirty="0"/>
              <a:t>    &lt;html&gt;</a:t>
            </a:r>
            <a:br>
              <a:rPr lang="tr-TR" altLang="tr-TR" sz="2100" dirty="0"/>
            </a:br>
            <a:r>
              <a:rPr lang="tr-TR" altLang="tr-TR" sz="2100" dirty="0"/>
              <a:t>&lt;</a:t>
            </a:r>
            <a:r>
              <a:rPr lang="tr-TR" altLang="tr-TR" sz="2100" dirty="0" err="1"/>
              <a:t>head</a:t>
            </a:r>
            <a:r>
              <a:rPr lang="tr-TR" altLang="tr-TR" sz="2100" dirty="0"/>
              <a:t>&gt;</a:t>
            </a:r>
            <a:br>
              <a:rPr lang="tr-TR" altLang="tr-TR" sz="2100" dirty="0"/>
            </a:br>
            <a:r>
              <a:rPr lang="tr-TR" altLang="tr-TR" sz="2100" dirty="0"/>
              <a:t>&lt;</a:t>
            </a:r>
            <a:r>
              <a:rPr lang="tr-TR" altLang="tr-TR" sz="2100" dirty="0" err="1"/>
              <a:t>script</a:t>
            </a:r>
            <a:r>
              <a:rPr lang="tr-TR" altLang="tr-TR" sz="2100" dirty="0"/>
              <a:t> </a:t>
            </a:r>
            <a:r>
              <a:rPr lang="tr-TR" altLang="tr-TR" sz="2100" dirty="0" err="1"/>
              <a:t>language</a:t>
            </a:r>
            <a:r>
              <a:rPr lang="tr-TR" altLang="tr-TR" sz="2100" dirty="0"/>
              <a:t>="</a:t>
            </a:r>
            <a:r>
              <a:rPr lang="tr-TR" altLang="tr-TR" sz="2100" dirty="0" err="1"/>
              <a:t>javascript</a:t>
            </a:r>
            <a:r>
              <a:rPr lang="tr-TR" altLang="tr-TR" sz="2100" dirty="0"/>
              <a:t>"&gt;</a:t>
            </a:r>
            <a:br>
              <a:rPr lang="tr-TR" altLang="tr-TR" sz="2100" dirty="0"/>
            </a:br>
            <a:r>
              <a:rPr lang="tr-TR" altLang="tr-TR" sz="2100" dirty="0"/>
              <a:t>    	</a:t>
            </a:r>
            <a:r>
              <a:rPr lang="tr-TR" altLang="tr-TR" sz="2100" dirty="0" err="1"/>
              <a:t>function</a:t>
            </a:r>
            <a:r>
              <a:rPr lang="tr-TR" altLang="tr-TR" sz="2100" dirty="0"/>
              <a:t> </a:t>
            </a:r>
            <a:r>
              <a:rPr lang="tr-TR" altLang="tr-TR" sz="2100" dirty="0" err="1"/>
              <a:t>tiklandi</a:t>
            </a:r>
            <a:r>
              <a:rPr lang="tr-TR" altLang="tr-TR" sz="2100" dirty="0"/>
              <a:t>() </a:t>
            </a:r>
            <a:br>
              <a:rPr lang="tr-TR" altLang="tr-TR" sz="2100" dirty="0"/>
            </a:br>
            <a:r>
              <a:rPr lang="tr-TR" altLang="tr-TR" sz="2100" dirty="0"/>
              <a:t>    	{</a:t>
            </a:r>
          </a:p>
          <a:p>
            <a:pPr marL="1347788" lvl="2" indent="-65405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r-TR" altLang="tr-TR" sz="2100" dirty="0"/>
              <a:t>           		</a:t>
            </a:r>
            <a:r>
              <a:rPr lang="tr-TR" altLang="tr-TR" sz="2100" dirty="0" err="1"/>
              <a:t>alert</a:t>
            </a:r>
            <a:r>
              <a:rPr lang="tr-TR" altLang="tr-TR" sz="2100" dirty="0"/>
              <a:t> ("</a:t>
            </a:r>
            <a:r>
              <a:rPr lang="tr-TR" altLang="tr-TR" sz="2100" dirty="0" err="1"/>
              <a:t>tikladiniz</a:t>
            </a:r>
            <a:r>
              <a:rPr lang="tr-TR" altLang="tr-TR" sz="2100" dirty="0"/>
              <a:t>");</a:t>
            </a:r>
          </a:p>
          <a:p>
            <a:pPr marL="1347788" lvl="2" indent="-65405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r-TR" altLang="tr-TR" sz="2100" dirty="0"/>
              <a:t>         		}</a:t>
            </a:r>
            <a:br>
              <a:rPr lang="tr-TR" altLang="tr-TR" sz="2100" dirty="0"/>
            </a:br>
            <a:r>
              <a:rPr lang="tr-TR" altLang="tr-TR" sz="2100" dirty="0"/>
              <a:t>&lt;/</a:t>
            </a:r>
            <a:r>
              <a:rPr lang="tr-TR" altLang="tr-TR" sz="2100" dirty="0" err="1"/>
              <a:t>script</a:t>
            </a:r>
            <a:r>
              <a:rPr lang="tr-TR" altLang="tr-TR" sz="2100" dirty="0"/>
              <a:t>&gt;</a:t>
            </a:r>
          </a:p>
          <a:p>
            <a:pPr marL="1347788" lvl="2" indent="-65405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r-TR" altLang="tr-TR" sz="2100" dirty="0"/>
              <a:t>	&lt;/</a:t>
            </a:r>
            <a:r>
              <a:rPr lang="tr-TR" altLang="tr-TR" sz="2100" dirty="0" err="1"/>
              <a:t>head</a:t>
            </a:r>
            <a:r>
              <a:rPr lang="tr-TR" altLang="tr-TR" sz="2100" dirty="0"/>
              <a:t>&gt;</a:t>
            </a:r>
            <a:br>
              <a:rPr lang="tr-TR" altLang="tr-TR" sz="2100" dirty="0"/>
            </a:br>
            <a:r>
              <a:rPr lang="tr-TR" altLang="tr-TR" sz="2100" dirty="0"/>
              <a:t>&lt;body&gt;</a:t>
            </a:r>
            <a:br>
              <a:rPr lang="tr-TR" altLang="tr-TR" sz="2100" dirty="0"/>
            </a:br>
            <a:r>
              <a:rPr lang="tr-TR" altLang="tr-TR" sz="2100" dirty="0"/>
              <a:t>	&lt;form&gt;</a:t>
            </a:r>
            <a:br>
              <a:rPr lang="tr-TR" altLang="tr-TR" sz="2100" dirty="0"/>
            </a:br>
            <a:r>
              <a:rPr lang="tr-TR" altLang="tr-TR" sz="2100" dirty="0"/>
              <a:t>		&lt;</a:t>
            </a:r>
            <a:r>
              <a:rPr lang="tr-TR" altLang="tr-TR" sz="2100" dirty="0" err="1"/>
              <a:t>input</a:t>
            </a:r>
            <a:r>
              <a:rPr lang="tr-TR" altLang="tr-TR" sz="2100" dirty="0"/>
              <a:t> </a:t>
            </a:r>
            <a:r>
              <a:rPr lang="tr-TR" altLang="tr-TR" sz="2100" dirty="0" err="1"/>
              <a:t>type</a:t>
            </a:r>
            <a:r>
              <a:rPr lang="tr-TR" altLang="tr-TR" sz="2100" dirty="0"/>
              <a:t>="</a:t>
            </a:r>
            <a:r>
              <a:rPr lang="tr-TR" altLang="tr-TR" sz="2100" dirty="0" err="1"/>
              <a:t>button</a:t>
            </a:r>
            <a:r>
              <a:rPr lang="tr-TR" altLang="tr-TR" sz="2100" dirty="0"/>
              <a:t>" name="</a:t>
            </a:r>
            <a:r>
              <a:rPr lang="tr-TR" altLang="tr-TR" sz="2100" dirty="0" err="1"/>
              <a:t>tikla</a:t>
            </a:r>
            <a:r>
              <a:rPr lang="tr-TR" altLang="tr-TR" sz="2100" dirty="0"/>
              <a:t>" 			</a:t>
            </a:r>
            <a:r>
              <a:rPr lang="tr-TR" altLang="tr-TR" sz="2100" dirty="0" err="1"/>
              <a:t>value</a:t>
            </a:r>
            <a:r>
              <a:rPr lang="tr-TR" altLang="tr-TR" sz="2100" dirty="0"/>
              <a:t>="</a:t>
            </a:r>
            <a:r>
              <a:rPr lang="tr-TR" altLang="tr-TR" sz="2100" dirty="0" err="1"/>
              <a:t>tikla</a:t>
            </a:r>
            <a:r>
              <a:rPr lang="tr-TR" altLang="tr-TR" sz="2100" dirty="0"/>
              <a:t>" </a:t>
            </a:r>
            <a:r>
              <a:rPr lang="tr-TR" altLang="tr-TR" sz="2100" dirty="0" err="1">
                <a:solidFill>
                  <a:srgbClr val="FF0000"/>
                </a:solidFill>
              </a:rPr>
              <a:t>onClick</a:t>
            </a:r>
            <a:r>
              <a:rPr lang="tr-TR" altLang="tr-TR" sz="2100" dirty="0">
                <a:solidFill>
                  <a:srgbClr val="FF0000"/>
                </a:solidFill>
              </a:rPr>
              <a:t>=</a:t>
            </a:r>
            <a:r>
              <a:rPr lang="tr-TR" altLang="tr-TR" sz="2100" dirty="0" err="1">
                <a:solidFill>
                  <a:srgbClr val="FF0000"/>
                </a:solidFill>
              </a:rPr>
              <a:t>tiklandi</a:t>
            </a:r>
            <a:r>
              <a:rPr lang="tr-TR" altLang="tr-TR" sz="2100" dirty="0">
                <a:solidFill>
                  <a:srgbClr val="FF0000"/>
                </a:solidFill>
              </a:rPr>
              <a:t>()</a:t>
            </a:r>
            <a:r>
              <a:rPr lang="tr-TR" altLang="tr-TR" sz="2100" dirty="0"/>
              <a:t>&gt;</a:t>
            </a:r>
            <a:br>
              <a:rPr lang="tr-TR" altLang="tr-TR" sz="2100" dirty="0"/>
            </a:br>
            <a:r>
              <a:rPr lang="tr-TR" altLang="tr-TR" sz="2100" dirty="0"/>
              <a:t>	&lt;/form&gt;</a:t>
            </a:r>
            <a:br>
              <a:rPr lang="tr-TR" altLang="tr-TR" sz="2100" dirty="0"/>
            </a:br>
            <a:r>
              <a:rPr lang="tr-TR" altLang="tr-TR" sz="2100" dirty="0"/>
              <a:t>&lt;/body&gt;</a:t>
            </a:r>
            <a:br>
              <a:rPr lang="tr-TR" altLang="tr-TR" sz="2100" dirty="0"/>
            </a:br>
            <a:r>
              <a:rPr lang="tr-TR" altLang="tr-TR" sz="2100" dirty="0"/>
              <a:t>&lt;/html&gt; </a:t>
            </a:r>
          </a:p>
        </p:txBody>
      </p:sp>
      <p:sp>
        <p:nvSpPr>
          <p:cNvPr id="18436" name="Line 4">
            <a:extLst>
              <a:ext uri="{FF2B5EF4-FFF2-40B4-BE49-F238E27FC236}">
                <a16:creationId xmlns:a16="http://schemas.microsoft.com/office/drawing/2014/main" id="{AC9CEEDE-D387-625E-C3C8-3D2CAA0A92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1557338"/>
            <a:ext cx="7775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03F39-89B2-C67A-A806-745D45216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11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168758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0BEF-DBD0-9BE1-3818-2889B278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A265BAE-95A4-2843-E022-35528D600C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sz="3200" dirty="0"/>
              <a:t>HTML </a:t>
            </a:r>
            <a:r>
              <a:rPr lang="tr-TR" altLang="tr-TR" sz="3200" dirty="0" err="1"/>
              <a:t>for</a:t>
            </a:r>
            <a:r>
              <a:rPr lang="tr-TR" altLang="tr-TR" sz="3200" dirty="0"/>
              <a:t> </a:t>
            </a:r>
            <a:r>
              <a:rPr lang="tr-TR" altLang="tr-TR" sz="3200" dirty="0" err="1"/>
              <a:t>action</a:t>
            </a:r>
            <a:r>
              <a:rPr lang="tr-TR" altLang="tr-TR" sz="3200" dirty="0"/>
              <a:t> – </a:t>
            </a:r>
            <a:r>
              <a:rPr lang="tr-TR" altLang="tr-TR" sz="3200" dirty="0" err="1"/>
              <a:t>Javascript</a:t>
            </a:r>
            <a:r>
              <a:rPr lang="tr-TR" altLang="tr-TR" sz="3200" dirty="0"/>
              <a:t> Olaylar (</a:t>
            </a:r>
            <a:r>
              <a:rPr lang="tr-TR" altLang="tr-TR" sz="3200" dirty="0" err="1"/>
              <a:t>Events</a:t>
            </a:r>
            <a:r>
              <a:rPr lang="tr-TR" altLang="tr-TR" sz="3200" dirty="0"/>
              <a:t>) bağlantısı - Örnek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C4F595D-524B-0417-CB32-91AFCA845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805362"/>
          </a:xfrm>
        </p:spPr>
        <p:txBody>
          <a:bodyPr/>
          <a:lstStyle/>
          <a:p>
            <a:pPr lvl="1" eaLnBrk="1" hangingPunct="1"/>
            <a:r>
              <a:rPr lang="tr-TR" altLang="tr-TR" sz="2200" b="1" dirty="0"/>
              <a:t>Form elemanı örneği: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tr-TR" altLang="tr-TR" sz="2100" dirty="0"/>
              <a:t>    &lt;</a:t>
            </a:r>
            <a:r>
              <a:rPr lang="tr-TR" altLang="tr-TR" sz="2100" dirty="0" err="1"/>
              <a:t>script</a:t>
            </a:r>
            <a:r>
              <a:rPr lang="tr-TR" altLang="tr-TR" sz="2100" dirty="0"/>
              <a:t> </a:t>
            </a:r>
            <a:r>
              <a:rPr lang="tr-TR" altLang="tr-TR" sz="2100" dirty="0" err="1"/>
              <a:t>language</a:t>
            </a:r>
            <a:r>
              <a:rPr lang="tr-TR" altLang="tr-TR" sz="2100" dirty="0"/>
              <a:t>="</a:t>
            </a:r>
            <a:r>
              <a:rPr lang="tr-TR" altLang="tr-TR" sz="2100" dirty="0" err="1"/>
              <a:t>Javascript</a:t>
            </a:r>
            <a:r>
              <a:rPr lang="tr-TR" altLang="tr-TR" sz="2100" dirty="0"/>
              <a:t>"&gt;</a:t>
            </a:r>
          </a:p>
          <a:p>
            <a:pPr lvl="3" eaLnBrk="1" hangingPunct="1">
              <a:buNone/>
            </a:pPr>
            <a:r>
              <a:rPr lang="tr-TR" altLang="tr-TR" sz="1800" dirty="0"/>
              <a:t>       </a:t>
            </a:r>
            <a:r>
              <a:rPr lang="tr-TR" altLang="tr-TR" sz="1800" dirty="0" err="1"/>
              <a:t>function</a:t>
            </a:r>
            <a:r>
              <a:rPr lang="tr-TR" altLang="tr-TR" sz="1800" dirty="0"/>
              <a:t> </a:t>
            </a:r>
            <a:r>
              <a:rPr lang="tr-TR" altLang="tr-TR" sz="1800" dirty="0" err="1"/>
              <a:t>Goster</a:t>
            </a:r>
            <a:r>
              <a:rPr lang="tr-TR" altLang="tr-TR" sz="1800" dirty="0"/>
              <a:t> (metin) {</a:t>
            </a:r>
          </a:p>
          <a:p>
            <a:pPr lvl="3" eaLnBrk="1" hangingPunct="1">
              <a:buNone/>
            </a:pPr>
            <a:r>
              <a:rPr lang="tr-TR" altLang="tr-TR" sz="1800" dirty="0"/>
              <a:t>       	</a:t>
            </a:r>
            <a:r>
              <a:rPr lang="tr-TR" altLang="tr-TR" sz="1800" dirty="0" err="1"/>
              <a:t>alert</a:t>
            </a:r>
            <a:r>
              <a:rPr lang="tr-TR" altLang="tr-TR" sz="1800" dirty="0"/>
              <a:t>(metin);</a:t>
            </a:r>
          </a:p>
          <a:p>
            <a:pPr lvl="3" eaLnBrk="1" hangingPunct="1">
              <a:buNone/>
            </a:pPr>
            <a:r>
              <a:rPr lang="tr-TR" altLang="tr-TR" sz="1800" dirty="0"/>
              <a:t>        }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tr-TR" altLang="tr-TR" sz="2100" dirty="0"/>
              <a:t> &lt;/</a:t>
            </a:r>
            <a:r>
              <a:rPr lang="tr-TR" altLang="tr-TR" sz="2100" dirty="0" err="1"/>
              <a:t>script</a:t>
            </a:r>
            <a:r>
              <a:rPr lang="tr-TR" altLang="tr-TR" sz="2100" dirty="0"/>
              <a:t>&gt;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tr-TR" altLang="tr-TR" sz="2100" dirty="0"/>
              <a:t> &lt;form name="</a:t>
            </a:r>
            <a:r>
              <a:rPr lang="tr-TR" altLang="tr-TR" sz="2100" dirty="0" err="1"/>
              <a:t>orn</a:t>
            </a:r>
            <a:r>
              <a:rPr lang="tr-TR" altLang="tr-TR" sz="2100" dirty="0"/>
              <a:t>"&gt;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tr-TR" altLang="tr-TR" sz="2100" dirty="0"/>
              <a:t> 	&lt;</a:t>
            </a:r>
            <a:r>
              <a:rPr lang="tr-TR" altLang="tr-TR" sz="2100" dirty="0" err="1"/>
              <a:t>input</a:t>
            </a:r>
            <a:r>
              <a:rPr lang="tr-TR" altLang="tr-TR" sz="2100" dirty="0"/>
              <a:t> </a:t>
            </a:r>
            <a:r>
              <a:rPr lang="tr-TR" altLang="tr-TR" sz="2100" dirty="0" err="1"/>
              <a:t>type</a:t>
            </a:r>
            <a:r>
              <a:rPr lang="tr-TR" altLang="tr-TR" sz="2100" dirty="0"/>
              <a:t>="</a:t>
            </a:r>
            <a:r>
              <a:rPr lang="tr-TR" altLang="tr-TR" sz="2100" dirty="0" err="1"/>
              <a:t>Text</a:t>
            </a:r>
            <a:r>
              <a:rPr lang="tr-TR" altLang="tr-TR" sz="2100" dirty="0"/>
              <a:t>" name="</a:t>
            </a:r>
            <a:r>
              <a:rPr lang="tr-TR" altLang="tr-TR" sz="2100" dirty="0" err="1"/>
              <a:t>text</a:t>
            </a:r>
            <a:r>
              <a:rPr lang="tr-TR" altLang="tr-TR" sz="2100" dirty="0"/>
              <a:t>" </a:t>
            </a:r>
            <a:r>
              <a:rPr lang="tr-TR" altLang="tr-TR" sz="2100" dirty="0" err="1"/>
              <a:t>value</a:t>
            </a:r>
            <a:r>
              <a:rPr lang="tr-TR" altLang="tr-TR" sz="2100" dirty="0"/>
              <a:t>="Buraya gireceğiniz yazı butona basınca </a:t>
            </a:r>
            <a:r>
              <a:rPr lang="tr-TR" altLang="tr-TR" sz="2100" dirty="0" err="1"/>
              <a:t>alert</a:t>
            </a:r>
            <a:r>
              <a:rPr lang="tr-TR" altLang="tr-TR" sz="2100" dirty="0"/>
              <a:t> olarak gelecektir."&gt;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tr-TR" altLang="tr-TR" sz="2100" dirty="0"/>
              <a:t> 	&lt;</a:t>
            </a:r>
            <a:r>
              <a:rPr lang="tr-TR" altLang="tr-TR" sz="2100" dirty="0" err="1"/>
              <a:t>input</a:t>
            </a:r>
            <a:r>
              <a:rPr lang="tr-TR" altLang="tr-TR" sz="2100" dirty="0"/>
              <a:t> </a:t>
            </a:r>
            <a:r>
              <a:rPr lang="tr-TR" altLang="tr-TR" sz="2100" dirty="0" err="1"/>
              <a:t>type</a:t>
            </a:r>
            <a:r>
              <a:rPr lang="tr-TR" altLang="tr-TR" sz="2100" dirty="0"/>
              <a:t>="</a:t>
            </a:r>
            <a:r>
              <a:rPr lang="tr-TR" altLang="tr-TR" sz="2100" dirty="0" err="1"/>
              <a:t>Button</a:t>
            </a:r>
            <a:r>
              <a:rPr lang="tr-TR" altLang="tr-TR" sz="2100" dirty="0"/>
              <a:t>" name="buton" </a:t>
            </a:r>
            <a:r>
              <a:rPr lang="tr-TR" altLang="tr-TR" sz="2100" dirty="0" err="1"/>
              <a:t>value</a:t>
            </a:r>
            <a:r>
              <a:rPr lang="tr-TR" altLang="tr-TR" sz="2100" dirty="0"/>
              <a:t>="Buraya Basın" </a:t>
            </a:r>
            <a:r>
              <a:rPr lang="tr-TR" altLang="tr-TR" sz="2100" dirty="0" err="1"/>
              <a:t>onclick</a:t>
            </a:r>
            <a:r>
              <a:rPr lang="tr-TR" altLang="tr-TR" sz="2100" dirty="0"/>
              <a:t>="</a:t>
            </a:r>
            <a:r>
              <a:rPr lang="tr-TR" altLang="tr-TR" sz="2100" dirty="0" err="1"/>
              <a:t>Goster</a:t>
            </a:r>
            <a:r>
              <a:rPr lang="tr-TR" altLang="tr-TR" sz="2100" dirty="0"/>
              <a:t>(</a:t>
            </a:r>
            <a:r>
              <a:rPr lang="tr-TR" altLang="tr-TR" sz="2100" dirty="0" err="1"/>
              <a:t>orn.text.value</a:t>
            </a:r>
            <a:r>
              <a:rPr lang="tr-TR" altLang="tr-TR" sz="2100" dirty="0"/>
              <a:t>)"&gt;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tr-TR" altLang="tr-TR" sz="2100" dirty="0"/>
              <a:t> &lt;/form&gt; </a:t>
            </a:r>
          </a:p>
        </p:txBody>
      </p:sp>
      <p:sp>
        <p:nvSpPr>
          <p:cNvPr id="19460" name="Line 4">
            <a:extLst>
              <a:ext uri="{FF2B5EF4-FFF2-40B4-BE49-F238E27FC236}">
                <a16:creationId xmlns:a16="http://schemas.microsoft.com/office/drawing/2014/main" id="{481C3C65-7E9F-F179-1C19-5D52D71987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1557338"/>
            <a:ext cx="7775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F93628-8E1C-0DD9-72EE-83BEA1678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12</a:t>
            </a:fld>
            <a:endParaRPr lang="tr-T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96833-B9D2-5A30-2831-AD64A6A329E2}"/>
              </a:ext>
            </a:extLst>
          </p:cNvPr>
          <p:cNvSpPr txBox="1"/>
          <p:nvPr/>
        </p:nvSpPr>
        <p:spPr>
          <a:xfrm>
            <a:off x="3347864" y="6145530"/>
            <a:ext cx="518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tr-TR" dirty="0"/>
              <a:t>html-css-</a:t>
            </a:r>
            <a:r>
              <a:rPr lang="tr-TR" dirty="0" err="1"/>
              <a:t>slide</a:t>
            </a:r>
            <a:r>
              <a:rPr lang="tr-TR" dirty="0"/>
              <a:t>-</a:t>
            </a:r>
            <a:r>
              <a:rPr lang="tr-TR" dirty="0" err="1"/>
              <a:t>codes</a:t>
            </a:r>
            <a:r>
              <a:rPr lang="en-US" dirty="0"/>
              <a:t> &gt;&gt; form-with-JS.html</a:t>
            </a:r>
          </a:p>
        </p:txBody>
      </p:sp>
    </p:spTree>
    <p:extLst>
      <p:ext uri="{BB962C8B-B14F-4D97-AF65-F5344CB8AC3E}">
        <p14:creationId xmlns:p14="http://schemas.microsoft.com/office/powerpoint/2010/main" val="2091154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A1E4-DA21-0C33-34E5-0ED29B278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E25A-28D4-6F9C-39FF-9C54E56B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Etiketleri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4B241-CDDD-4C17-6180-EC3F457FE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291264" cy="4411662"/>
          </a:xfrm>
        </p:spPr>
        <p:txBody>
          <a:bodyPr>
            <a:normAutofit fontScale="85000" lnSpcReduction="20000"/>
          </a:bodyPr>
          <a:lstStyle/>
          <a:p>
            <a:r>
              <a:rPr lang="tr-TR" b="1" dirty="0"/>
              <a:t>VİDEO EKLEME:</a:t>
            </a:r>
            <a:endParaRPr lang="en-US" b="1" dirty="0"/>
          </a:p>
          <a:p>
            <a:pPr marL="344487" lvl="1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&lt;video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src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="dosya.mp4" type="audio/mp4" width="320px" height="240px" poster=”foto.jpg” loop autoplay muted controls&gt; &lt;/video&gt;</a:t>
            </a:r>
          </a:p>
          <a:p>
            <a:r>
              <a:rPr lang="tr-TR" b="1" dirty="0"/>
              <a:t>SES EKLEME:</a:t>
            </a:r>
            <a:endParaRPr lang="en-US" sz="23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4487" lvl="1" indent="0">
              <a:buNone/>
            </a:pP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audio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src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="bethoven.mp3" 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type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="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audio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/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mpeg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" 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loop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autoplay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muted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controls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&gt; &lt;/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audio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b="1" dirty="0"/>
              <a:t>IFRAME</a:t>
            </a:r>
            <a:r>
              <a:rPr lang="tr-TR" b="1" dirty="0"/>
              <a:t>:</a:t>
            </a:r>
            <a:r>
              <a:rPr lang="en-US" b="1" dirty="0"/>
              <a:t> </a:t>
            </a:r>
            <a:r>
              <a:rPr lang="tr-TR" sz="1800" dirty="0"/>
              <a:t>(</a:t>
            </a:r>
            <a:r>
              <a:rPr lang="tr-TR" sz="1800" dirty="0" err="1"/>
              <a:t>Inline</a:t>
            </a:r>
            <a:r>
              <a:rPr lang="tr-TR" sz="1800" dirty="0"/>
              <a:t> </a:t>
            </a:r>
            <a:r>
              <a:rPr lang="tr-TR" sz="1800" dirty="0" err="1"/>
              <a:t>Frame</a:t>
            </a:r>
            <a:r>
              <a:rPr lang="tr-TR" sz="1800" dirty="0"/>
              <a:t>), bir HTML sayfasının içerisine başka bir web sayfasını veya dokümanı gömmek (yerleştirmek) için kullanılan bir etikettir</a:t>
            </a:r>
            <a:endParaRPr lang="en-US" sz="1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4487" lvl="1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iframe</a:t>
            </a:r>
            <a:endParaRPr lang="en-US" sz="1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344487" lvl="1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  width="320"</a:t>
            </a:r>
          </a:p>
          <a:p>
            <a:pPr marL="344487" lvl="1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  height="240"</a:t>
            </a:r>
          </a:p>
          <a:p>
            <a:pPr marL="344487" lvl="1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src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="https://www.youtube.com/embed/y8OtzJtp-EM"</a:t>
            </a:r>
          </a:p>
          <a:p>
            <a:pPr marL="344487" lvl="1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  title="YouTube video player"</a:t>
            </a:r>
          </a:p>
          <a:p>
            <a:pPr marL="344487" lvl="1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  frameborder="0"</a:t>
            </a:r>
          </a:p>
          <a:p>
            <a:pPr marL="344487" lvl="1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allowfullscreen</a:t>
            </a:r>
            <a:endParaRPr lang="en-US" sz="1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344487" lvl="1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&gt;</a:t>
            </a:r>
          </a:p>
          <a:p>
            <a:pPr marL="344487" lvl="1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iframe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</a:p>
          <a:p>
            <a:pPr marL="344487" lvl="1" indent="0">
              <a:buNone/>
            </a:pPr>
            <a:endParaRPr lang="en-US" sz="18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E305C43-3870-A41A-782E-6D20407A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13</a:t>
            </a:fld>
            <a:endParaRPr lang="tr-T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976BB-5E91-C483-0F87-156F2C706D3A}"/>
              </a:ext>
            </a:extLst>
          </p:cNvPr>
          <p:cNvSpPr txBox="1"/>
          <p:nvPr/>
        </p:nvSpPr>
        <p:spPr>
          <a:xfrm>
            <a:off x="3707904" y="6145530"/>
            <a:ext cx="4824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tr-TR" dirty="0"/>
              <a:t>html-css-</a:t>
            </a:r>
            <a:r>
              <a:rPr lang="tr-TR" dirty="0" err="1"/>
              <a:t>slide</a:t>
            </a:r>
            <a:r>
              <a:rPr lang="tr-TR" dirty="0"/>
              <a:t>-</a:t>
            </a:r>
            <a:r>
              <a:rPr lang="tr-TR" dirty="0" err="1"/>
              <a:t>codes</a:t>
            </a:r>
            <a:r>
              <a:rPr lang="en-US" dirty="0"/>
              <a:t> &gt;&gt; multimedia.html</a:t>
            </a:r>
          </a:p>
        </p:txBody>
      </p:sp>
    </p:spTree>
    <p:extLst>
      <p:ext uri="{BB962C8B-B14F-4D97-AF65-F5344CB8AC3E}">
        <p14:creationId xmlns:p14="http://schemas.microsoft.com/office/powerpoint/2010/main" val="1136833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D8979-8B5E-5CBD-015E-473DD3B6C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5889-F76E-F22D-1D8C-E323DEC5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– Cascade Style Sheet </a:t>
            </a:r>
            <a:r>
              <a:rPr lang="en-US" b="0" dirty="0"/>
              <a:t>(</a:t>
            </a:r>
            <a:r>
              <a:rPr lang="tr-TR" b="0" dirty="0"/>
              <a:t>Basamaklı Stil Sayfaları</a:t>
            </a:r>
            <a:r>
              <a:rPr lang="en-US" b="0" dirty="0"/>
              <a:t>)</a:t>
            </a:r>
            <a:endParaRPr lang="tr-TR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8E7EA-69DD-22A0-C1EE-7A9FE8A9F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CSS, HTML öğelerinin ekranda, kağıt üzerinde veya diğer ortamlarda nasıl görüntüleneceğini tanımlar.</a:t>
            </a:r>
            <a:endParaRPr lang="en-US" dirty="0"/>
          </a:p>
          <a:p>
            <a:r>
              <a:rPr lang="en-US" dirty="0"/>
              <a:t>W</a:t>
            </a:r>
            <a:r>
              <a:rPr lang="tr-TR" dirty="0" err="1"/>
              <a:t>eb</a:t>
            </a:r>
            <a:r>
              <a:rPr lang="tr-TR" dirty="0"/>
              <a:t> sayfasının düzenini kontrol edebilir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EEF60-5D9A-3B24-94FE-53C3788F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14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519337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3131A-56B7-76A1-5B54-81DA7075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– Cascade Style Sheet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A58E1-C0F6-EA7B-0C9F-94A5E346C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b="1" dirty="0" err="1"/>
              <a:t>Cascading</a:t>
            </a:r>
            <a:r>
              <a:rPr lang="tr-TR" dirty="0"/>
              <a:t> </a:t>
            </a:r>
            <a:r>
              <a:rPr lang="tr-TR" b="1" dirty="0"/>
              <a:t>(Basamaklı): </a:t>
            </a:r>
            <a:endParaRPr lang="en-US" b="1" dirty="0"/>
          </a:p>
          <a:p>
            <a:pPr lvl="1"/>
            <a:r>
              <a:rPr lang="tr-TR" dirty="0"/>
              <a:t>Bu terim, stillerin belirli bir öncelik sırasına göre uygulanması anlamına gelir. </a:t>
            </a:r>
            <a:endParaRPr lang="en-US" dirty="0"/>
          </a:p>
          <a:p>
            <a:pPr lvl="1"/>
            <a:r>
              <a:rPr lang="tr-TR" dirty="0"/>
              <a:t>Eğer bir öğe için birden fazla stil tanımlanmışsa, tarayıcı en spesifik olanı veya en son tanımlananı seçer.</a:t>
            </a:r>
            <a:endParaRPr lang="en-US" dirty="0"/>
          </a:p>
          <a:p>
            <a:r>
              <a:rPr lang="tr-TR" b="1" dirty="0"/>
              <a:t>Stil ve İçerik Ayrımı: </a:t>
            </a:r>
            <a:endParaRPr lang="en-US" b="1" dirty="0"/>
          </a:p>
          <a:p>
            <a:pPr lvl="1"/>
            <a:r>
              <a:rPr lang="tr-TR" dirty="0"/>
              <a:t>HTML sadece yapıyı (başlık, paragraf, liste) belirlerken, </a:t>
            </a:r>
            <a:endParaRPr lang="en-US" dirty="0"/>
          </a:p>
          <a:p>
            <a:pPr lvl="1"/>
            <a:r>
              <a:rPr lang="tr-TR" dirty="0"/>
              <a:t>CSS bu yapının nasıl görüneceğini (renk, yazı tipi, konumlandırma) belirler. </a:t>
            </a:r>
            <a:endParaRPr lang="en-US" dirty="0"/>
          </a:p>
          <a:p>
            <a:pPr lvl="1"/>
            <a:r>
              <a:rPr lang="tr-TR" dirty="0"/>
              <a:t>Bu ayrım, kodun okunabilirliğini artırır.</a:t>
            </a:r>
            <a:endParaRPr lang="en-US" dirty="0"/>
          </a:p>
          <a:p>
            <a:r>
              <a:rPr lang="tr-TR" b="1" dirty="0"/>
              <a:t>Verimlilik: </a:t>
            </a:r>
            <a:r>
              <a:rPr lang="tr-TR" dirty="0"/>
              <a:t>Tek bir </a:t>
            </a:r>
            <a:r>
              <a:rPr lang="en-US" dirty="0"/>
              <a:t>“styles</a:t>
            </a:r>
            <a:r>
              <a:rPr lang="tr-TR" dirty="0"/>
              <a:t>.css</a:t>
            </a:r>
            <a:r>
              <a:rPr lang="en-US" dirty="0"/>
              <a:t>”</a:t>
            </a:r>
            <a:r>
              <a:rPr lang="tr-TR" dirty="0"/>
              <a:t> dosyasında yaptığın bir renk değişikliği, o dosyaya bağlı olan yüzlerce sayfanın görünümünü anında günceller.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C7939-B27E-A0E7-7938-8F99D2722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15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004901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13363-A37F-CC7A-CCB1-0A0712DB4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F7B9-999A-7905-265B-C3731E066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Uygulanır</a:t>
            </a:r>
            <a:r>
              <a:rPr lang="en-US" dirty="0"/>
              <a:t>?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5381E-3C6A-E186-8C16-AC1492EA0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1600" dirty="0" err="1"/>
              <a:t>CSS'i</a:t>
            </a:r>
            <a:r>
              <a:rPr lang="tr-TR" sz="1600" dirty="0"/>
              <a:t> </a:t>
            </a:r>
            <a:r>
              <a:rPr lang="tr-TR" sz="1600" dirty="0" err="1"/>
              <a:t>HTML'e</a:t>
            </a:r>
            <a:r>
              <a:rPr lang="tr-TR" sz="1600" dirty="0"/>
              <a:t> bağlamanın üç yolu vardır</a:t>
            </a:r>
            <a:r>
              <a:rPr lang="en-US" sz="1600" dirty="0"/>
              <a:t>.</a:t>
            </a:r>
          </a:p>
          <a:p>
            <a:endParaRPr lang="tr-TR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9427B-C0E8-4B66-1E62-9A9F099A3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16</a:t>
            </a:fld>
            <a:endParaRPr lang="tr-TR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2DEF41-3385-50C3-BD08-E2942CF99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739797"/>
              </p:ext>
            </p:extLst>
          </p:nvPr>
        </p:nvGraphicFramePr>
        <p:xfrm>
          <a:off x="457200" y="2199004"/>
          <a:ext cx="8229600" cy="39319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330290835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97115659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33275776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57297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dirty="0"/>
                        <a:t>Yöntem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dirty="0"/>
                        <a:t>Kullanım Amacı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dirty="0"/>
                        <a:t>Örnek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Öncelik</a:t>
                      </a:r>
                      <a:endParaRPr lang="tr-TR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799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dirty="0" err="1"/>
                        <a:t>External</a:t>
                      </a:r>
                      <a:r>
                        <a:rPr lang="tr-TR" b="1" dirty="0"/>
                        <a:t> (Harici)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Tüm siteyi tek merkezden yönetmek için.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>
                          <a:latin typeface="Consolas" panose="020B0609020204030204" pitchFamily="49" charset="0"/>
                        </a:rPr>
                        <a:t>&lt;link </a:t>
                      </a:r>
                      <a:r>
                        <a:rPr lang="tr-TR" dirty="0" err="1">
                          <a:latin typeface="Consolas" panose="020B0609020204030204" pitchFamily="49" charset="0"/>
                        </a:rPr>
                        <a:t>rel</a:t>
                      </a:r>
                      <a:r>
                        <a:rPr lang="tr-TR" dirty="0">
                          <a:latin typeface="Consolas" panose="020B0609020204030204" pitchFamily="49" charset="0"/>
                        </a:rPr>
                        <a:t>="</a:t>
                      </a:r>
                      <a:r>
                        <a:rPr lang="tr-TR" dirty="0" err="1">
                          <a:latin typeface="Consolas" panose="020B0609020204030204" pitchFamily="49" charset="0"/>
                        </a:rPr>
                        <a:t>stylesheet</a:t>
                      </a:r>
                      <a:r>
                        <a:rPr lang="tr-TR" dirty="0">
                          <a:latin typeface="Consolas" panose="020B0609020204030204" pitchFamily="49" charset="0"/>
                        </a:rPr>
                        <a:t>" </a:t>
                      </a:r>
                      <a:r>
                        <a:rPr lang="tr-TR" dirty="0" err="1">
                          <a:latin typeface="Consolas" panose="020B0609020204030204" pitchFamily="49" charset="0"/>
                        </a:rPr>
                        <a:t>href</a:t>
                      </a:r>
                      <a:r>
                        <a:rPr lang="tr-TR" dirty="0">
                          <a:latin typeface="Consolas" panose="020B0609020204030204" pitchFamily="49" charset="0"/>
                        </a:rPr>
                        <a:t>="style.css"&gt;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En Düşük Öncelik</a:t>
                      </a:r>
                      <a:endParaRPr lang="tr-TR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963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dirty="0" err="1"/>
                        <a:t>Internal</a:t>
                      </a:r>
                      <a:r>
                        <a:rPr lang="tr-TR" b="1" dirty="0"/>
                        <a:t> (Dahili)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dirty="0"/>
                        <a:t>Sadece tek bir sayfaya özel stiller için.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&lt;style&gt; body { color: red; } &lt;/style&gt;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Orta Öncelik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63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dirty="0" err="1"/>
                        <a:t>Inline</a:t>
                      </a:r>
                      <a:r>
                        <a:rPr lang="tr-TR" b="1" dirty="0"/>
                        <a:t> (Satır İçi)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Tek bir HTML etiketine hızlıca müdahale etmek için.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tr-TR" sz="18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&lt;h1 </a:t>
                      </a:r>
                      <a:r>
                        <a:rPr lang="tr-TR" sz="180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style</a:t>
                      </a:r>
                      <a:r>
                        <a:rPr lang="tr-TR" sz="18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="</a:t>
                      </a:r>
                      <a:r>
                        <a:rPr lang="tr-TR" sz="180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color</a:t>
                      </a:r>
                      <a:r>
                        <a:rPr lang="tr-TR" sz="18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: </a:t>
                      </a:r>
                      <a:r>
                        <a:rPr lang="tr-TR" sz="180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blue</a:t>
                      </a:r>
                      <a:r>
                        <a:rPr lang="tr-TR" sz="18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;"&gt;Merhaba&lt;/h1&gt;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tr-TR" dirty="0"/>
                        <a:t>Yüksek Öncelik</a:t>
                      </a:r>
                      <a:endParaRPr lang="tr-TR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468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070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6FB7B-5760-E407-46CA-10FC8B60B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B4E5-79DC-17FA-DDFB-0E3284D4D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Uygulanır</a:t>
            </a:r>
            <a:r>
              <a:rPr lang="en-US" dirty="0"/>
              <a:t>?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A635-47E3-BAD8-AF1F-D8BA2421B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1600" dirty="0" err="1"/>
              <a:t>CSS'i</a:t>
            </a:r>
            <a:r>
              <a:rPr lang="tr-TR" sz="1600" dirty="0"/>
              <a:t> </a:t>
            </a:r>
            <a:r>
              <a:rPr lang="tr-TR" sz="1600" dirty="0" err="1"/>
              <a:t>HTML'e</a:t>
            </a:r>
            <a:r>
              <a:rPr lang="tr-TR" sz="1600" dirty="0"/>
              <a:t> bağlamanın </a:t>
            </a:r>
            <a:r>
              <a:rPr lang="en-US" sz="1600" dirty="0"/>
              <a:t>4.</a:t>
            </a:r>
            <a:r>
              <a:rPr lang="tr-TR" sz="1600" dirty="0"/>
              <a:t> yolu vardır</a:t>
            </a:r>
            <a:r>
              <a:rPr lang="en-US" sz="1600" dirty="0"/>
              <a:t>. Google </a:t>
            </a:r>
            <a:r>
              <a:rPr lang="en-US" sz="1600" dirty="0" err="1"/>
              <a:t>sağolsun</a:t>
            </a:r>
            <a:r>
              <a:rPr lang="en-US" sz="1600" dirty="0"/>
              <a:t> </a:t>
            </a:r>
            <a:r>
              <a:rPr lang="en-US" sz="1600" dirty="0">
                <a:sym typeface="Wingdings" panose="05000000000000000000" pitchFamily="2" charset="2"/>
              </a:rPr>
              <a:t></a:t>
            </a:r>
            <a:endParaRPr lang="en-US" sz="1600" dirty="0"/>
          </a:p>
          <a:p>
            <a:endParaRPr lang="tr-TR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AB324-3A7F-E015-9ACC-75F3BC230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17</a:t>
            </a:fld>
            <a:endParaRPr lang="tr-T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BD09C2-F206-9D4E-A8CE-0C4E5926ED40}"/>
              </a:ext>
            </a:extLst>
          </p:cNvPr>
          <p:cNvSpPr txBox="1"/>
          <p:nvPr/>
        </p:nvSpPr>
        <p:spPr>
          <a:xfrm>
            <a:off x="755576" y="2204864"/>
            <a:ext cx="70567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b="1" dirty="0">
                <a:solidFill>
                  <a:srgbClr val="FF0000"/>
                </a:solidFill>
                <a:latin typeface="+mn-lt"/>
              </a:rPr>
              <a:t>!</a:t>
            </a:r>
            <a:r>
              <a:rPr lang="tr-TR" b="1" dirty="0" err="1">
                <a:solidFill>
                  <a:srgbClr val="FF0000"/>
                </a:solidFill>
                <a:latin typeface="+mn-lt"/>
              </a:rPr>
              <a:t>important</a:t>
            </a:r>
            <a:r>
              <a:rPr lang="tr-TR" b="1" dirty="0">
                <a:solidFill>
                  <a:srgbClr val="FF0000"/>
                </a:solidFill>
                <a:latin typeface="+mn-lt"/>
              </a:rPr>
              <a:t> Kuralı </a:t>
            </a:r>
            <a:r>
              <a:rPr lang="tr-TR" b="1" dirty="0">
                <a:latin typeface="+mn-lt"/>
              </a:rPr>
              <a:t>- </a:t>
            </a:r>
            <a:r>
              <a:rPr lang="tr-TR" i="1" dirty="0">
                <a:latin typeface="+mn-lt"/>
              </a:rPr>
              <a:t>Mutlak Üstünlük</a:t>
            </a:r>
            <a:endParaRPr lang="tr-TR" dirty="0">
              <a:latin typeface="+mn-lt"/>
            </a:endParaRPr>
          </a:p>
          <a:p>
            <a:pPr>
              <a:buNone/>
            </a:pPr>
            <a:endParaRPr lang="en-US" dirty="0">
              <a:latin typeface="+mn-lt"/>
            </a:endParaRPr>
          </a:p>
          <a:p>
            <a:pPr>
              <a:buNone/>
            </a:pPr>
            <a:r>
              <a:rPr lang="tr-TR" dirty="0">
                <a:latin typeface="+mn-lt"/>
              </a:rPr>
              <a:t>Bu bir bağlama yöntemi değil, bir değerin yanına eklenen bir ifadedir. </a:t>
            </a:r>
            <a:endParaRPr lang="en-US" dirty="0">
              <a:latin typeface="+mn-lt"/>
            </a:endParaRPr>
          </a:p>
          <a:p>
            <a:pPr>
              <a:buNone/>
            </a:pPr>
            <a:r>
              <a:rPr lang="tr-TR" dirty="0">
                <a:latin typeface="+mn-lt"/>
              </a:rPr>
              <a:t>Eğer bir CSS özelliğinin sonuna </a:t>
            </a:r>
            <a:r>
              <a:rPr lang="tr-TR" i="1" dirty="0">
                <a:latin typeface="+mn-lt"/>
              </a:rPr>
              <a:t>!</a:t>
            </a:r>
            <a:r>
              <a:rPr lang="tr-TR" i="1" dirty="0" err="1">
                <a:latin typeface="+mn-lt"/>
              </a:rPr>
              <a:t>important</a:t>
            </a:r>
            <a:r>
              <a:rPr lang="tr-TR" i="1" dirty="0">
                <a:latin typeface="+mn-lt"/>
              </a:rPr>
              <a:t> </a:t>
            </a:r>
            <a:r>
              <a:rPr lang="tr-TR" dirty="0">
                <a:latin typeface="+mn-lt"/>
              </a:rPr>
              <a:t>eklerseniz, yukarıdaki tüm hiyerarşiyi görmezden gelir ve o kuralı baskın kılar.</a:t>
            </a:r>
            <a:endParaRPr lang="en-US" dirty="0">
              <a:latin typeface="+mn-lt"/>
            </a:endParaRPr>
          </a:p>
          <a:p>
            <a:pPr>
              <a:buNone/>
            </a:pPr>
            <a:endParaRPr lang="tr-TR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>
                <a:latin typeface="+mn-lt"/>
              </a:rPr>
              <a:t>Örnek: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color</a:t>
            </a:r>
            <a:r>
              <a:rPr lang="tr-TR" dirty="0">
                <a:latin typeface="+mn-lt"/>
              </a:rPr>
              <a:t>: </a:t>
            </a:r>
            <a:r>
              <a:rPr lang="tr-TR" dirty="0" err="1">
                <a:latin typeface="+mn-lt"/>
              </a:rPr>
              <a:t>blue</a:t>
            </a:r>
            <a:r>
              <a:rPr lang="tr-TR" dirty="0">
                <a:latin typeface="+mn-lt"/>
              </a:rPr>
              <a:t> !</a:t>
            </a:r>
            <a:r>
              <a:rPr lang="tr-TR" dirty="0" err="1">
                <a:latin typeface="+mn-lt"/>
              </a:rPr>
              <a:t>important</a:t>
            </a:r>
            <a:r>
              <a:rPr lang="tr-TR" dirty="0">
                <a:latin typeface="+mn-lt"/>
              </a:rPr>
              <a:t>;</a:t>
            </a:r>
            <a:endParaRPr lang="en-US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r>
              <a:rPr lang="en-US" dirty="0" err="1">
                <a:latin typeface="+mn-lt"/>
              </a:rPr>
              <a:t>Zorunlu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olmadıkça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tasarımda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kullanılmaz</a:t>
            </a:r>
            <a:r>
              <a:rPr lang="en-US" dirty="0">
                <a:latin typeface="+mn-lt"/>
              </a:rPr>
              <a:t>…</a:t>
            </a:r>
            <a:endParaRPr lang="tr-T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3665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F96A0-999F-107E-7040-C266E0C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CSS Yazım Kuralı (Sözdizimi)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11BED-CBF1-C967-5C85-F966CC8F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96951"/>
            <a:ext cx="8229600" cy="3133973"/>
          </a:xfrm>
        </p:spPr>
        <p:txBody>
          <a:bodyPr>
            <a:normAutofit fontScale="70000" lnSpcReduction="20000"/>
          </a:bodyPr>
          <a:lstStyle/>
          <a:p>
            <a:r>
              <a:rPr lang="tr-TR" dirty="0"/>
              <a:t>Bir CSS kuralı, bir </a:t>
            </a:r>
            <a:r>
              <a:rPr lang="tr-TR" b="1" dirty="0"/>
              <a:t>seçici (</a:t>
            </a:r>
            <a:r>
              <a:rPr lang="tr-TR" b="1" dirty="0" err="1"/>
              <a:t>selector</a:t>
            </a:r>
            <a:r>
              <a:rPr lang="tr-TR" b="1" dirty="0"/>
              <a:t>)</a:t>
            </a:r>
            <a:r>
              <a:rPr lang="tr-TR" dirty="0"/>
              <a:t> ve bir </a:t>
            </a:r>
            <a:r>
              <a:rPr lang="tr-TR" b="1" dirty="0"/>
              <a:t>bildirim bloğundan (</a:t>
            </a:r>
            <a:r>
              <a:rPr lang="tr-TR" b="1" dirty="0" err="1"/>
              <a:t>declaration</a:t>
            </a:r>
            <a:r>
              <a:rPr lang="tr-TR" b="1" dirty="0"/>
              <a:t> </a:t>
            </a:r>
            <a:r>
              <a:rPr lang="tr-TR" b="1" dirty="0" err="1"/>
              <a:t>block</a:t>
            </a:r>
            <a:r>
              <a:rPr lang="tr-TR" b="1" dirty="0"/>
              <a:t>)</a:t>
            </a:r>
            <a:r>
              <a:rPr lang="tr-TR" dirty="0"/>
              <a:t> oluşur:</a:t>
            </a:r>
          </a:p>
          <a:p>
            <a:pPr lvl="1"/>
            <a:r>
              <a:rPr lang="tr-TR" b="1" dirty="0"/>
              <a:t>Seçici (</a:t>
            </a:r>
            <a:r>
              <a:rPr lang="tr-TR" b="1" dirty="0" err="1"/>
              <a:t>Selector</a:t>
            </a:r>
            <a:r>
              <a:rPr lang="tr-TR" b="1" dirty="0"/>
              <a:t>):</a:t>
            </a:r>
            <a:r>
              <a:rPr lang="tr-TR" dirty="0"/>
              <a:t> Stilini değiştirmek istediğiniz HTML öğesini işaret eder.</a:t>
            </a:r>
          </a:p>
          <a:p>
            <a:pPr lvl="1"/>
            <a:r>
              <a:rPr lang="tr-TR" b="1" dirty="0"/>
              <a:t>Bildirim Bloğu (</a:t>
            </a:r>
            <a:r>
              <a:rPr lang="tr-TR" b="1" dirty="0" err="1"/>
              <a:t>Declaration</a:t>
            </a:r>
            <a:r>
              <a:rPr lang="tr-TR" b="1" dirty="0"/>
              <a:t> </a:t>
            </a:r>
            <a:r>
              <a:rPr lang="tr-TR" b="1" dirty="0" err="1"/>
              <a:t>Block</a:t>
            </a:r>
            <a:r>
              <a:rPr lang="tr-TR" b="1" dirty="0"/>
              <a:t>):</a:t>
            </a:r>
            <a:r>
              <a:rPr lang="tr-TR" dirty="0"/>
              <a:t> Noktalı virgüllerle birbirinden ayrılmış bir veya daha fazla bildirim içerir.</a:t>
            </a:r>
          </a:p>
          <a:p>
            <a:r>
              <a:rPr lang="tr-TR" b="1" dirty="0"/>
              <a:t>Her Bildirim:</a:t>
            </a:r>
            <a:r>
              <a:rPr lang="tr-TR" dirty="0"/>
              <a:t> Aralarına iki nokta üst üste konulmuş bir </a:t>
            </a:r>
            <a:r>
              <a:rPr lang="tr-TR" b="1" dirty="0"/>
              <a:t>CSS özellik adı (</a:t>
            </a:r>
            <a:r>
              <a:rPr lang="tr-TR" b="1" dirty="0" err="1"/>
              <a:t>property</a:t>
            </a:r>
            <a:r>
              <a:rPr lang="tr-TR" b="1" dirty="0"/>
              <a:t> name)</a:t>
            </a:r>
            <a:r>
              <a:rPr lang="tr-TR" dirty="0"/>
              <a:t> ve bir </a:t>
            </a:r>
            <a:r>
              <a:rPr lang="tr-TR" b="1" dirty="0"/>
              <a:t>değer (</a:t>
            </a:r>
            <a:r>
              <a:rPr lang="tr-TR" b="1" dirty="0" err="1"/>
              <a:t>value</a:t>
            </a:r>
            <a:r>
              <a:rPr lang="tr-TR" b="1" dirty="0"/>
              <a:t>)</a:t>
            </a:r>
            <a:r>
              <a:rPr lang="tr-TR" dirty="0"/>
              <a:t> içerir.</a:t>
            </a:r>
          </a:p>
          <a:p>
            <a:r>
              <a:rPr lang="tr-TR" b="1" dirty="0"/>
              <a:t>Çoklu CSS Bildirimleri:</a:t>
            </a:r>
            <a:r>
              <a:rPr lang="tr-TR" dirty="0"/>
              <a:t> Birbirinden noktalı virgül ile ayrılır ve bildirim blokları süslü parantez { } içine alınır.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D6A95-3768-4BC1-283D-AA0F55C3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18</a:t>
            </a:fld>
            <a:endParaRPr lang="tr-TR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35CAF6-A189-A8A4-2B0B-31435B262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81" y="1337615"/>
            <a:ext cx="4587212" cy="15129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6B605B-43ED-8F68-E1B5-D62276711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52" y="5710169"/>
            <a:ext cx="4104456" cy="9214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6382D0-D7BD-7FB8-3C4B-EAD4BE8AF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484" y="5903290"/>
            <a:ext cx="1385239" cy="80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28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4CA74-D9EA-9C0D-2BE4-532CF74B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CSS Seçicileri: ID ve Class (Sınıf)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AC402-CC82-2E85-D521-C5D641BD8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2"/>
            <a:ext cx="5266928" cy="487808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tr-TR" dirty="0" err="1"/>
              <a:t>CSS'te</a:t>
            </a:r>
            <a:r>
              <a:rPr lang="tr-TR" dirty="0"/>
              <a:t> öğeleri hedeflemek için kullanılan en yaygın iki seçici şunlardır:</a:t>
            </a:r>
          </a:p>
          <a:p>
            <a:r>
              <a:rPr lang="tr-TR" b="1" dirty="0"/>
              <a:t>ID Seçicisi (#)</a:t>
            </a:r>
            <a:endParaRPr lang="tr-TR" dirty="0"/>
          </a:p>
          <a:p>
            <a:pPr lvl="1"/>
            <a:r>
              <a:rPr lang="tr-TR" b="1" dirty="0"/>
              <a:t>Açıklama:</a:t>
            </a:r>
            <a:r>
              <a:rPr lang="tr-TR" dirty="0"/>
              <a:t> ID seçicisi, sayfa üzerindeki </a:t>
            </a:r>
            <a:r>
              <a:rPr lang="tr-TR" b="1" dirty="0"/>
              <a:t>benzersiz (tek bir)</a:t>
            </a:r>
            <a:r>
              <a:rPr lang="tr-TR" dirty="0"/>
              <a:t> bir öğeyi seçmek için kullanılır.</a:t>
            </a:r>
          </a:p>
          <a:p>
            <a:pPr lvl="1"/>
            <a:r>
              <a:rPr lang="tr-TR" b="1" dirty="0"/>
              <a:t>Yazım Kuralı:</a:t>
            </a:r>
            <a:r>
              <a:rPr lang="tr-TR" dirty="0"/>
              <a:t> Belirli bir </a:t>
            </a:r>
            <a:r>
              <a:rPr lang="tr-TR" dirty="0" err="1"/>
              <a:t>ID'ye</a:t>
            </a:r>
            <a:r>
              <a:rPr lang="tr-TR" dirty="0"/>
              <a:t> sahip öğeyi seçmek için kare/diyez (#) karakterini ve ardından öğenin ID adını yazın.</a:t>
            </a:r>
          </a:p>
          <a:p>
            <a:pPr lvl="1"/>
            <a:r>
              <a:rPr lang="tr-TR" b="1" dirty="0"/>
              <a:t>Kural:</a:t>
            </a:r>
            <a:r>
              <a:rPr lang="tr-TR" dirty="0"/>
              <a:t> Bir HTML sayfasında aynı ID adına sahip yalnızca bir tane öğe bulunabilir.</a:t>
            </a:r>
          </a:p>
          <a:p>
            <a:r>
              <a:rPr lang="tr-TR" b="1" dirty="0"/>
              <a:t>Class (Sınıf) Seçicisi (.)</a:t>
            </a:r>
            <a:endParaRPr lang="tr-TR" dirty="0"/>
          </a:p>
          <a:p>
            <a:pPr lvl="1"/>
            <a:r>
              <a:rPr lang="tr-TR" b="1" dirty="0"/>
              <a:t>Açıklama:</a:t>
            </a:r>
            <a:r>
              <a:rPr lang="tr-TR" dirty="0"/>
              <a:t> Class seçicisi, belirli bir "</a:t>
            </a:r>
            <a:r>
              <a:rPr lang="tr-TR" dirty="0" err="1"/>
              <a:t>class</a:t>
            </a:r>
            <a:r>
              <a:rPr lang="tr-TR" dirty="0"/>
              <a:t>" özniteliğine sahip HTML öğelerini seçmek için kullanılır.</a:t>
            </a:r>
          </a:p>
          <a:p>
            <a:pPr lvl="1"/>
            <a:r>
              <a:rPr lang="tr-TR" b="1" dirty="0"/>
              <a:t>Yazım Kuralı:</a:t>
            </a:r>
            <a:r>
              <a:rPr lang="tr-TR" dirty="0"/>
              <a:t> Belirli bir sınıfa sahip öğeleri seçmek için nokta (.) karakterini ve ardından sınıf adını yazın.</a:t>
            </a:r>
          </a:p>
          <a:p>
            <a:pPr lvl="1"/>
            <a:r>
              <a:rPr lang="tr-TR" b="1" dirty="0"/>
              <a:t>Kural:</a:t>
            </a:r>
            <a:r>
              <a:rPr lang="tr-TR" dirty="0"/>
              <a:t> Aynı sınıf adını birden fazla HTML öğesinde kullanabilirsiniz; bu sayede aynı stili birçok öğeye aynı anda uygulayabilirsiniz. 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FED4E-52BB-7C47-C163-E0392CB1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19</a:t>
            </a:fld>
            <a:endParaRPr lang="tr-T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516052-5BF7-3D5E-E816-73E9C05C362A}"/>
              </a:ext>
            </a:extLst>
          </p:cNvPr>
          <p:cNvSpPr txBox="1"/>
          <p:nvPr/>
        </p:nvSpPr>
        <p:spPr>
          <a:xfrm>
            <a:off x="5654459" y="1806913"/>
            <a:ext cx="35853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600" dirty="0">
                <a:latin typeface="Consolas" panose="020B0609020204030204" pitchFamily="49" charset="0"/>
              </a:rPr>
              <a:t>&lt;h1 id="ana-</a:t>
            </a:r>
            <a:r>
              <a:rPr lang="tr-TR" sz="1600" dirty="0" err="1">
                <a:latin typeface="Consolas" panose="020B0609020204030204" pitchFamily="49" charset="0"/>
              </a:rPr>
              <a:t>baslik</a:t>
            </a:r>
            <a:r>
              <a:rPr lang="tr-TR" sz="1600" dirty="0">
                <a:latin typeface="Consolas" panose="020B0609020204030204" pitchFamily="49" charset="0"/>
              </a:rPr>
              <a:t>"&gt;Merhaba Dünya&lt;/h1&gt; </a:t>
            </a:r>
          </a:p>
          <a:p>
            <a:r>
              <a:rPr lang="tr-TR" sz="1600" dirty="0">
                <a:latin typeface="Consolas" panose="020B0609020204030204" pitchFamily="49" charset="0"/>
              </a:rPr>
              <a:t>&lt;p </a:t>
            </a:r>
            <a:r>
              <a:rPr lang="tr-TR" sz="1600" dirty="0" err="1">
                <a:latin typeface="Consolas" panose="020B0609020204030204" pitchFamily="49" charset="0"/>
              </a:rPr>
              <a:t>class</a:t>
            </a:r>
            <a:r>
              <a:rPr lang="tr-TR" sz="1600" dirty="0">
                <a:latin typeface="Consolas" panose="020B0609020204030204" pitchFamily="49" charset="0"/>
              </a:rPr>
              <a:t>="mavi-metin"&gt;Bu bir paragraf.&lt;/p&gt; </a:t>
            </a:r>
          </a:p>
          <a:p>
            <a:r>
              <a:rPr lang="tr-TR" sz="1600" dirty="0">
                <a:latin typeface="Consolas" panose="020B0609020204030204" pitchFamily="49" charset="0"/>
              </a:rPr>
              <a:t>&lt;p </a:t>
            </a:r>
            <a:r>
              <a:rPr lang="tr-TR" sz="1600" dirty="0" err="1">
                <a:latin typeface="Consolas" panose="020B0609020204030204" pitchFamily="49" charset="0"/>
              </a:rPr>
              <a:t>class</a:t>
            </a:r>
            <a:r>
              <a:rPr lang="tr-TR" sz="1600" dirty="0">
                <a:latin typeface="Consolas" panose="020B0609020204030204" pitchFamily="49" charset="0"/>
              </a:rPr>
              <a:t>="mavi-metin"&gt;Bu da başka bir paragraf.&lt;/p&gt;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2F6CD5-6185-C76D-8D0C-36AD0A662D91}"/>
              </a:ext>
            </a:extLst>
          </p:cNvPr>
          <p:cNvSpPr txBox="1"/>
          <p:nvPr/>
        </p:nvSpPr>
        <p:spPr>
          <a:xfrm>
            <a:off x="5724128" y="3940076"/>
            <a:ext cx="31683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#ana-baslik {</a:t>
            </a:r>
          </a:p>
          <a:p>
            <a:r>
              <a:rPr lang="tr-TR" dirty="0"/>
              <a:t>  </a:t>
            </a:r>
            <a:r>
              <a:rPr lang="tr-TR" dirty="0" err="1"/>
              <a:t>text-align</a:t>
            </a:r>
            <a:r>
              <a:rPr lang="tr-TR" dirty="0"/>
              <a:t>: </a:t>
            </a:r>
            <a:r>
              <a:rPr lang="tr-TR" dirty="0" err="1"/>
              <a:t>center</a:t>
            </a:r>
            <a:r>
              <a:rPr lang="tr-TR" dirty="0"/>
              <a:t>; /* ID seçici */</a:t>
            </a:r>
          </a:p>
          <a:p>
            <a:r>
              <a:rPr lang="tr-TR" dirty="0"/>
              <a:t>}</a:t>
            </a:r>
          </a:p>
          <a:p>
            <a:endParaRPr lang="tr-TR" dirty="0"/>
          </a:p>
          <a:p>
            <a:r>
              <a:rPr lang="tr-TR" dirty="0"/>
              <a:t>.mavi-metin {</a:t>
            </a:r>
          </a:p>
          <a:p>
            <a:r>
              <a:rPr lang="tr-TR" dirty="0"/>
              <a:t>  </a:t>
            </a:r>
            <a:r>
              <a:rPr lang="tr-TR" dirty="0" err="1"/>
              <a:t>color</a:t>
            </a:r>
            <a:r>
              <a:rPr lang="tr-TR" dirty="0"/>
              <a:t>: </a:t>
            </a:r>
            <a:r>
              <a:rPr lang="tr-TR" dirty="0" err="1"/>
              <a:t>blue</a:t>
            </a:r>
            <a:r>
              <a:rPr lang="tr-TR" dirty="0"/>
              <a:t>; /* Class seçici */</a:t>
            </a:r>
          </a:p>
          <a:p>
            <a:r>
              <a:rPr lang="tr-TR" dirty="0"/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BF3EBF-F9E7-72D5-0FB1-CE94863BE66F}"/>
              </a:ext>
            </a:extLst>
          </p:cNvPr>
          <p:cNvSpPr txBox="1"/>
          <p:nvPr/>
        </p:nvSpPr>
        <p:spPr>
          <a:xfrm>
            <a:off x="5734392" y="1417638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FF0000"/>
                </a:solidFill>
                <a:latin typeface="+mj-lt"/>
              </a:rPr>
              <a:t>index.html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21B918-44F9-2724-0D1B-482BD6C8AA26}"/>
              </a:ext>
            </a:extLst>
          </p:cNvPr>
          <p:cNvSpPr txBox="1"/>
          <p:nvPr/>
        </p:nvSpPr>
        <p:spPr>
          <a:xfrm>
            <a:off x="5724128" y="357074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FF0000"/>
                </a:solidFill>
                <a:latin typeface="+mj-lt"/>
              </a:rPr>
              <a:t>styles.css</a:t>
            </a:r>
          </a:p>
        </p:txBody>
      </p:sp>
    </p:spTree>
    <p:extLst>
      <p:ext uri="{BB962C8B-B14F-4D97-AF65-F5344CB8AC3E}">
        <p14:creationId xmlns:p14="http://schemas.microsoft.com/office/powerpoint/2010/main" val="49143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9302E-FCD9-EE63-7788-221B186D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09F0F-5FAD-8773-5F1D-7CA899D62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CSS Özel Seçicileri: </a:t>
            </a:r>
            <a:r>
              <a:rPr lang="tr-TR" sz="3200" b="0" dirty="0"/>
              <a:t>Evrensel Seçici (*) ve </a:t>
            </a:r>
            <a:r>
              <a:rPr lang="tr-TR" sz="3200" b="0" dirty="0" err="1"/>
              <a:t>Pseudo-class</a:t>
            </a:r>
            <a:r>
              <a:rPr lang="tr-TR" sz="3200" b="0" dirty="0"/>
              <a:t> (:</a:t>
            </a:r>
            <a:r>
              <a:rPr lang="tr-TR" sz="3200" b="0" dirty="0" err="1"/>
              <a:t>atribute</a:t>
            </a:r>
            <a:r>
              <a:rPr lang="tr-TR" sz="3200" b="0" dirty="0"/>
              <a:t>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95AB2-CE45-C822-510C-E2B09CC04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2"/>
            <a:ext cx="5266928" cy="4878089"/>
          </a:xfrm>
        </p:spPr>
        <p:txBody>
          <a:bodyPr>
            <a:normAutofit fontScale="62500" lnSpcReduction="20000"/>
          </a:bodyPr>
          <a:lstStyle/>
          <a:p>
            <a:r>
              <a:rPr lang="tr-TR" b="1" dirty="0">
                <a:latin typeface="+mj-lt"/>
              </a:rPr>
              <a:t>Evrensel Seçici (Universal </a:t>
            </a:r>
            <a:r>
              <a:rPr lang="tr-TR" b="1" dirty="0" err="1">
                <a:latin typeface="+mj-lt"/>
              </a:rPr>
              <a:t>Selector</a:t>
            </a:r>
            <a:r>
              <a:rPr lang="tr-TR" b="1" dirty="0">
                <a:latin typeface="+mj-lt"/>
              </a:rPr>
              <a:t> - *)</a:t>
            </a:r>
          </a:p>
          <a:p>
            <a:pPr lvl="1"/>
            <a:r>
              <a:rPr lang="tr-TR" dirty="0"/>
              <a:t>Bu seçici, HTML sayfasındaki </a:t>
            </a:r>
            <a:r>
              <a:rPr lang="tr-TR" b="1" dirty="0"/>
              <a:t>tüm öğeleri</a:t>
            </a:r>
            <a:r>
              <a:rPr lang="tr-TR" dirty="0"/>
              <a:t> hedeflemek için kullanılır</a:t>
            </a:r>
          </a:p>
          <a:p>
            <a:pPr lvl="1"/>
            <a:r>
              <a:rPr lang="tr-TR" dirty="0"/>
              <a:t>Genellikle sayfa genelinde varsayılan ayarları (sıfırlama işlemleri gibi) yapmak için tercih edilir.</a:t>
            </a:r>
          </a:p>
          <a:p>
            <a:pPr lvl="1"/>
            <a:r>
              <a:rPr lang="tr-TR" b="1" dirty="0"/>
              <a:t>Kullanım Amacı:</a:t>
            </a:r>
            <a:r>
              <a:rPr lang="tr-TR" dirty="0"/>
              <a:t> Tarayıcıların otomatik olarak verdiği iç ve dış boşlukları (</a:t>
            </a:r>
            <a:r>
              <a:rPr lang="tr-TR" dirty="0" err="1"/>
              <a:t>margin</a:t>
            </a:r>
            <a:r>
              <a:rPr lang="tr-TR" dirty="0"/>
              <a:t>/</a:t>
            </a:r>
            <a:r>
              <a:rPr lang="tr-TR" dirty="0" err="1"/>
              <a:t>padding</a:t>
            </a:r>
            <a:r>
              <a:rPr lang="tr-TR" dirty="0"/>
              <a:t>) sıfırlamak için sıkça kullanılır.</a:t>
            </a:r>
          </a:p>
          <a:p>
            <a:r>
              <a:rPr lang="tr-TR" b="1" dirty="0"/>
              <a:t>Sözde Sınıf (</a:t>
            </a:r>
            <a:r>
              <a:rPr lang="tr-TR" b="1" dirty="0" err="1"/>
              <a:t>Pseudo-class</a:t>
            </a:r>
            <a:r>
              <a:rPr lang="tr-TR" b="1" dirty="0"/>
              <a:t> - :</a:t>
            </a:r>
            <a:r>
              <a:rPr lang="tr-TR" b="1" dirty="0" err="1"/>
              <a:t>hover</a:t>
            </a:r>
            <a:r>
              <a:rPr lang="tr-TR" b="1" dirty="0"/>
              <a:t>)</a:t>
            </a:r>
          </a:p>
          <a:p>
            <a:pPr lvl="1"/>
            <a:r>
              <a:rPr lang="tr-TR" dirty="0"/>
              <a:t>Sözde sınıflar, bir öğenin </a:t>
            </a:r>
            <a:r>
              <a:rPr lang="tr-TR" b="1" dirty="0"/>
              <a:t>özel bir durumunu</a:t>
            </a:r>
            <a:r>
              <a:rPr lang="tr-TR" dirty="0"/>
              <a:t> (üzerine gelme, tıklanma, ziyaret edilme gibi) hedeflemek için kullanılır </a:t>
            </a:r>
          </a:p>
          <a:p>
            <a:pPr lvl="1"/>
            <a:r>
              <a:rPr lang="tr-TR" b="1" dirty="0"/>
              <a:t>Açıklama:</a:t>
            </a:r>
            <a:r>
              <a:rPr lang="tr-TR" dirty="0"/>
              <a:t> Kullanıcı imlecini bir öğenin (örneğin bir buton veya link) üzerine getirdiğinde stilin değişmesini sağlar.</a:t>
            </a:r>
          </a:p>
          <a:p>
            <a:pPr lvl="1"/>
            <a:r>
              <a:rPr lang="tr-TR" b="1" dirty="0"/>
              <a:t>Yazım Kuralı:</a:t>
            </a:r>
            <a:r>
              <a:rPr lang="tr-TR" dirty="0"/>
              <a:t> Seçiciden hemen sonra bitişik bir şekilde iki nokta üst üste (:) ve </a:t>
            </a:r>
            <a:r>
              <a:rPr lang="tr-TR" dirty="0" err="1"/>
              <a:t>hover</a:t>
            </a:r>
            <a:r>
              <a:rPr lang="tr-TR" dirty="0"/>
              <a:t> yazılarak kullanılır.</a:t>
            </a:r>
          </a:p>
          <a:p>
            <a:pPr lvl="1"/>
            <a:endParaRPr lang="tr-TR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013E14-E93E-2AFE-6171-8621C71A62A0}"/>
              </a:ext>
            </a:extLst>
          </p:cNvPr>
          <p:cNvSpPr txBox="1"/>
          <p:nvPr/>
        </p:nvSpPr>
        <p:spPr>
          <a:xfrm>
            <a:off x="5747014" y="2016393"/>
            <a:ext cx="3168352" cy="13234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*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margin: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padding: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box-sizing: border-box;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3682C0-3255-2800-6A70-00E4D878C880}"/>
              </a:ext>
            </a:extLst>
          </p:cNvPr>
          <p:cNvSpPr txBox="1"/>
          <p:nvPr/>
        </p:nvSpPr>
        <p:spPr>
          <a:xfrm>
            <a:off x="5530990" y="3909243"/>
            <a:ext cx="3384376" cy="24083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tr-TR" sz="1400" dirty="0">
                <a:latin typeface="Consolas" panose="020B0609020204030204" pitchFamily="49" charset="0"/>
              </a:rPr>
              <a:t>.buton {</a:t>
            </a:r>
          </a:p>
          <a:p>
            <a:r>
              <a:rPr lang="tr-TR" sz="1400" dirty="0">
                <a:latin typeface="Consolas" panose="020B0609020204030204" pitchFamily="49" charset="0"/>
              </a:rPr>
              <a:t>  background-</a:t>
            </a:r>
            <a:r>
              <a:rPr lang="tr-TR" sz="1400" dirty="0" err="1">
                <a:latin typeface="Consolas" panose="020B0609020204030204" pitchFamily="49" charset="0"/>
              </a:rPr>
              <a:t>color</a:t>
            </a:r>
            <a:r>
              <a:rPr lang="tr-TR" sz="1400" dirty="0">
                <a:latin typeface="Consolas" panose="020B0609020204030204" pitchFamily="49" charset="0"/>
              </a:rPr>
              <a:t>: </a:t>
            </a:r>
            <a:r>
              <a:rPr lang="tr-TR" sz="1400" dirty="0" err="1">
                <a:latin typeface="Consolas" panose="020B0609020204030204" pitchFamily="49" charset="0"/>
              </a:rPr>
              <a:t>blue</a:t>
            </a:r>
            <a:r>
              <a:rPr lang="tr-TR" sz="1400" dirty="0"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latin typeface="Consolas" panose="020B0609020204030204" pitchFamily="49" charset="0"/>
              </a:rPr>
              <a:t>  </a:t>
            </a:r>
            <a:r>
              <a:rPr lang="tr-TR" sz="1400" dirty="0" err="1">
                <a:latin typeface="Consolas" panose="020B0609020204030204" pitchFamily="49" charset="0"/>
              </a:rPr>
              <a:t>color</a:t>
            </a:r>
            <a:r>
              <a:rPr lang="tr-TR" sz="1400" dirty="0">
                <a:latin typeface="Consolas" panose="020B0609020204030204" pitchFamily="49" charset="0"/>
              </a:rPr>
              <a:t>: </a:t>
            </a:r>
            <a:r>
              <a:rPr lang="tr-TR" sz="1400" dirty="0" err="1">
                <a:latin typeface="Consolas" panose="020B0609020204030204" pitchFamily="49" charset="0"/>
              </a:rPr>
              <a:t>white</a:t>
            </a:r>
            <a:r>
              <a:rPr lang="tr-TR" sz="1400" dirty="0"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latin typeface="Consolas" panose="020B0609020204030204" pitchFamily="49" charset="0"/>
              </a:rPr>
              <a:t>}</a:t>
            </a:r>
          </a:p>
          <a:p>
            <a:endParaRPr lang="tr-TR" sz="1400" dirty="0">
              <a:latin typeface="Consolas" panose="020B0609020204030204" pitchFamily="49" charset="0"/>
            </a:endParaRPr>
          </a:p>
          <a:p>
            <a:r>
              <a:rPr lang="tr-TR" sz="1400" dirty="0">
                <a:latin typeface="Consolas" panose="020B0609020204030204" pitchFamily="49" charset="0"/>
              </a:rPr>
              <a:t>.</a:t>
            </a:r>
            <a:r>
              <a:rPr lang="tr-TR" sz="1400" dirty="0" err="1">
                <a:latin typeface="Consolas" panose="020B0609020204030204" pitchFamily="49" charset="0"/>
              </a:rPr>
              <a:t>buton:hover</a:t>
            </a:r>
            <a:r>
              <a:rPr lang="tr-TR" sz="1400" dirty="0">
                <a:latin typeface="Consolas" panose="020B0609020204030204" pitchFamily="49" charset="0"/>
              </a:rPr>
              <a:t> {</a:t>
            </a:r>
          </a:p>
          <a:p>
            <a:r>
              <a:rPr lang="tr-TR" sz="1400" dirty="0">
                <a:latin typeface="Consolas" panose="020B0609020204030204" pitchFamily="49" charset="0"/>
              </a:rPr>
              <a:t>  background-</a:t>
            </a:r>
            <a:r>
              <a:rPr lang="tr-TR" sz="1400" dirty="0" err="1">
                <a:latin typeface="Consolas" panose="020B0609020204030204" pitchFamily="49" charset="0"/>
              </a:rPr>
              <a:t>color</a:t>
            </a:r>
            <a:r>
              <a:rPr lang="tr-TR" sz="1400" dirty="0">
                <a:latin typeface="Consolas" panose="020B0609020204030204" pitchFamily="49" charset="0"/>
              </a:rPr>
              <a:t>: </a:t>
            </a:r>
            <a:r>
              <a:rPr lang="tr-TR" sz="1400" dirty="0" err="1">
                <a:latin typeface="Consolas" panose="020B0609020204030204" pitchFamily="49" charset="0"/>
              </a:rPr>
              <a:t>darkblue</a:t>
            </a:r>
            <a:r>
              <a:rPr lang="tr-TR" sz="1400" dirty="0">
                <a:latin typeface="Consolas" panose="020B0609020204030204" pitchFamily="49" charset="0"/>
              </a:rPr>
              <a:t>; </a:t>
            </a:r>
          </a:p>
          <a:p>
            <a:r>
              <a:rPr lang="tr-TR" sz="1400" dirty="0">
                <a:latin typeface="Consolas" panose="020B0609020204030204" pitchFamily="49" charset="0"/>
              </a:rPr>
              <a:t>  </a:t>
            </a:r>
            <a:r>
              <a:rPr lang="tr-TR" sz="1000" dirty="0">
                <a:latin typeface="Consolas" panose="020B0609020204030204" pitchFamily="49" charset="0"/>
              </a:rPr>
              <a:t>/* Fare üzerine gelince renk koyulaşır */</a:t>
            </a:r>
            <a:endParaRPr lang="tr-TR" sz="1400" dirty="0">
              <a:latin typeface="Consolas" panose="020B0609020204030204" pitchFamily="49" charset="0"/>
            </a:endParaRPr>
          </a:p>
          <a:p>
            <a:r>
              <a:rPr lang="tr-TR" sz="1400" dirty="0">
                <a:latin typeface="Consolas" panose="020B0609020204030204" pitchFamily="49" charset="0"/>
              </a:rPr>
              <a:t>  </a:t>
            </a:r>
            <a:r>
              <a:rPr lang="tr-TR" sz="1400" dirty="0" err="1">
                <a:latin typeface="Consolas" panose="020B0609020204030204" pitchFamily="49" charset="0"/>
              </a:rPr>
              <a:t>cursor</a:t>
            </a:r>
            <a:r>
              <a:rPr lang="tr-TR" sz="1400" dirty="0">
                <a:latin typeface="Consolas" panose="020B0609020204030204" pitchFamily="49" charset="0"/>
              </a:rPr>
              <a:t>: </a:t>
            </a:r>
            <a:r>
              <a:rPr lang="tr-TR" sz="1400" dirty="0" err="1">
                <a:latin typeface="Consolas" panose="020B0609020204030204" pitchFamily="49" charset="0"/>
              </a:rPr>
              <a:t>pointer</a:t>
            </a:r>
            <a:r>
              <a:rPr lang="tr-TR" sz="1400" dirty="0">
                <a:latin typeface="Consolas" panose="020B0609020204030204" pitchFamily="49" charset="0"/>
              </a:rPr>
              <a:t>; </a:t>
            </a:r>
            <a:r>
              <a:rPr lang="tr-TR" sz="1000" dirty="0">
                <a:latin typeface="Consolas" panose="020B0609020204030204" pitchFamily="49" charset="0"/>
              </a:rPr>
              <a:t>/* Fare imleci el şekline dönüşür */</a:t>
            </a:r>
            <a:endParaRPr lang="tr-TR" sz="1400" dirty="0">
              <a:latin typeface="Consolas" panose="020B0609020204030204" pitchFamily="49" charset="0"/>
            </a:endParaRPr>
          </a:p>
          <a:p>
            <a:r>
              <a:rPr lang="tr-TR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CE7A4-E1E4-F8FE-221B-2319727D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20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656788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F1841-DFC3-423F-4494-F0325A2FD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63409-1AF3-4228-7236-1AE758FD4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CSS Özel Seçicileri:</a:t>
            </a:r>
            <a:br>
              <a:rPr lang="tr-TR" dirty="0"/>
            </a:br>
            <a:r>
              <a:rPr lang="tr-TR" dirty="0"/>
              <a:t>Neden Önemliler?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D6053-B4E5-BBFE-CC98-459526DA3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2"/>
            <a:ext cx="4762872" cy="4878089"/>
          </a:xfrm>
        </p:spPr>
        <p:txBody>
          <a:bodyPr>
            <a:normAutofit fontScale="62500" lnSpcReduction="20000"/>
          </a:bodyPr>
          <a:lstStyle/>
          <a:p>
            <a:r>
              <a:rPr lang="tr-TR" b="1" dirty="0"/>
              <a:t>Evrensel Seçici:</a:t>
            </a:r>
            <a:r>
              <a:rPr lang="tr-TR" dirty="0"/>
              <a:t> </a:t>
            </a:r>
          </a:p>
          <a:p>
            <a:pPr lvl="1"/>
            <a:r>
              <a:rPr lang="tr-TR" dirty="0"/>
              <a:t>Sayfanızın her tarayıcıda (Chrome, Safari, </a:t>
            </a:r>
            <a:r>
              <a:rPr lang="tr-TR" dirty="0" err="1"/>
              <a:t>Edge</a:t>
            </a:r>
            <a:r>
              <a:rPr lang="tr-TR" dirty="0"/>
              <a:t>) aynı görünmesini sağlamak için bir "temizlik" aşamasıdır.</a:t>
            </a:r>
          </a:p>
          <a:p>
            <a:r>
              <a:rPr lang="tr-TR" b="1" dirty="0" err="1"/>
              <a:t>Pseudo-class</a:t>
            </a:r>
            <a:r>
              <a:rPr lang="tr-TR" b="1" dirty="0"/>
              <a:t> (:</a:t>
            </a:r>
            <a:r>
              <a:rPr lang="tr-TR" b="1" dirty="0" err="1"/>
              <a:t>hover</a:t>
            </a:r>
            <a:r>
              <a:rPr lang="tr-TR" b="1" dirty="0"/>
              <a:t>):</a:t>
            </a:r>
            <a:r>
              <a:rPr lang="tr-TR" dirty="0"/>
              <a:t> </a:t>
            </a:r>
          </a:p>
          <a:p>
            <a:pPr lvl="1"/>
            <a:r>
              <a:rPr lang="tr-TR" dirty="0"/>
              <a:t>Kullanıcıya etkileşimde olduğunu hissettirir. Örneğin, berber randevu sisteminizde bir saat diliminin üzerine gelindiğinde renginin değişmesi, kullanıcının oraya tıklayabileceğini anlamasını sağlar (UX - Kullanıcı Deneyimi).</a:t>
            </a:r>
          </a:p>
          <a:p>
            <a:r>
              <a:rPr lang="tr-TR" b="1" dirty="0"/>
              <a:t>Diğer Yaygın Sözde Sınıflar</a:t>
            </a:r>
          </a:p>
          <a:p>
            <a:pPr lvl="1"/>
            <a:r>
              <a:rPr lang="tr-TR" dirty="0"/>
              <a:t>:</a:t>
            </a:r>
            <a:r>
              <a:rPr lang="tr-TR" b="1" dirty="0" err="1"/>
              <a:t>active</a:t>
            </a:r>
            <a:r>
              <a:rPr lang="tr-TR" dirty="0"/>
              <a:t>: Öğeye tıklandığı anı hedefler.</a:t>
            </a:r>
          </a:p>
          <a:p>
            <a:pPr lvl="1"/>
            <a:r>
              <a:rPr lang="tr-TR" dirty="0"/>
              <a:t>:</a:t>
            </a:r>
            <a:r>
              <a:rPr lang="tr-TR" b="1" dirty="0" err="1"/>
              <a:t>focus</a:t>
            </a:r>
            <a:r>
              <a:rPr lang="tr-TR" dirty="0"/>
              <a:t>: Bir giriş alanına (</a:t>
            </a:r>
            <a:r>
              <a:rPr lang="tr-TR" dirty="0" err="1"/>
              <a:t>input</a:t>
            </a:r>
            <a:r>
              <a:rPr lang="tr-TR" dirty="0"/>
              <a:t>) tıklandığında veya odaklanıldığında çalışır.</a:t>
            </a:r>
          </a:p>
          <a:p>
            <a:pPr lvl="1"/>
            <a:r>
              <a:rPr lang="tr-TR" dirty="0"/>
              <a:t>:</a:t>
            </a:r>
            <a:r>
              <a:rPr lang="tr-TR" b="1" dirty="0" err="1"/>
              <a:t>nth-child</a:t>
            </a:r>
            <a:r>
              <a:rPr lang="tr-TR" b="1" dirty="0"/>
              <a:t>(n): </a:t>
            </a:r>
            <a:r>
              <a:rPr lang="tr-TR" dirty="0"/>
              <a:t>Bir listenin veya grubun belirli bir sıradaki (örneğin sadece çift sıradaki) elemanlarını seçer.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74C45D-7137-B532-0BD1-909737B685E8}"/>
              </a:ext>
            </a:extLst>
          </p:cNvPr>
          <p:cNvSpPr txBox="1"/>
          <p:nvPr/>
        </p:nvSpPr>
        <p:spPr>
          <a:xfrm>
            <a:off x="5747014" y="2016393"/>
            <a:ext cx="3168352" cy="13234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*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margin: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padding: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box-sizing: border-box;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F373E6-3571-B327-0365-D43E1182B208}"/>
              </a:ext>
            </a:extLst>
          </p:cNvPr>
          <p:cNvSpPr txBox="1"/>
          <p:nvPr/>
        </p:nvSpPr>
        <p:spPr>
          <a:xfrm>
            <a:off x="5530990" y="3909243"/>
            <a:ext cx="3384376" cy="24083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tr-TR" sz="1400" dirty="0">
                <a:latin typeface="Consolas" panose="020B0609020204030204" pitchFamily="49" charset="0"/>
              </a:rPr>
              <a:t>.buton {</a:t>
            </a:r>
          </a:p>
          <a:p>
            <a:r>
              <a:rPr lang="tr-TR" sz="1400" dirty="0">
                <a:latin typeface="Consolas" panose="020B0609020204030204" pitchFamily="49" charset="0"/>
              </a:rPr>
              <a:t>  background-</a:t>
            </a:r>
            <a:r>
              <a:rPr lang="tr-TR" sz="1400" dirty="0" err="1">
                <a:latin typeface="Consolas" panose="020B0609020204030204" pitchFamily="49" charset="0"/>
              </a:rPr>
              <a:t>color</a:t>
            </a:r>
            <a:r>
              <a:rPr lang="tr-TR" sz="1400" dirty="0">
                <a:latin typeface="Consolas" panose="020B0609020204030204" pitchFamily="49" charset="0"/>
              </a:rPr>
              <a:t>: </a:t>
            </a:r>
            <a:r>
              <a:rPr lang="tr-TR" sz="1400" dirty="0" err="1">
                <a:latin typeface="Consolas" panose="020B0609020204030204" pitchFamily="49" charset="0"/>
              </a:rPr>
              <a:t>blue</a:t>
            </a:r>
            <a:r>
              <a:rPr lang="tr-TR" sz="1400" dirty="0"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latin typeface="Consolas" panose="020B0609020204030204" pitchFamily="49" charset="0"/>
              </a:rPr>
              <a:t>  </a:t>
            </a:r>
            <a:r>
              <a:rPr lang="tr-TR" sz="1400" dirty="0" err="1">
                <a:latin typeface="Consolas" panose="020B0609020204030204" pitchFamily="49" charset="0"/>
              </a:rPr>
              <a:t>color</a:t>
            </a:r>
            <a:r>
              <a:rPr lang="tr-TR" sz="1400" dirty="0">
                <a:latin typeface="Consolas" panose="020B0609020204030204" pitchFamily="49" charset="0"/>
              </a:rPr>
              <a:t>: </a:t>
            </a:r>
            <a:r>
              <a:rPr lang="tr-TR" sz="1400" dirty="0" err="1">
                <a:latin typeface="Consolas" panose="020B0609020204030204" pitchFamily="49" charset="0"/>
              </a:rPr>
              <a:t>white</a:t>
            </a:r>
            <a:r>
              <a:rPr lang="tr-TR" sz="1400" dirty="0"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latin typeface="Consolas" panose="020B0609020204030204" pitchFamily="49" charset="0"/>
              </a:rPr>
              <a:t>}</a:t>
            </a:r>
          </a:p>
          <a:p>
            <a:endParaRPr lang="tr-TR" sz="1400" dirty="0">
              <a:latin typeface="Consolas" panose="020B0609020204030204" pitchFamily="49" charset="0"/>
            </a:endParaRPr>
          </a:p>
          <a:p>
            <a:r>
              <a:rPr lang="tr-TR" sz="1400" dirty="0">
                <a:latin typeface="Consolas" panose="020B0609020204030204" pitchFamily="49" charset="0"/>
              </a:rPr>
              <a:t>.</a:t>
            </a:r>
            <a:r>
              <a:rPr lang="tr-TR" sz="1400" dirty="0" err="1">
                <a:latin typeface="Consolas" panose="020B0609020204030204" pitchFamily="49" charset="0"/>
              </a:rPr>
              <a:t>buton:hover</a:t>
            </a:r>
            <a:r>
              <a:rPr lang="tr-TR" sz="1400" dirty="0">
                <a:latin typeface="Consolas" panose="020B0609020204030204" pitchFamily="49" charset="0"/>
              </a:rPr>
              <a:t> {</a:t>
            </a:r>
          </a:p>
          <a:p>
            <a:r>
              <a:rPr lang="tr-TR" sz="1400" dirty="0">
                <a:latin typeface="Consolas" panose="020B0609020204030204" pitchFamily="49" charset="0"/>
              </a:rPr>
              <a:t>  background-</a:t>
            </a:r>
            <a:r>
              <a:rPr lang="tr-TR" sz="1400" dirty="0" err="1">
                <a:latin typeface="Consolas" panose="020B0609020204030204" pitchFamily="49" charset="0"/>
              </a:rPr>
              <a:t>color</a:t>
            </a:r>
            <a:r>
              <a:rPr lang="tr-TR" sz="1400" dirty="0">
                <a:latin typeface="Consolas" panose="020B0609020204030204" pitchFamily="49" charset="0"/>
              </a:rPr>
              <a:t>: </a:t>
            </a:r>
            <a:r>
              <a:rPr lang="tr-TR" sz="1400" dirty="0" err="1">
                <a:latin typeface="Consolas" panose="020B0609020204030204" pitchFamily="49" charset="0"/>
              </a:rPr>
              <a:t>darkblue</a:t>
            </a:r>
            <a:r>
              <a:rPr lang="tr-TR" sz="1400" dirty="0">
                <a:latin typeface="Consolas" panose="020B0609020204030204" pitchFamily="49" charset="0"/>
              </a:rPr>
              <a:t>; </a:t>
            </a:r>
          </a:p>
          <a:p>
            <a:r>
              <a:rPr lang="tr-TR" sz="1400" dirty="0">
                <a:latin typeface="Consolas" panose="020B0609020204030204" pitchFamily="49" charset="0"/>
              </a:rPr>
              <a:t>  </a:t>
            </a:r>
            <a:r>
              <a:rPr lang="tr-TR" sz="1000" dirty="0">
                <a:latin typeface="Consolas" panose="020B0609020204030204" pitchFamily="49" charset="0"/>
              </a:rPr>
              <a:t>/* Fare üzerine gelince renk koyulaşır */</a:t>
            </a:r>
            <a:endParaRPr lang="tr-TR" sz="1400" dirty="0">
              <a:latin typeface="Consolas" panose="020B0609020204030204" pitchFamily="49" charset="0"/>
            </a:endParaRPr>
          </a:p>
          <a:p>
            <a:r>
              <a:rPr lang="tr-TR" sz="1400" dirty="0">
                <a:latin typeface="Consolas" panose="020B0609020204030204" pitchFamily="49" charset="0"/>
              </a:rPr>
              <a:t>  </a:t>
            </a:r>
            <a:r>
              <a:rPr lang="tr-TR" sz="1400" dirty="0" err="1">
                <a:latin typeface="Consolas" panose="020B0609020204030204" pitchFamily="49" charset="0"/>
              </a:rPr>
              <a:t>cursor</a:t>
            </a:r>
            <a:r>
              <a:rPr lang="tr-TR" sz="1400" dirty="0">
                <a:latin typeface="Consolas" panose="020B0609020204030204" pitchFamily="49" charset="0"/>
              </a:rPr>
              <a:t>: </a:t>
            </a:r>
            <a:r>
              <a:rPr lang="tr-TR" sz="1400" dirty="0" err="1">
                <a:latin typeface="Consolas" panose="020B0609020204030204" pitchFamily="49" charset="0"/>
              </a:rPr>
              <a:t>pointer</a:t>
            </a:r>
            <a:r>
              <a:rPr lang="tr-TR" sz="1400" dirty="0">
                <a:latin typeface="Consolas" panose="020B0609020204030204" pitchFamily="49" charset="0"/>
              </a:rPr>
              <a:t>; </a:t>
            </a:r>
            <a:r>
              <a:rPr lang="tr-TR" sz="1000" dirty="0">
                <a:latin typeface="Consolas" panose="020B0609020204030204" pitchFamily="49" charset="0"/>
              </a:rPr>
              <a:t>/* Fare imleci el şekline dönüşür */</a:t>
            </a:r>
            <a:endParaRPr lang="tr-TR" sz="1400" dirty="0">
              <a:latin typeface="Consolas" panose="020B0609020204030204" pitchFamily="49" charset="0"/>
            </a:endParaRPr>
          </a:p>
          <a:p>
            <a:r>
              <a:rPr lang="tr-TR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5E7D2-0360-9559-70F8-E228011B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21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159579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7ED493-1DC5-C404-112B-D6271883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Temel CSS özellikleri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45CDD3-102E-92AC-B182-E71310403C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19262"/>
            <a:ext cx="4038600" cy="480608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tr-TR" sz="4000" b="1" dirty="0"/>
              <a:t>1. Metin ve Font Özellikleri (</a:t>
            </a:r>
            <a:r>
              <a:rPr lang="tr-TR" sz="4000" b="1" dirty="0" err="1"/>
              <a:t>Typography</a:t>
            </a:r>
            <a:r>
              <a:rPr lang="tr-TR" sz="4000" b="1" dirty="0"/>
              <a:t>)</a:t>
            </a:r>
          </a:p>
          <a:p>
            <a:pPr marL="0" indent="0">
              <a:buNone/>
            </a:pPr>
            <a:r>
              <a:rPr lang="tr-TR" sz="4000" dirty="0"/>
              <a:t>Yazıların tipini, boyutunu ve hizalamasını kontrol eder.</a:t>
            </a:r>
          </a:p>
          <a:p>
            <a:pPr marL="90488" indent="-90488"/>
            <a:r>
              <a:rPr lang="tr-TR" sz="4000" b="1" dirty="0"/>
              <a:t>font-</a:t>
            </a:r>
            <a:r>
              <a:rPr lang="tr-TR" sz="4000" b="1" dirty="0" err="1"/>
              <a:t>family</a:t>
            </a:r>
            <a:r>
              <a:rPr lang="tr-TR" sz="4000" b="1" dirty="0"/>
              <a:t>:</a:t>
            </a:r>
            <a:r>
              <a:rPr lang="tr-TR" sz="4000" dirty="0"/>
              <a:t> Yazı tipini belirler (</a:t>
            </a:r>
            <a:r>
              <a:rPr lang="tr-TR" sz="4000" dirty="0" err="1"/>
              <a:t>Örn</a:t>
            </a:r>
            <a:r>
              <a:rPr lang="tr-TR" sz="4000" dirty="0"/>
              <a:t>: </a:t>
            </a:r>
            <a:r>
              <a:rPr lang="tr-TR" sz="4000" dirty="0" err="1"/>
              <a:t>Arial</a:t>
            </a:r>
            <a:r>
              <a:rPr lang="tr-TR" sz="4000" dirty="0"/>
              <a:t>, 'Times New Roman').</a:t>
            </a:r>
          </a:p>
          <a:p>
            <a:pPr marL="90488" indent="-90488"/>
            <a:r>
              <a:rPr lang="tr-TR" sz="4000" b="1" dirty="0"/>
              <a:t>font-size:</a:t>
            </a:r>
            <a:r>
              <a:rPr lang="tr-TR" sz="4000" dirty="0"/>
              <a:t> Yazı boyutunu belirler (</a:t>
            </a:r>
            <a:r>
              <a:rPr lang="tr-TR" sz="4000" dirty="0" err="1"/>
              <a:t>px</a:t>
            </a:r>
            <a:r>
              <a:rPr lang="tr-TR" sz="4000" dirty="0"/>
              <a:t>, </a:t>
            </a:r>
            <a:r>
              <a:rPr lang="tr-TR" sz="4000" dirty="0" err="1"/>
              <a:t>rem</a:t>
            </a:r>
            <a:r>
              <a:rPr lang="tr-TR" sz="4000" dirty="0"/>
              <a:t>, em birimleri ile).</a:t>
            </a:r>
          </a:p>
          <a:p>
            <a:pPr marL="90488" indent="-90488"/>
            <a:r>
              <a:rPr lang="tr-TR" sz="4000" b="1" dirty="0"/>
              <a:t>font-</a:t>
            </a:r>
            <a:r>
              <a:rPr lang="tr-TR" sz="4000" b="1" dirty="0" err="1"/>
              <a:t>weight</a:t>
            </a:r>
            <a:r>
              <a:rPr lang="tr-TR" sz="4000" b="1" dirty="0"/>
              <a:t>:</a:t>
            </a:r>
            <a:r>
              <a:rPr lang="tr-TR" sz="4000" dirty="0"/>
              <a:t> Yazının kalınlığını belirler (</a:t>
            </a:r>
            <a:r>
              <a:rPr lang="tr-TR" sz="4000" dirty="0" err="1"/>
              <a:t>bold</a:t>
            </a:r>
            <a:r>
              <a:rPr lang="tr-TR" sz="4000" dirty="0"/>
              <a:t>, normal veya 100-900 arası değerler).</a:t>
            </a:r>
          </a:p>
          <a:p>
            <a:pPr marL="90488" indent="-90488"/>
            <a:r>
              <a:rPr lang="tr-TR" sz="4000" b="1" dirty="0" err="1"/>
              <a:t>color</a:t>
            </a:r>
            <a:r>
              <a:rPr lang="tr-TR" sz="4000" b="1" dirty="0"/>
              <a:t>:</a:t>
            </a:r>
            <a:r>
              <a:rPr lang="tr-TR" sz="4000" dirty="0"/>
              <a:t> Metnin rengini belirler.</a:t>
            </a:r>
          </a:p>
          <a:p>
            <a:pPr marL="90488" indent="-90488"/>
            <a:r>
              <a:rPr lang="tr-TR" sz="4000" b="1" dirty="0" err="1"/>
              <a:t>text-align</a:t>
            </a:r>
            <a:r>
              <a:rPr lang="tr-TR" sz="4000" b="1" dirty="0"/>
              <a:t>:</a:t>
            </a:r>
            <a:r>
              <a:rPr lang="tr-TR" sz="4000" dirty="0"/>
              <a:t> Metni hizalar (</a:t>
            </a:r>
            <a:r>
              <a:rPr lang="tr-TR" sz="4000" dirty="0" err="1"/>
              <a:t>left</a:t>
            </a:r>
            <a:r>
              <a:rPr lang="tr-TR" sz="4000" dirty="0"/>
              <a:t>, </a:t>
            </a:r>
            <a:r>
              <a:rPr lang="tr-TR" sz="4000" dirty="0" err="1"/>
              <a:t>center</a:t>
            </a:r>
            <a:r>
              <a:rPr lang="tr-TR" sz="4000" dirty="0"/>
              <a:t>, </a:t>
            </a:r>
            <a:r>
              <a:rPr lang="tr-TR" sz="4000" dirty="0" err="1"/>
              <a:t>right</a:t>
            </a:r>
            <a:r>
              <a:rPr lang="tr-TR" sz="4000" dirty="0"/>
              <a:t>, </a:t>
            </a:r>
            <a:r>
              <a:rPr lang="tr-TR" sz="4000" dirty="0" err="1"/>
              <a:t>justify</a:t>
            </a:r>
            <a:r>
              <a:rPr lang="tr-TR" sz="4000" dirty="0"/>
              <a:t>).</a:t>
            </a:r>
          </a:p>
          <a:p>
            <a:pPr marL="90488" indent="-90488"/>
            <a:r>
              <a:rPr lang="tr-TR" sz="4000" b="1" dirty="0" err="1"/>
              <a:t>text-decoration</a:t>
            </a:r>
            <a:r>
              <a:rPr lang="tr-TR" sz="4000" b="1" dirty="0"/>
              <a:t>:</a:t>
            </a:r>
            <a:r>
              <a:rPr lang="tr-TR" sz="4000" dirty="0"/>
              <a:t> Metne alt çizgi ekler veya kaldırır (</a:t>
            </a:r>
            <a:r>
              <a:rPr lang="tr-TR" sz="4000" dirty="0" err="1"/>
              <a:t>none</a:t>
            </a:r>
            <a:r>
              <a:rPr lang="tr-TR" sz="4000" dirty="0"/>
              <a:t>, </a:t>
            </a:r>
            <a:r>
              <a:rPr lang="tr-TR" sz="4000" dirty="0" err="1"/>
              <a:t>underline</a:t>
            </a:r>
            <a:r>
              <a:rPr lang="tr-TR" sz="4000" dirty="0"/>
              <a:t>).</a:t>
            </a:r>
          </a:p>
          <a:p>
            <a:pPr marL="0" indent="0">
              <a:buNone/>
            </a:pPr>
            <a:br>
              <a:rPr lang="tr-TR" sz="4000" dirty="0"/>
            </a:br>
            <a:endParaRPr lang="tr-TR" sz="4000" dirty="0"/>
          </a:p>
          <a:p>
            <a:pPr marL="0" indent="0">
              <a:buNone/>
            </a:pPr>
            <a:r>
              <a:rPr lang="tr-TR" sz="4000" b="1" dirty="0"/>
              <a:t>2. Renk ve Arka Plan (</a:t>
            </a:r>
            <a:r>
              <a:rPr lang="tr-TR" sz="4000" b="1" dirty="0" err="1"/>
              <a:t>Backgrounds</a:t>
            </a:r>
            <a:r>
              <a:rPr lang="tr-TR" sz="4000" b="1" dirty="0"/>
              <a:t>)</a:t>
            </a:r>
          </a:p>
          <a:p>
            <a:pPr marL="0" indent="0">
              <a:buNone/>
            </a:pPr>
            <a:r>
              <a:rPr lang="tr-TR" sz="4000" dirty="0"/>
              <a:t>Öğelerin renklerini ve arka plan görsellerini yönetir.</a:t>
            </a:r>
          </a:p>
          <a:p>
            <a:pPr marL="90488" indent="-90488"/>
            <a:r>
              <a:rPr lang="tr-TR" sz="4000" b="1" dirty="0"/>
              <a:t>background-</a:t>
            </a:r>
            <a:r>
              <a:rPr lang="tr-TR" sz="4000" b="1" dirty="0" err="1"/>
              <a:t>color</a:t>
            </a:r>
            <a:r>
              <a:rPr lang="tr-TR" sz="4000" b="1" dirty="0"/>
              <a:t>:</a:t>
            </a:r>
            <a:r>
              <a:rPr lang="tr-TR" sz="4000" dirty="0"/>
              <a:t> Arka plan rengini belirler.</a:t>
            </a:r>
          </a:p>
          <a:p>
            <a:pPr marL="90488" indent="-90488"/>
            <a:r>
              <a:rPr lang="tr-TR" sz="4000" b="1" dirty="0"/>
              <a:t>background-</a:t>
            </a:r>
            <a:r>
              <a:rPr lang="tr-TR" sz="4000" b="1" dirty="0" err="1"/>
              <a:t>image</a:t>
            </a:r>
            <a:r>
              <a:rPr lang="tr-TR" sz="4000" b="1" dirty="0"/>
              <a:t>:</a:t>
            </a:r>
            <a:r>
              <a:rPr lang="tr-TR" sz="4000" dirty="0"/>
              <a:t> Arka plana bir görsel ekler (url('resim.jpg')).</a:t>
            </a:r>
          </a:p>
          <a:p>
            <a:pPr marL="90488" indent="-90488"/>
            <a:r>
              <a:rPr lang="tr-TR" sz="4000" b="1" dirty="0"/>
              <a:t>background-size:</a:t>
            </a:r>
            <a:r>
              <a:rPr lang="tr-TR" sz="4000" dirty="0"/>
              <a:t> Görselin kapsama alanını belirler (</a:t>
            </a:r>
            <a:r>
              <a:rPr lang="tr-TR" sz="4000" dirty="0" err="1"/>
              <a:t>cover</a:t>
            </a:r>
            <a:r>
              <a:rPr lang="tr-TR" sz="4000" dirty="0"/>
              <a:t>, </a:t>
            </a:r>
            <a:r>
              <a:rPr lang="tr-TR" sz="4000" dirty="0" err="1"/>
              <a:t>contain</a:t>
            </a:r>
            <a:r>
              <a:rPr lang="tr-TR" sz="4000" dirty="0"/>
              <a:t>).</a:t>
            </a:r>
          </a:p>
          <a:p>
            <a:pPr marL="90488" indent="-90488"/>
            <a:r>
              <a:rPr lang="tr-TR" sz="4000" b="1" dirty="0" err="1"/>
              <a:t>opacity</a:t>
            </a:r>
            <a:r>
              <a:rPr lang="tr-TR" sz="4000" b="1" dirty="0"/>
              <a:t>:</a:t>
            </a:r>
            <a:r>
              <a:rPr lang="tr-TR" sz="4000" dirty="0"/>
              <a:t> Öğenin şeffaflığını ayarlar (0 ile 1 arası).</a:t>
            </a:r>
          </a:p>
          <a:p>
            <a:pPr marL="0" indent="0">
              <a:buNone/>
            </a:pPr>
            <a:br>
              <a:rPr lang="tr-TR" sz="4000" dirty="0"/>
            </a:br>
            <a:endParaRPr lang="tr-TR" sz="4000" dirty="0"/>
          </a:p>
          <a:p>
            <a:pPr marL="0" indent="0">
              <a:buNone/>
            </a:pPr>
            <a:r>
              <a:rPr lang="tr-TR" sz="4000" b="1" dirty="0"/>
              <a:t>3. Kutu Modeli (Box Model)</a:t>
            </a:r>
          </a:p>
          <a:p>
            <a:pPr marL="0" indent="0">
              <a:buNone/>
            </a:pPr>
            <a:r>
              <a:rPr lang="tr-TR" sz="4000" dirty="0"/>
              <a:t>Her HTML öğesinin etrafındaki alanı belirleyen en kritik gruptur.</a:t>
            </a:r>
          </a:p>
          <a:p>
            <a:pPr marL="90488" indent="-90488"/>
            <a:r>
              <a:rPr lang="tr-TR" sz="4000" b="1" dirty="0" err="1"/>
              <a:t>width</a:t>
            </a:r>
            <a:r>
              <a:rPr lang="tr-TR" sz="4000" b="1" dirty="0"/>
              <a:t> / </a:t>
            </a:r>
            <a:r>
              <a:rPr lang="tr-TR" sz="4000" b="1" dirty="0" err="1"/>
              <a:t>height</a:t>
            </a:r>
            <a:r>
              <a:rPr lang="tr-TR" sz="4000" b="1" dirty="0"/>
              <a:t>:</a:t>
            </a:r>
            <a:r>
              <a:rPr lang="tr-TR" sz="4000" dirty="0"/>
              <a:t> Öğenin genişlik ve yüksekliği.</a:t>
            </a:r>
          </a:p>
          <a:p>
            <a:pPr marL="90488" indent="-90488"/>
            <a:r>
              <a:rPr lang="tr-TR" sz="4000" b="1" dirty="0" err="1"/>
              <a:t>padding</a:t>
            </a:r>
            <a:r>
              <a:rPr lang="tr-TR" sz="4000" b="1" dirty="0"/>
              <a:t>:</a:t>
            </a:r>
            <a:r>
              <a:rPr lang="tr-TR" sz="4000" dirty="0"/>
              <a:t> İç boşluk (içerik ile kenarlık arasındaki mesafe).</a:t>
            </a:r>
          </a:p>
          <a:p>
            <a:pPr marL="90488" indent="-90488"/>
            <a:r>
              <a:rPr lang="tr-TR" sz="4000" b="1" dirty="0" err="1"/>
              <a:t>margin</a:t>
            </a:r>
            <a:r>
              <a:rPr lang="tr-TR" sz="4000" b="1" dirty="0"/>
              <a:t>:</a:t>
            </a:r>
            <a:r>
              <a:rPr lang="tr-TR" sz="4000" dirty="0"/>
              <a:t> Dış boşluk (öğenin diğer öğelerle arasındaki mesafe).</a:t>
            </a:r>
          </a:p>
          <a:p>
            <a:pPr marL="90488" indent="-90488"/>
            <a:r>
              <a:rPr lang="tr-TR" sz="4000" b="1" dirty="0" err="1"/>
              <a:t>border</a:t>
            </a:r>
            <a:r>
              <a:rPr lang="tr-TR" sz="4000" b="1" dirty="0"/>
              <a:t>:</a:t>
            </a:r>
            <a:r>
              <a:rPr lang="tr-TR" sz="4000" dirty="0"/>
              <a:t> Kenarlık (kalınlık, stil ve renk: 1px </a:t>
            </a:r>
            <a:r>
              <a:rPr lang="tr-TR" sz="4000" dirty="0" err="1"/>
              <a:t>solid</a:t>
            </a:r>
            <a:r>
              <a:rPr lang="tr-TR" sz="4000" dirty="0"/>
              <a:t> </a:t>
            </a:r>
            <a:r>
              <a:rPr lang="tr-TR" sz="4000" dirty="0" err="1"/>
              <a:t>black</a:t>
            </a:r>
            <a:r>
              <a:rPr lang="tr-TR" sz="4000" dirty="0"/>
              <a:t>).</a:t>
            </a:r>
          </a:p>
          <a:p>
            <a:pPr marL="90488" indent="-90488"/>
            <a:r>
              <a:rPr lang="tr-TR" sz="4000" b="1" dirty="0" err="1"/>
              <a:t>border-radius</a:t>
            </a:r>
            <a:r>
              <a:rPr lang="tr-TR" sz="4000" b="1" dirty="0"/>
              <a:t>:</a:t>
            </a:r>
            <a:r>
              <a:rPr lang="tr-TR" sz="4000" dirty="0"/>
              <a:t> Köşeleri yuvarlatır (örneğin butonları oval yapmak için).</a:t>
            </a:r>
          </a:p>
          <a:p>
            <a:pPr marL="0" indent="0">
              <a:buNone/>
            </a:pPr>
            <a:endParaRPr lang="tr-TR" dirty="0"/>
          </a:p>
          <a:p>
            <a:endParaRPr lang="tr-T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027655-1221-1B39-9E74-7735645FE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80608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tr-TR" b="1" dirty="0"/>
              <a:t>4. Yerleşim ve Düzen (</a:t>
            </a:r>
            <a:r>
              <a:rPr lang="tr-TR" b="1" dirty="0" err="1"/>
              <a:t>Layout</a:t>
            </a:r>
            <a:r>
              <a:rPr lang="tr-TR" b="1" dirty="0"/>
              <a:t>)</a:t>
            </a:r>
          </a:p>
          <a:p>
            <a:pPr marL="0" indent="0">
              <a:buNone/>
            </a:pPr>
            <a:r>
              <a:rPr lang="tr-TR" dirty="0"/>
              <a:t>Öğelerin sayfa üzerindeki konumunu belirler.</a:t>
            </a:r>
          </a:p>
          <a:p>
            <a:pPr marL="90488" indent="-90488"/>
            <a:r>
              <a:rPr lang="tr-TR" b="1" dirty="0" err="1"/>
              <a:t>display</a:t>
            </a:r>
            <a:r>
              <a:rPr lang="tr-TR" b="1" dirty="0"/>
              <a:t>:</a:t>
            </a:r>
            <a:r>
              <a:rPr lang="tr-TR" dirty="0"/>
              <a:t> Öğenin nasıl davranacağını belirler (</a:t>
            </a:r>
            <a:r>
              <a:rPr lang="tr-TR" dirty="0" err="1"/>
              <a:t>block</a:t>
            </a:r>
            <a:r>
              <a:rPr lang="tr-TR" dirty="0"/>
              <a:t>, inline, </a:t>
            </a:r>
            <a:r>
              <a:rPr lang="tr-TR" dirty="0" err="1"/>
              <a:t>flex</a:t>
            </a:r>
            <a:r>
              <a:rPr lang="tr-TR" dirty="0"/>
              <a:t>, grid, </a:t>
            </a:r>
            <a:r>
              <a:rPr lang="tr-TR" dirty="0" err="1"/>
              <a:t>none</a:t>
            </a:r>
            <a:r>
              <a:rPr lang="tr-TR" dirty="0"/>
              <a:t>).</a:t>
            </a:r>
          </a:p>
          <a:p>
            <a:pPr marL="90488" indent="-90488"/>
            <a:r>
              <a:rPr lang="tr-TR" b="1" dirty="0" err="1"/>
              <a:t>position</a:t>
            </a:r>
            <a:r>
              <a:rPr lang="tr-TR" b="1" dirty="0"/>
              <a:t>:</a:t>
            </a:r>
            <a:r>
              <a:rPr lang="tr-TR" dirty="0"/>
              <a:t> Konumlandırma türü (</a:t>
            </a:r>
            <a:r>
              <a:rPr lang="tr-TR" dirty="0" err="1"/>
              <a:t>static</a:t>
            </a:r>
            <a:r>
              <a:rPr lang="tr-TR" dirty="0"/>
              <a:t>, </a:t>
            </a:r>
            <a:r>
              <a:rPr lang="tr-TR" dirty="0" err="1"/>
              <a:t>relative</a:t>
            </a:r>
            <a:r>
              <a:rPr lang="tr-TR" dirty="0"/>
              <a:t>, </a:t>
            </a:r>
            <a:r>
              <a:rPr lang="tr-TR" dirty="0" err="1"/>
              <a:t>absolute</a:t>
            </a:r>
            <a:r>
              <a:rPr lang="tr-TR" dirty="0"/>
              <a:t>, </a:t>
            </a:r>
            <a:r>
              <a:rPr lang="tr-TR" dirty="0" err="1"/>
              <a:t>fixed</a:t>
            </a:r>
            <a:r>
              <a:rPr lang="tr-TR" dirty="0"/>
              <a:t>, </a:t>
            </a:r>
            <a:r>
              <a:rPr lang="tr-TR" dirty="0" err="1"/>
              <a:t>sticky</a:t>
            </a:r>
            <a:r>
              <a:rPr lang="tr-TR" dirty="0"/>
              <a:t>).</a:t>
            </a:r>
          </a:p>
          <a:p>
            <a:pPr marL="90488" indent="-90488"/>
            <a:r>
              <a:rPr lang="tr-TR" b="1" dirty="0"/>
              <a:t>top, </a:t>
            </a:r>
            <a:r>
              <a:rPr lang="tr-TR" b="1" dirty="0" err="1"/>
              <a:t>right</a:t>
            </a:r>
            <a:r>
              <a:rPr lang="tr-TR" b="1" dirty="0"/>
              <a:t>, </a:t>
            </a:r>
            <a:r>
              <a:rPr lang="tr-TR" b="1" dirty="0" err="1"/>
              <a:t>bottom</a:t>
            </a:r>
            <a:r>
              <a:rPr lang="tr-TR" b="1" dirty="0"/>
              <a:t>, </a:t>
            </a:r>
            <a:r>
              <a:rPr lang="tr-TR" b="1" dirty="0" err="1"/>
              <a:t>left</a:t>
            </a:r>
            <a:r>
              <a:rPr lang="tr-TR" b="1" dirty="0"/>
              <a:t>:</a:t>
            </a:r>
            <a:r>
              <a:rPr lang="tr-TR" dirty="0"/>
              <a:t> Konumlandırılmış öğelerin koordinatları.</a:t>
            </a:r>
          </a:p>
          <a:p>
            <a:pPr marL="90488" indent="-90488"/>
            <a:r>
              <a:rPr lang="tr-TR" b="1" dirty="0"/>
              <a:t>z-</a:t>
            </a:r>
            <a:r>
              <a:rPr lang="tr-TR" b="1" dirty="0" err="1"/>
              <a:t>index</a:t>
            </a:r>
            <a:r>
              <a:rPr lang="tr-TR" b="1" dirty="0"/>
              <a:t>:</a:t>
            </a:r>
            <a:r>
              <a:rPr lang="tr-TR" dirty="0"/>
              <a:t> Öğelerin üst üste binme sırasını belirler.</a:t>
            </a:r>
          </a:p>
          <a:p>
            <a:pPr marL="0" indent="0">
              <a:buNone/>
            </a:pPr>
            <a:br>
              <a:rPr lang="tr-TR" dirty="0"/>
            </a:br>
            <a:endParaRPr lang="tr-TR" dirty="0"/>
          </a:p>
          <a:p>
            <a:pPr marL="0" indent="0">
              <a:buNone/>
            </a:pPr>
            <a:r>
              <a:rPr lang="tr-TR" b="1" dirty="0"/>
              <a:t>5. Modern Düzen Araçları (</a:t>
            </a:r>
            <a:r>
              <a:rPr lang="tr-TR" b="1" dirty="0" err="1"/>
              <a:t>Flexbox</a:t>
            </a:r>
            <a:r>
              <a:rPr lang="tr-TR" b="1" dirty="0"/>
              <a:t> &amp; Grid)</a:t>
            </a:r>
          </a:p>
          <a:p>
            <a:pPr marL="0" indent="0">
              <a:buNone/>
            </a:pPr>
            <a:r>
              <a:rPr lang="tr-TR" dirty="0"/>
              <a:t>Karmaşık tasarımları kolayca yapmak için kullanılır.</a:t>
            </a:r>
          </a:p>
          <a:p>
            <a:pPr marL="90488" indent="-90488"/>
            <a:r>
              <a:rPr lang="tr-TR" b="1" dirty="0" err="1"/>
              <a:t>flex-direction</a:t>
            </a:r>
            <a:r>
              <a:rPr lang="tr-TR" b="1" dirty="0"/>
              <a:t>:</a:t>
            </a:r>
            <a:r>
              <a:rPr lang="tr-TR" dirty="0"/>
              <a:t> Esnek öğelerin dizilim yönü (</a:t>
            </a:r>
            <a:r>
              <a:rPr lang="tr-TR" dirty="0" err="1"/>
              <a:t>row</a:t>
            </a:r>
            <a:r>
              <a:rPr lang="tr-TR" dirty="0"/>
              <a:t>, </a:t>
            </a:r>
            <a:r>
              <a:rPr lang="tr-TR" dirty="0" err="1"/>
              <a:t>column</a:t>
            </a:r>
            <a:r>
              <a:rPr lang="tr-TR" dirty="0"/>
              <a:t>).</a:t>
            </a:r>
          </a:p>
          <a:p>
            <a:pPr marL="90488" indent="-90488"/>
            <a:r>
              <a:rPr lang="tr-TR" b="1" dirty="0" err="1"/>
              <a:t>justify-content</a:t>
            </a:r>
            <a:r>
              <a:rPr lang="tr-TR" b="1" dirty="0"/>
              <a:t>:</a:t>
            </a:r>
            <a:r>
              <a:rPr lang="tr-TR" dirty="0"/>
              <a:t> Ana eksen üzerinde hizalama (</a:t>
            </a:r>
            <a:r>
              <a:rPr lang="tr-TR" dirty="0" err="1"/>
              <a:t>center</a:t>
            </a:r>
            <a:r>
              <a:rPr lang="tr-TR" dirty="0"/>
              <a:t>, </a:t>
            </a:r>
            <a:r>
              <a:rPr lang="tr-TR" dirty="0" err="1"/>
              <a:t>space-between</a:t>
            </a:r>
            <a:r>
              <a:rPr lang="tr-TR" dirty="0"/>
              <a:t>).</a:t>
            </a:r>
          </a:p>
          <a:p>
            <a:pPr marL="90488" indent="-90488"/>
            <a:r>
              <a:rPr lang="tr-TR" b="1" dirty="0" err="1"/>
              <a:t>align-items</a:t>
            </a:r>
            <a:r>
              <a:rPr lang="tr-TR" b="1" dirty="0"/>
              <a:t>:</a:t>
            </a:r>
            <a:r>
              <a:rPr lang="tr-TR" dirty="0"/>
              <a:t> Yan eksen üzerinde hizalama.</a:t>
            </a:r>
          </a:p>
          <a:p>
            <a:pPr marL="90488" indent="-90488"/>
            <a:r>
              <a:rPr lang="tr-TR" b="1" dirty="0" err="1"/>
              <a:t>gap</a:t>
            </a:r>
            <a:r>
              <a:rPr lang="tr-TR" b="1" dirty="0"/>
              <a:t>:</a:t>
            </a:r>
            <a:r>
              <a:rPr lang="tr-TR" dirty="0"/>
              <a:t> Izgara veya esnek kutu öğeleri arasındaki boşluk.</a:t>
            </a:r>
          </a:p>
          <a:p>
            <a:pPr marL="0" indent="0">
              <a:buNone/>
            </a:pPr>
            <a:br>
              <a:rPr lang="tr-TR" dirty="0"/>
            </a:br>
            <a:endParaRPr lang="tr-TR" dirty="0"/>
          </a:p>
          <a:p>
            <a:pPr marL="0" indent="0">
              <a:buNone/>
            </a:pPr>
            <a:r>
              <a:rPr lang="tr-TR" b="1" dirty="0"/>
              <a:t>6. Geçişler ve Efektler (</a:t>
            </a:r>
            <a:r>
              <a:rPr lang="tr-TR" b="1" dirty="0" err="1"/>
              <a:t>Transitions</a:t>
            </a:r>
            <a:r>
              <a:rPr lang="tr-TR" b="1" dirty="0"/>
              <a:t>)</a:t>
            </a:r>
          </a:p>
          <a:p>
            <a:pPr marL="0" indent="0">
              <a:buNone/>
            </a:pPr>
            <a:r>
              <a:rPr lang="tr-TR" dirty="0"/>
              <a:t>Etkileşimleri daha akıcı hale getirir.</a:t>
            </a:r>
          </a:p>
          <a:p>
            <a:pPr marL="90488" indent="-90488"/>
            <a:r>
              <a:rPr lang="tr-TR" b="1" dirty="0" err="1"/>
              <a:t>transition</a:t>
            </a:r>
            <a:r>
              <a:rPr lang="tr-TR" b="1" dirty="0"/>
              <a:t>:</a:t>
            </a:r>
            <a:r>
              <a:rPr lang="tr-TR" dirty="0"/>
              <a:t> Bir özelliğin değişim süresini belirler (</a:t>
            </a:r>
            <a:r>
              <a:rPr lang="tr-TR" dirty="0" err="1"/>
              <a:t>Örn</a:t>
            </a:r>
            <a:r>
              <a:rPr lang="tr-TR" dirty="0"/>
              <a:t>: </a:t>
            </a:r>
            <a:r>
              <a:rPr lang="tr-TR" dirty="0" err="1"/>
              <a:t>transition</a:t>
            </a:r>
            <a:r>
              <a:rPr lang="tr-TR" dirty="0"/>
              <a:t>: background 0.3s </a:t>
            </a:r>
            <a:r>
              <a:rPr lang="tr-TR" dirty="0" err="1"/>
              <a:t>ease</a:t>
            </a:r>
            <a:r>
              <a:rPr lang="tr-TR" dirty="0"/>
              <a:t>;).</a:t>
            </a:r>
          </a:p>
          <a:p>
            <a:pPr marL="90488" indent="-90488"/>
            <a:r>
              <a:rPr lang="tr-TR" b="1" dirty="0" err="1"/>
              <a:t>box-shadow</a:t>
            </a:r>
            <a:r>
              <a:rPr lang="tr-TR" b="1" dirty="0"/>
              <a:t>:</a:t>
            </a:r>
            <a:r>
              <a:rPr lang="tr-TR" dirty="0"/>
              <a:t> Öğeye gölge ekler.</a:t>
            </a:r>
          </a:p>
          <a:p>
            <a:pPr marL="90488" indent="-90488"/>
            <a:r>
              <a:rPr lang="tr-TR" b="1" dirty="0" err="1"/>
              <a:t>cursor</a:t>
            </a:r>
            <a:r>
              <a:rPr lang="tr-TR" b="1" dirty="0"/>
              <a:t>:</a:t>
            </a:r>
            <a:r>
              <a:rPr lang="tr-TR" dirty="0"/>
              <a:t> Fare imlecinin şeklini değiştirir (</a:t>
            </a:r>
            <a:r>
              <a:rPr lang="tr-TR" dirty="0" err="1"/>
              <a:t>pointer</a:t>
            </a:r>
            <a:r>
              <a:rPr lang="tr-TR" dirty="0"/>
              <a:t>, </a:t>
            </a:r>
            <a:r>
              <a:rPr lang="tr-TR" dirty="0" err="1"/>
              <a:t>default</a:t>
            </a:r>
            <a:r>
              <a:rPr lang="tr-TR" dirty="0"/>
              <a:t>).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0DC9D-34E3-D7F5-A945-FE931C4B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22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056525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3434F-C8DE-1983-2959-5AC000F1C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B442-F091-64A5-3678-E709096EC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Duyarlı</a:t>
            </a:r>
            <a:r>
              <a:rPr lang="en-US" dirty="0"/>
              <a:t> (Responsive) </a:t>
            </a:r>
            <a:r>
              <a:rPr lang="en-US" dirty="0" err="1"/>
              <a:t>Tasarım</a:t>
            </a:r>
            <a:endParaRPr lang="tr-TR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ECA709-D6F9-E392-4D8F-2D2D46C67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427984" y="416791"/>
            <a:ext cx="3312368" cy="3281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AF831-DE86-2547-74E6-DEEC3F686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458491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Bir web </a:t>
            </a:r>
            <a:r>
              <a:rPr lang="en-US" sz="1800" dirty="0" err="1"/>
              <a:t>sitesinin</a:t>
            </a:r>
            <a:r>
              <a:rPr lang="en-US" sz="1800" dirty="0"/>
              <a:t> </a:t>
            </a:r>
            <a:r>
              <a:rPr lang="en-US" sz="1800" dirty="0" err="1"/>
              <a:t>ekran</a:t>
            </a:r>
            <a:r>
              <a:rPr lang="en-US" sz="1800" dirty="0"/>
              <a:t> </a:t>
            </a:r>
            <a:r>
              <a:rPr lang="en-US" sz="1800" dirty="0" err="1"/>
              <a:t>boyutuna</a:t>
            </a:r>
            <a:r>
              <a:rPr lang="en-US" sz="1800" dirty="0"/>
              <a:t>, </a:t>
            </a:r>
            <a:r>
              <a:rPr lang="en-US" sz="1800" dirty="0" err="1"/>
              <a:t>platformuna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yönüne</a:t>
            </a:r>
            <a:r>
              <a:rPr lang="en-US" sz="1800" dirty="0"/>
              <a:t> (</a:t>
            </a:r>
            <a:r>
              <a:rPr lang="en-US" sz="1800" dirty="0" err="1"/>
              <a:t>yatay</a:t>
            </a:r>
            <a:r>
              <a:rPr lang="en-US" sz="1800" dirty="0"/>
              <a:t>/</a:t>
            </a:r>
            <a:r>
              <a:rPr lang="en-US" sz="1800" dirty="0" err="1"/>
              <a:t>dikey</a:t>
            </a:r>
            <a:r>
              <a:rPr lang="en-US" sz="1800" dirty="0"/>
              <a:t>) </a:t>
            </a:r>
            <a:r>
              <a:rPr lang="en-US" sz="1800" dirty="0" err="1"/>
              <a:t>göre</a:t>
            </a:r>
            <a:r>
              <a:rPr lang="en-US" sz="1800" dirty="0"/>
              <a:t> </a:t>
            </a:r>
            <a:r>
              <a:rPr lang="en-US" sz="1800" dirty="0" err="1"/>
              <a:t>kendini</a:t>
            </a:r>
            <a:r>
              <a:rPr lang="en-US" sz="1800" dirty="0"/>
              <a:t> </a:t>
            </a:r>
            <a:r>
              <a:rPr lang="en-US" sz="1800" dirty="0" err="1"/>
              <a:t>otomatik</a:t>
            </a:r>
            <a:r>
              <a:rPr lang="en-US" sz="1800" dirty="0"/>
              <a:t> </a:t>
            </a:r>
            <a:r>
              <a:rPr lang="en-US" sz="1800" dirty="0" err="1"/>
              <a:t>olarak</a:t>
            </a:r>
            <a:r>
              <a:rPr lang="en-US" sz="1800" dirty="0"/>
              <a:t> </a:t>
            </a:r>
            <a:r>
              <a:rPr lang="en-US" sz="1800" dirty="0" err="1"/>
              <a:t>uyarlamasıdır</a:t>
            </a:r>
            <a:r>
              <a:rPr lang="en-US" sz="1800" dirty="0"/>
              <a:t>.</a:t>
            </a:r>
            <a:endParaRPr lang="tr-TR" sz="1800" dirty="0"/>
          </a:p>
          <a:p>
            <a:r>
              <a:rPr lang="en-US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Sitenizin</a:t>
            </a:r>
            <a:r>
              <a:rPr lang="en-US" sz="1800" dirty="0"/>
              <a:t> hem </a:t>
            </a:r>
            <a:r>
              <a:rPr lang="en-US" sz="1800" dirty="0" err="1"/>
              <a:t>geniş</a:t>
            </a:r>
            <a:r>
              <a:rPr lang="en-US" sz="1800" dirty="0"/>
              <a:t> </a:t>
            </a:r>
            <a:r>
              <a:rPr lang="en-US" sz="1800" dirty="0" err="1"/>
              <a:t>bir</a:t>
            </a:r>
            <a:r>
              <a:rPr lang="en-US" sz="1800" dirty="0"/>
              <a:t> </a:t>
            </a:r>
            <a:r>
              <a:rPr lang="en-US" sz="1800" dirty="0" err="1"/>
              <a:t>masaüstü</a:t>
            </a:r>
            <a:r>
              <a:rPr lang="en-US" sz="1800" dirty="0"/>
              <a:t> </a:t>
            </a:r>
            <a:r>
              <a:rPr lang="en-US" sz="1800" dirty="0" err="1"/>
              <a:t>monitörde</a:t>
            </a:r>
            <a:r>
              <a:rPr lang="en-US" sz="1800" dirty="0"/>
              <a:t>, hem </a:t>
            </a:r>
            <a:r>
              <a:rPr lang="en-US" sz="1800" dirty="0" err="1"/>
              <a:t>bir</a:t>
            </a:r>
            <a:r>
              <a:rPr lang="en-US" sz="1800" dirty="0"/>
              <a:t> </a:t>
            </a:r>
            <a:r>
              <a:rPr lang="en-US" sz="1800" dirty="0" err="1"/>
              <a:t>tablette</a:t>
            </a:r>
            <a:r>
              <a:rPr lang="en-US" sz="1800" dirty="0"/>
              <a:t>, hem de </a:t>
            </a:r>
            <a:r>
              <a:rPr lang="en-US" sz="1800" dirty="0" err="1"/>
              <a:t>dar</a:t>
            </a:r>
            <a:r>
              <a:rPr lang="en-US" sz="1800" dirty="0"/>
              <a:t> </a:t>
            </a:r>
            <a:r>
              <a:rPr lang="en-US" sz="1800" dirty="0" err="1"/>
              <a:t>bir</a:t>
            </a:r>
            <a:r>
              <a:rPr lang="en-US" sz="1800" dirty="0"/>
              <a:t> </a:t>
            </a:r>
            <a:r>
              <a:rPr lang="en-US" sz="1800" dirty="0" err="1"/>
              <a:t>akıllı</a:t>
            </a:r>
            <a:r>
              <a:rPr lang="en-US" sz="1800" dirty="0"/>
              <a:t> </a:t>
            </a:r>
            <a:r>
              <a:rPr lang="en-US" sz="1800" dirty="0" err="1"/>
              <a:t>telefon</a:t>
            </a:r>
            <a:r>
              <a:rPr lang="en-US" sz="1800" dirty="0"/>
              <a:t> </a:t>
            </a:r>
            <a:r>
              <a:rPr lang="en-US" sz="1800" dirty="0" err="1"/>
              <a:t>ekranında</a:t>
            </a:r>
            <a:r>
              <a:rPr lang="en-US" sz="1800" dirty="0"/>
              <a:t> </a:t>
            </a:r>
            <a:r>
              <a:rPr lang="en-US" sz="1800" dirty="0" err="1"/>
              <a:t>mükemmel</a:t>
            </a:r>
            <a:r>
              <a:rPr lang="en-US" sz="1800" dirty="0"/>
              <a:t> </a:t>
            </a:r>
            <a:r>
              <a:rPr lang="en-US" sz="1800" dirty="0" err="1"/>
              <a:t>görünmesini</a:t>
            </a:r>
            <a:r>
              <a:rPr lang="en-US" sz="1800" dirty="0"/>
              <a:t> </a:t>
            </a:r>
            <a:r>
              <a:rPr lang="en-US" sz="1800" dirty="0" err="1"/>
              <a:t>sağlayan</a:t>
            </a:r>
            <a:r>
              <a:rPr lang="en-US" sz="1800" dirty="0"/>
              <a:t> </a:t>
            </a:r>
            <a:r>
              <a:rPr lang="en-US" sz="1800" dirty="0" err="1"/>
              <a:t>tekniktir</a:t>
            </a:r>
            <a:r>
              <a:rPr lang="en-US" sz="18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120AF2-DF91-9134-0714-7FE9FD8F2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288" y="3501008"/>
            <a:ext cx="1545510" cy="33569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A133FA-057D-4795-CA21-781BB8A5F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954" y="3285318"/>
            <a:ext cx="2516193" cy="33569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54FFD9-94C5-9B0A-7561-69FE51DA89CD}"/>
              </a:ext>
            </a:extLst>
          </p:cNvPr>
          <p:cNvSpPr txBox="1"/>
          <p:nvPr/>
        </p:nvSpPr>
        <p:spPr>
          <a:xfrm>
            <a:off x="4175350" y="35932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  <a:endParaRPr lang="tr-T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1CD69F-BBC4-FD8E-453D-A50011E0FAAA}"/>
              </a:ext>
            </a:extLst>
          </p:cNvPr>
          <p:cNvSpPr txBox="1"/>
          <p:nvPr/>
        </p:nvSpPr>
        <p:spPr>
          <a:xfrm>
            <a:off x="8062356" y="3316342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iPhone</a:t>
            </a:r>
            <a:endParaRPr lang="tr-T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7738B9-39F1-8FBB-F86B-FEBE1C396B1A}"/>
              </a:ext>
            </a:extLst>
          </p:cNvPr>
          <p:cNvSpPr txBox="1"/>
          <p:nvPr/>
        </p:nvSpPr>
        <p:spPr>
          <a:xfrm>
            <a:off x="3650830" y="5733256"/>
            <a:ext cx="80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Tablet</a:t>
            </a:r>
            <a:endParaRPr lang="tr-TR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A67FDF5-72CE-EBC3-9DD1-1A389EC92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37F55A-D849-487D-AD41-D5F73529ED98}" type="slidenum">
              <a:rPr lang="tr-TR" altLang="en-US" smtClean="0"/>
              <a:pPr>
                <a:defRPr/>
              </a:pPr>
              <a:t>23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345981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B0A95AA-49A9-186E-784B-57330AEC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Duyarlı</a:t>
            </a:r>
            <a:r>
              <a:rPr lang="en-US" dirty="0"/>
              <a:t> (Responsive) </a:t>
            </a:r>
            <a:r>
              <a:rPr lang="en-US" dirty="0" err="1"/>
              <a:t>Tasarım</a:t>
            </a:r>
            <a:r>
              <a:rPr lang="tr-TR" dirty="0"/>
              <a:t> avantajları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D7B8B8-3B11-1EEC-F9D3-F04B9B951C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3200" dirty="0"/>
              <a:t>W</a:t>
            </a:r>
            <a:r>
              <a:rPr lang="tr-TR" sz="3200" dirty="0" err="1"/>
              <a:t>eb</a:t>
            </a:r>
            <a:r>
              <a:rPr lang="tr-TR" sz="3200" dirty="0"/>
              <a:t> sitesi üzerinde gösterilmeye çalışılan farklı tasarımları ve görüntüleri kayıp olmadan her ekran boyutuna özel hale getirmeye yarar.</a:t>
            </a:r>
          </a:p>
          <a:p>
            <a:endParaRPr lang="tr-TR" sz="3200" dirty="0"/>
          </a:p>
          <a:p>
            <a:r>
              <a:rPr lang="tr-TR" sz="3200" dirty="0"/>
              <a:t>Google, </a:t>
            </a:r>
            <a:r>
              <a:rPr lang="tr-TR" sz="3200" dirty="0" err="1"/>
              <a:t>responsive</a:t>
            </a:r>
            <a:r>
              <a:rPr lang="tr-TR" sz="3200" dirty="0"/>
              <a:t> tasarım kullanan web sitelerine daha yüksek sıralamalar verir</a:t>
            </a:r>
            <a:r>
              <a:rPr lang="en-US" sz="3200" dirty="0"/>
              <a:t>, </a:t>
            </a:r>
            <a:r>
              <a:rPr lang="tr-TR" sz="3200" dirty="0"/>
              <a:t>arama motorlarında daha yüksek sıralamalar </a:t>
            </a:r>
            <a:r>
              <a:rPr lang="en-US" sz="3200" dirty="0" err="1"/>
              <a:t>alır</a:t>
            </a:r>
            <a:r>
              <a:rPr lang="tr-TR" sz="3200" dirty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endParaRPr lang="tr-T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686DBC-9988-039B-20B2-FA61F539BE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tr-TR" sz="3200" dirty="0" err="1"/>
              <a:t>Responsive</a:t>
            </a:r>
            <a:r>
              <a:rPr lang="tr-TR" sz="3200" dirty="0"/>
              <a:t> tasarım sayesinde, web siteniz farklı cihazlarda düzgün bir şekilde görüntülenir, kullanıcı deneyimini</a:t>
            </a:r>
            <a:r>
              <a:rPr lang="en-US" sz="3200" dirty="0"/>
              <a:t> (UX/UI)</a:t>
            </a:r>
            <a:r>
              <a:rPr lang="tr-TR" sz="3200" dirty="0"/>
              <a:t> iyileştirir ve bu sayede daha fazla ziyaretçi ve müşteri çekersiniz.</a:t>
            </a:r>
          </a:p>
          <a:p>
            <a:endParaRPr lang="tr-TR" sz="3200" dirty="0"/>
          </a:p>
          <a:p>
            <a:r>
              <a:rPr lang="tr-TR" sz="3200" dirty="0" err="1"/>
              <a:t>Responsive</a:t>
            </a:r>
            <a:r>
              <a:rPr lang="tr-TR" sz="3200" dirty="0"/>
              <a:t> tasarım, web sitesi tasarımı sırasında kullanılan HTML, CSS ve JavaScript gibi teknolojilerle gerçekleştirilir. Bu teknolojiler sayesinde, web sitesi tasarımı sırasında cihaz özelliklerine göre ölçüler belirlenir ve site düzgün bir şekilde görüntülenir. 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EBC7B-224E-2B2D-B8E1-EE91A898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37F55A-D849-487D-AD41-D5F73529ED98}" type="slidenum">
              <a:rPr lang="tr-TR" altLang="en-US" smtClean="0"/>
              <a:pPr>
                <a:defRPr/>
              </a:pPr>
              <a:t>24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789366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14A66-1880-F99C-8588-4F63A17DC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Esnek Izgara Yapısı </a:t>
            </a:r>
            <a:br>
              <a:rPr lang="tr-TR" dirty="0"/>
            </a:br>
            <a:r>
              <a:rPr lang="nl-NL" dirty="0"/>
              <a:t>(Fluid Grids)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595D9-C313-044E-3DC7-0637420AE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2657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/* Masaüstü için varsayılan: 3 sütun */</a:t>
            </a:r>
          </a:p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.galeri { </a:t>
            </a:r>
            <a:r>
              <a:rPr lang="tr-TR" sz="1100" dirty="0" err="1">
                <a:latin typeface="Consolas" panose="020B0609020204030204" pitchFamily="49" charset="0"/>
              </a:rPr>
              <a:t>display</a:t>
            </a:r>
            <a:r>
              <a:rPr lang="tr-TR" sz="1100" dirty="0">
                <a:latin typeface="Consolas" panose="020B0609020204030204" pitchFamily="49" charset="0"/>
              </a:rPr>
              <a:t>: grid; grid-</a:t>
            </a:r>
            <a:r>
              <a:rPr lang="tr-TR" sz="1100" dirty="0" err="1">
                <a:latin typeface="Consolas" panose="020B0609020204030204" pitchFamily="49" charset="0"/>
              </a:rPr>
              <a:t>template</a:t>
            </a:r>
            <a:r>
              <a:rPr lang="tr-TR" sz="1100" dirty="0">
                <a:latin typeface="Consolas" panose="020B0609020204030204" pitchFamily="49" charset="0"/>
              </a:rPr>
              <a:t>-</a:t>
            </a:r>
            <a:r>
              <a:rPr lang="tr-TR" sz="1100" dirty="0" err="1">
                <a:latin typeface="Consolas" panose="020B0609020204030204" pitchFamily="49" charset="0"/>
              </a:rPr>
              <a:t>columns</a:t>
            </a:r>
            <a:r>
              <a:rPr lang="tr-TR" sz="1100" dirty="0">
                <a:latin typeface="Consolas" panose="020B0609020204030204" pitchFamily="49" charset="0"/>
              </a:rPr>
              <a:t>: 1fr </a:t>
            </a:r>
            <a:r>
              <a:rPr lang="tr-TR" sz="1100" dirty="0" err="1">
                <a:latin typeface="Consolas" panose="020B0609020204030204" pitchFamily="49" charset="0"/>
              </a:rPr>
              <a:t>1fr</a:t>
            </a:r>
            <a:r>
              <a:rPr lang="tr-TR" sz="1100" dirty="0">
                <a:latin typeface="Consolas" panose="020B0609020204030204" pitchFamily="49" charset="0"/>
              </a:rPr>
              <a:t> </a:t>
            </a:r>
            <a:r>
              <a:rPr lang="tr-TR" sz="1100" dirty="0" err="1">
                <a:latin typeface="Consolas" panose="020B0609020204030204" pitchFamily="49" charset="0"/>
              </a:rPr>
              <a:t>1fr</a:t>
            </a:r>
            <a:r>
              <a:rPr lang="tr-TR" sz="1100" dirty="0"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endParaRPr lang="tr-TR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/* Ekran 768px'den küçükse (Tablet): 2 sütun yap */</a:t>
            </a:r>
          </a:p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@media (</a:t>
            </a:r>
            <a:r>
              <a:rPr lang="tr-TR" sz="1100" dirty="0" err="1">
                <a:latin typeface="Consolas" panose="020B0609020204030204" pitchFamily="49" charset="0"/>
              </a:rPr>
              <a:t>max-width</a:t>
            </a:r>
            <a:r>
              <a:rPr lang="tr-TR" sz="1100" dirty="0">
                <a:latin typeface="Consolas" panose="020B0609020204030204" pitchFamily="49" charset="0"/>
              </a:rPr>
              <a:t>: 768px) {</a:t>
            </a:r>
          </a:p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  .galeri { grid-</a:t>
            </a:r>
            <a:r>
              <a:rPr lang="tr-TR" sz="1100" dirty="0" err="1">
                <a:latin typeface="Consolas" panose="020B0609020204030204" pitchFamily="49" charset="0"/>
              </a:rPr>
              <a:t>template</a:t>
            </a:r>
            <a:r>
              <a:rPr lang="tr-TR" sz="1100" dirty="0">
                <a:latin typeface="Consolas" panose="020B0609020204030204" pitchFamily="49" charset="0"/>
              </a:rPr>
              <a:t>-</a:t>
            </a:r>
            <a:r>
              <a:rPr lang="tr-TR" sz="1100" dirty="0" err="1">
                <a:latin typeface="Consolas" panose="020B0609020204030204" pitchFamily="49" charset="0"/>
              </a:rPr>
              <a:t>columns</a:t>
            </a:r>
            <a:r>
              <a:rPr lang="tr-TR" sz="1100" dirty="0">
                <a:latin typeface="Consolas" panose="020B0609020204030204" pitchFamily="49" charset="0"/>
              </a:rPr>
              <a:t>: 1fr </a:t>
            </a:r>
            <a:r>
              <a:rPr lang="tr-TR" sz="1100" dirty="0" err="1">
                <a:latin typeface="Consolas" panose="020B0609020204030204" pitchFamily="49" charset="0"/>
              </a:rPr>
              <a:t>1fr</a:t>
            </a:r>
            <a:r>
              <a:rPr lang="tr-TR" sz="1100" dirty="0"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/* Ekran 480px'den küçükse (Telefon): Tek sütun yap */</a:t>
            </a:r>
          </a:p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@media (</a:t>
            </a:r>
            <a:r>
              <a:rPr lang="tr-TR" sz="1100" dirty="0" err="1">
                <a:latin typeface="Consolas" panose="020B0609020204030204" pitchFamily="49" charset="0"/>
              </a:rPr>
              <a:t>max-width</a:t>
            </a:r>
            <a:r>
              <a:rPr lang="tr-TR" sz="1100" dirty="0">
                <a:latin typeface="Consolas" panose="020B0609020204030204" pitchFamily="49" charset="0"/>
              </a:rPr>
              <a:t>: 480px) {</a:t>
            </a:r>
          </a:p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  .galeri { grid-</a:t>
            </a:r>
            <a:r>
              <a:rPr lang="tr-TR" sz="1100" dirty="0" err="1">
                <a:latin typeface="Consolas" panose="020B0609020204030204" pitchFamily="49" charset="0"/>
              </a:rPr>
              <a:t>template</a:t>
            </a:r>
            <a:r>
              <a:rPr lang="tr-TR" sz="1100" dirty="0">
                <a:latin typeface="Consolas" panose="020B0609020204030204" pitchFamily="49" charset="0"/>
              </a:rPr>
              <a:t>-</a:t>
            </a:r>
            <a:r>
              <a:rPr lang="tr-TR" sz="1100" dirty="0" err="1">
                <a:latin typeface="Consolas" panose="020B0609020204030204" pitchFamily="49" charset="0"/>
              </a:rPr>
              <a:t>columns</a:t>
            </a:r>
            <a:r>
              <a:rPr lang="tr-TR" sz="1100" dirty="0">
                <a:latin typeface="Consolas" panose="020B0609020204030204" pitchFamily="49" charset="0"/>
              </a:rPr>
              <a:t>: 1fr; }</a:t>
            </a:r>
          </a:p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2EBE4-0F5F-C9E1-8062-5202FD9BE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Sabit piksel (</a:t>
            </a:r>
            <a:r>
              <a:rPr lang="tr-TR" dirty="0" err="1"/>
              <a:t>px</a:t>
            </a:r>
            <a:r>
              <a:rPr lang="tr-TR" dirty="0"/>
              <a:t>) değerleri yerine yüzdelik (%) veya yeni nesil birimler (</a:t>
            </a:r>
            <a:r>
              <a:rPr lang="tr-TR" dirty="0" err="1"/>
              <a:t>fr</a:t>
            </a:r>
            <a:r>
              <a:rPr lang="tr-TR" dirty="0"/>
              <a:t>, </a:t>
            </a:r>
            <a:r>
              <a:rPr lang="tr-TR" dirty="0" err="1"/>
              <a:t>vw</a:t>
            </a:r>
            <a:r>
              <a:rPr lang="tr-TR" dirty="0"/>
              <a:t>, </a:t>
            </a:r>
            <a:r>
              <a:rPr lang="tr-TR" dirty="0" err="1"/>
              <a:t>vh</a:t>
            </a:r>
            <a:r>
              <a:rPr lang="tr-TR" dirty="0"/>
              <a:t>) kullanılır. Bu sayede öğeler ekran genişledikçe genişler, daraldıkça daralır.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CSS’e</a:t>
            </a:r>
            <a:r>
              <a:rPr lang="tr-TR" dirty="0"/>
              <a:t> ekran boyutuna dayalı, stilleri uygula talimatını vermemizi sağlar.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7E3BE-A3D4-F6A2-0FBC-76F2DD1E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37F55A-D849-487D-AD41-D5F73529ED98}" type="slidenum">
              <a:rPr lang="tr-TR" altLang="en-US" smtClean="0"/>
              <a:pPr>
                <a:defRPr/>
              </a:pPr>
              <a:t>25</a:t>
            </a:fld>
            <a:endParaRPr lang="tr-TR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BC5BDE-9001-1C77-8CBA-C5B7099ED98A}"/>
              </a:ext>
            </a:extLst>
          </p:cNvPr>
          <p:cNvSpPr txBox="1">
            <a:spLocks/>
          </p:cNvSpPr>
          <p:nvPr/>
        </p:nvSpPr>
        <p:spPr bwMode="auto">
          <a:xfrm>
            <a:off x="3884612" y="3645024"/>
            <a:ext cx="4629150" cy="2657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tr-TR" sz="1100">
                <a:latin typeface="Consolas" panose="020B0609020204030204" pitchFamily="49" charset="0"/>
              </a:rPr>
              <a:t>/* Masaüstü için varsayılan: 3 sütun */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sz="1100">
                <a:latin typeface="Consolas" panose="020B0609020204030204" pitchFamily="49" charset="0"/>
              </a:rPr>
              <a:t>.galeri { display: grid; grid-template-columns: 1fr 1fr 1fr; }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tr-TR" sz="1100"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sz="1100">
                <a:latin typeface="Consolas" panose="020B0609020204030204" pitchFamily="49" charset="0"/>
              </a:rPr>
              <a:t>/* Ekran 768px'den küçükse (Tablet): 2 sütun yap */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sz="1100">
                <a:latin typeface="Consolas" panose="020B0609020204030204" pitchFamily="49" charset="0"/>
              </a:rPr>
              <a:t>@media (max-width: 768px)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sz="1100">
                <a:latin typeface="Consolas" panose="020B0609020204030204" pitchFamily="49" charset="0"/>
              </a:rPr>
              <a:t>  .galeri { grid-template-columns: 1fr 1fr;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sz="1100"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tr-TR" sz="1100"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sz="1100">
                <a:latin typeface="Consolas" panose="020B0609020204030204" pitchFamily="49" charset="0"/>
              </a:rPr>
              <a:t>/* Ekran 480px'den küçükse (Telefon): Tek sütun yap */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sz="1100">
                <a:latin typeface="Consolas" panose="020B0609020204030204" pitchFamily="49" charset="0"/>
              </a:rPr>
              <a:t>@media (max-width: 480px)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sz="1100">
                <a:latin typeface="Consolas" panose="020B0609020204030204" pitchFamily="49" charset="0"/>
              </a:rPr>
              <a:t>  .galeri { grid-template-columns: 1fr;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sz="1100">
                <a:latin typeface="Consolas" panose="020B0609020204030204" pitchFamily="49" charset="0"/>
              </a:rPr>
              <a:t>}</a:t>
            </a:r>
            <a:endParaRPr lang="tr-TR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590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282708-E833-7BA8-EE0D-C9E01C3C6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Esnek Görseller (</a:t>
            </a:r>
            <a:r>
              <a:rPr lang="tr-TR" dirty="0" err="1"/>
              <a:t>Flexible</a:t>
            </a:r>
            <a:r>
              <a:rPr lang="tr-TR" dirty="0"/>
              <a:t> </a:t>
            </a:r>
            <a:r>
              <a:rPr lang="tr-TR" dirty="0" err="1"/>
              <a:t>Images</a:t>
            </a:r>
            <a:r>
              <a:rPr lang="tr-TR" dirty="0"/>
              <a:t>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F154B5-026E-6048-7CEA-9D2C2AED21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tr-TR" b="1" dirty="0"/>
              <a:t>Önce Mobil" (Mobile-First) Yaklaşımı</a:t>
            </a:r>
          </a:p>
          <a:p>
            <a:r>
              <a:rPr lang="tr-TR" dirty="0"/>
              <a:t>Tasarımı önce en küçük ekran (telefon) için kodlayıp, ekran büyüdükçe ek özellikler ekleme yöntemidir. </a:t>
            </a:r>
          </a:p>
          <a:p>
            <a:r>
              <a:rPr lang="tr-TR" dirty="0"/>
              <a:t>Mobil kullanımı daha yaygın olduğu için, en iyi uygulama yönetim olarak kabul edilir. </a:t>
            </a:r>
          </a:p>
          <a:p>
            <a:r>
              <a:rPr lang="tr-TR" b="1" dirty="0"/>
              <a:t>Neden Önemli?</a:t>
            </a:r>
          </a:p>
          <a:p>
            <a:pPr lvl="1"/>
            <a:r>
              <a:rPr lang="tr-TR" b="1" dirty="0"/>
              <a:t>Kullanıcı Deneyimi (UX):</a:t>
            </a:r>
            <a:r>
              <a:rPr lang="tr-TR" dirty="0"/>
              <a:t> Kullanıcılar mobilde sayfayı sağa sola kaydırmak veya metni okumak için </a:t>
            </a:r>
            <a:r>
              <a:rPr lang="tr-TR" dirty="0" err="1"/>
              <a:t>zoom</a:t>
            </a:r>
            <a:r>
              <a:rPr lang="tr-TR" dirty="0"/>
              <a:t> yapmak zorunda kalmaz.</a:t>
            </a:r>
          </a:p>
          <a:p>
            <a:pPr lvl="1"/>
            <a:r>
              <a:rPr lang="tr-TR" b="1" dirty="0"/>
              <a:t>SEO:</a:t>
            </a:r>
            <a:r>
              <a:rPr lang="tr-TR" dirty="0"/>
              <a:t> Google, duyarlı siteleri arama sonuçlarında daha yukarıya taşır.</a:t>
            </a:r>
          </a:p>
          <a:p>
            <a:pPr lvl="1"/>
            <a:r>
              <a:rPr lang="tr-TR" b="1" dirty="0"/>
              <a:t>Maliyet:</a:t>
            </a:r>
            <a:r>
              <a:rPr lang="tr-TR" dirty="0"/>
              <a:t> Farklı cihazlar için ayrı ayrı (mobil site, masaüstü site) kod yazmak yerine tek bir kod tabanıyla her yeri yönetirsiniz.</a:t>
            </a:r>
          </a:p>
          <a:p>
            <a:endParaRPr lang="tr-T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9D23A4-22D2-3183-06FA-CCDBA28AB6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tr-TR" b="1" dirty="0" err="1"/>
              <a:t>Viewport</a:t>
            </a:r>
            <a:r>
              <a:rPr lang="tr-TR" b="1" dirty="0"/>
              <a:t> Meta Etiketi</a:t>
            </a:r>
          </a:p>
          <a:p>
            <a:r>
              <a:rPr lang="tr-TR" dirty="0">
                <a:solidFill>
                  <a:srgbClr val="FF0000"/>
                </a:solidFill>
              </a:rPr>
              <a:t>Duyarlı tasarımın çalışması için HTML dosyanızın &lt;</a:t>
            </a:r>
            <a:r>
              <a:rPr lang="tr-TR" dirty="0" err="1">
                <a:solidFill>
                  <a:srgbClr val="FF0000"/>
                </a:solidFill>
              </a:rPr>
              <a:t>head</a:t>
            </a:r>
            <a:r>
              <a:rPr lang="tr-TR" dirty="0">
                <a:solidFill>
                  <a:srgbClr val="FF0000"/>
                </a:solidFill>
              </a:rPr>
              <a:t>&gt; kısmında şu satır mutlaka olmalıdır!!</a:t>
            </a:r>
          </a:p>
          <a:p>
            <a:r>
              <a:rPr lang="tr-TR" dirty="0"/>
              <a:t>Bu etiket, tarayıcıya sayfa genişliğini cihazın kendi genişliğine göre ayarlamasını söyler.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sz="2500" dirty="0">
                <a:solidFill>
                  <a:srgbClr val="C00000"/>
                </a:solidFill>
                <a:latin typeface="Consolas" panose="020B0609020204030204" pitchFamily="49" charset="0"/>
              </a:rPr>
              <a:t>&lt;meta name="viewport" content="width=device-width, initial-scale=1.0"&gt;</a:t>
            </a:r>
            <a:endParaRPr lang="tr-TR" sz="25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63870-B124-9CEA-1634-E42B22CB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37F55A-D849-487D-AD41-D5F73529ED98}" type="slidenum">
              <a:rPr lang="tr-TR" altLang="en-US" smtClean="0"/>
              <a:pPr>
                <a:defRPr/>
              </a:pPr>
              <a:t>26</a:t>
            </a:fld>
            <a:endParaRPr lang="tr-T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45C137-CA6E-D288-18B1-927BB95F7EFE}"/>
              </a:ext>
            </a:extLst>
          </p:cNvPr>
          <p:cNvSpPr txBox="1"/>
          <p:nvPr/>
        </p:nvSpPr>
        <p:spPr>
          <a:xfrm>
            <a:off x="827584" y="5879068"/>
            <a:ext cx="39785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img</a:t>
            </a:r>
            <a:r>
              <a:rPr lang="en-US" sz="1400" dirty="0">
                <a:latin typeface="Consolas" panose="020B0609020204030204" pitchFamily="49" charset="0"/>
              </a:rPr>
              <a:t> { </a:t>
            </a:r>
            <a:endParaRPr lang="tr-TR" sz="1400" dirty="0">
              <a:latin typeface="Consolas" panose="020B0609020204030204" pitchFamily="49" charset="0"/>
            </a:endParaRPr>
          </a:p>
          <a:p>
            <a:r>
              <a:rPr lang="tr-TR" sz="1400" dirty="0">
                <a:latin typeface="Consolas" panose="020B0609020204030204" pitchFamily="49" charset="0"/>
              </a:rPr>
              <a:t>      </a:t>
            </a:r>
            <a:r>
              <a:rPr lang="en-US" sz="1400" dirty="0">
                <a:latin typeface="Consolas" panose="020B0609020204030204" pitchFamily="49" charset="0"/>
              </a:rPr>
              <a:t>max-width: 100%; </a:t>
            </a:r>
            <a:endParaRPr lang="tr-TR" sz="1400" dirty="0">
              <a:latin typeface="Consolas" panose="020B0609020204030204" pitchFamily="49" charset="0"/>
            </a:endParaRPr>
          </a:p>
          <a:p>
            <a:r>
              <a:rPr lang="tr-TR" sz="1400" dirty="0">
                <a:latin typeface="Consolas" panose="020B0609020204030204" pitchFamily="49" charset="0"/>
              </a:rPr>
              <a:t>      </a:t>
            </a:r>
            <a:r>
              <a:rPr lang="en-US" sz="1400" dirty="0">
                <a:latin typeface="Consolas" panose="020B0609020204030204" pitchFamily="49" charset="0"/>
              </a:rPr>
              <a:t>height: auto; }</a:t>
            </a:r>
            <a:endParaRPr lang="tr-TR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290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39C15E-A48C-7234-9E9D-EC0082AC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</a:t>
            </a:r>
            <a:r>
              <a:rPr lang="en-US" dirty="0" err="1"/>
              <a:t>kuma</a:t>
            </a:r>
            <a:r>
              <a:rPr lang="en-US" dirty="0"/>
              <a:t> </a:t>
            </a:r>
            <a:r>
              <a:rPr lang="en-US" dirty="0" err="1"/>
              <a:t>Listesi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Linkler</a:t>
            </a:r>
            <a:endParaRPr lang="tr-T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BAA482-10B6-B2E2-C1D9-2BB28FC46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tr-TR" dirty="0"/>
              <a:t>CSS – Türkçe: </a:t>
            </a:r>
            <a:r>
              <a:rPr lang="tr-TR" dirty="0">
                <a:hlinkClick r:id="rId2"/>
              </a:rPr>
              <a:t>https://www.yusufsezer.com.tr/kategori/css/</a:t>
            </a:r>
          </a:p>
          <a:p>
            <a:r>
              <a:rPr lang="tr-TR" dirty="0"/>
              <a:t>CSS Grid yapısı – Türkçe: </a:t>
            </a:r>
            <a:r>
              <a:rPr lang="tr-TR" dirty="0">
                <a:hlinkClick r:id="rId2"/>
              </a:rPr>
              <a:t>https://www.yusufsezer.com.tr/css3-grid/</a:t>
            </a:r>
            <a:endParaRPr lang="tr-TR" dirty="0"/>
          </a:p>
          <a:p>
            <a:r>
              <a:rPr lang="tr-TR" dirty="0"/>
              <a:t>CSS </a:t>
            </a:r>
            <a:r>
              <a:rPr lang="tr-TR" dirty="0" err="1"/>
              <a:t>flexbox</a:t>
            </a:r>
            <a:r>
              <a:rPr lang="tr-TR" dirty="0"/>
              <a:t> yapısı- Türkçe: </a:t>
            </a:r>
            <a:r>
              <a:rPr lang="tr-TR" dirty="0">
                <a:hlinkClick r:id="rId3"/>
              </a:rPr>
              <a:t>https://www.yusufsezer.com.tr/css3-flexbox/</a:t>
            </a:r>
            <a:endParaRPr lang="tr-TR" dirty="0"/>
          </a:p>
          <a:p>
            <a:r>
              <a:rPr lang="tr-TR" dirty="0"/>
              <a:t>CSS – İngilizce – bol örnekli: </a:t>
            </a:r>
            <a:r>
              <a:rPr lang="tr-TR" dirty="0">
                <a:hlinkClick r:id="rId4"/>
              </a:rPr>
              <a:t>https://www.w3schools.com/css/</a:t>
            </a:r>
            <a:endParaRPr lang="tr-TR" dirty="0"/>
          </a:p>
          <a:p>
            <a:r>
              <a:rPr lang="tr-TR" dirty="0"/>
              <a:t>HTML – İngilizce – bol örnekli: </a:t>
            </a:r>
            <a:r>
              <a:rPr lang="tr-TR" dirty="0">
                <a:hlinkClick r:id="rId5"/>
              </a:rPr>
              <a:t>https://www.w3schools.com/html/</a:t>
            </a:r>
            <a:endParaRPr lang="en-US" dirty="0"/>
          </a:p>
          <a:p>
            <a:r>
              <a:rPr lang="tr-TR" dirty="0">
                <a:hlinkClick r:id="rId6"/>
              </a:rPr>
              <a:t>https://htmlcheatsheet.com/</a:t>
            </a:r>
            <a:endParaRPr lang="en-US" dirty="0"/>
          </a:p>
          <a:p>
            <a:r>
              <a:rPr lang="en-US" dirty="0"/>
              <a:t>Git </a:t>
            </a:r>
            <a:r>
              <a:rPr lang="en-US" dirty="0" err="1"/>
              <a:t>eğitimi</a:t>
            </a:r>
            <a:r>
              <a:rPr lang="en-US" dirty="0"/>
              <a:t>: </a:t>
            </a:r>
            <a:r>
              <a:rPr lang="tr-TR" dirty="0">
                <a:hlinkClick r:id="rId7"/>
              </a:rPr>
              <a:t>https://www.youtube.com/watch?v=rWG70T7fePg</a:t>
            </a:r>
            <a:endParaRPr lang="en-US" dirty="0"/>
          </a:p>
          <a:p>
            <a:r>
              <a:rPr lang="en-US" dirty="0"/>
              <a:t>CSS</a:t>
            </a:r>
          </a:p>
          <a:p>
            <a:pPr lvl="1"/>
            <a:r>
              <a:rPr lang="tr-TR" dirty="0">
                <a:hlinkClick r:id="rId8"/>
              </a:rPr>
              <a:t>https://css-tricks.com/</a:t>
            </a:r>
            <a:endParaRPr lang="en-US" dirty="0"/>
          </a:p>
          <a:p>
            <a:pPr lvl="1"/>
            <a:r>
              <a:rPr lang="en-US" dirty="0">
                <a:hlinkClick r:id="rId9"/>
              </a:rPr>
              <a:t>https://flexboxfroggy.com/#tr</a:t>
            </a:r>
            <a:endParaRPr lang="en-US" dirty="0"/>
          </a:p>
          <a:p>
            <a:r>
              <a:rPr lang="en-US" dirty="0"/>
              <a:t>https://codepen.io/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AF0E5-F616-9A1B-2E49-B245A9182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37F55A-D849-487D-AD41-D5F73529ED98}" type="slidenum">
              <a:rPr lang="tr-TR" altLang="en-US" smtClean="0"/>
              <a:pPr>
                <a:defRPr/>
              </a:pPr>
              <a:t>27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779617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28C69-FD35-1336-E9C9-E393B4AAA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GİTHUB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25F17-24E5-45E2-F576-FCA00D0F3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https://github.com/vgungor/js-react-ders-kod-repo</a:t>
            </a:r>
            <a:r>
              <a:rPr lang="en-US" dirty="0"/>
              <a:t>  </a:t>
            </a:r>
          </a:p>
          <a:p>
            <a:pPr lvl="1"/>
            <a:r>
              <a:rPr lang="tr-TR" dirty="0"/>
              <a:t>html-css-</a:t>
            </a:r>
            <a:r>
              <a:rPr lang="tr-TR" dirty="0" err="1"/>
              <a:t>slide</a:t>
            </a:r>
            <a:r>
              <a:rPr lang="tr-TR" dirty="0"/>
              <a:t>-</a:t>
            </a:r>
            <a:r>
              <a:rPr lang="tr-TR" dirty="0" err="1"/>
              <a:t>codes</a:t>
            </a:r>
            <a:endParaRPr lang="en-US" dirty="0"/>
          </a:p>
          <a:p>
            <a:pPr lvl="1"/>
            <a:r>
              <a:rPr lang="tr-TR" dirty="0"/>
              <a:t>h1_profile_cards</a:t>
            </a:r>
            <a:endParaRPr lang="en-US" dirty="0"/>
          </a:p>
          <a:p>
            <a:pPr lvl="1"/>
            <a:r>
              <a:rPr lang="tr-TR" dirty="0"/>
              <a:t>h1_responsive_cards</a:t>
            </a:r>
            <a:endParaRPr lang="en-US" dirty="0"/>
          </a:p>
          <a:p>
            <a:pPr lvl="1"/>
            <a:r>
              <a:rPr lang="tr-TR" dirty="0"/>
              <a:t>h2_personal_page</a:t>
            </a:r>
            <a:endParaRPr lang="en-US" dirty="0"/>
          </a:p>
          <a:p>
            <a:pPr lvl="1"/>
            <a:r>
              <a:rPr lang="tr-TR" dirty="0"/>
              <a:t>h2_photo_gallery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8236D-EAA1-18BC-4E00-D4A1CBF1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28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122704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16413-3B6C-D500-B4BB-6E3C57369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Derste</a:t>
            </a:r>
            <a:r>
              <a:rPr lang="en-US" dirty="0"/>
              <a:t> </a:t>
            </a:r>
            <a:r>
              <a:rPr lang="en-US" dirty="0" err="1"/>
              <a:t>Proje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EE1D0-0CF3-F776-1AFB-42C1B92CD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tr-TR" sz="3500" dirty="0"/>
              <a:t>Aşağıdaki özelliklerin tamamını içeren tek bir index.html dosyası oluşturun:</a:t>
            </a:r>
            <a:endParaRPr lang="en-US" sz="3500" dirty="0"/>
          </a:p>
          <a:p>
            <a:pPr marL="180975" indent="-180975"/>
            <a:r>
              <a:rPr lang="en-US" sz="3500" dirty="0"/>
              <a:t>1. </a:t>
            </a:r>
            <a:r>
              <a:rPr lang="tr-TR" sz="3500" dirty="0"/>
              <a:t>Bölüm: Yapı ve İçerik </a:t>
            </a:r>
            <a:endParaRPr lang="en-US" sz="3500" dirty="0"/>
          </a:p>
          <a:p>
            <a:pPr marL="542925" lvl="1" indent="-193675"/>
            <a:r>
              <a:rPr lang="tr-TR" sz="2800" dirty="0"/>
              <a:t>Sayfanın en üstünde uygun bir başlık (&lt;h1&gt;) ve kısa bir tanıtım paragrafı (&lt;p&gt;) olsun.</a:t>
            </a:r>
            <a:endParaRPr lang="en-US" sz="2800" dirty="0"/>
          </a:p>
          <a:p>
            <a:pPr marL="542925" lvl="1" indent="-193675"/>
            <a:r>
              <a:rPr lang="tr-TR" sz="2800" dirty="0"/>
              <a:t>"Yeteneklerim" başlığı altında en az 3 maddelik bir sıralı liste (&lt;ol&gt;) oluşturun.</a:t>
            </a:r>
            <a:endParaRPr lang="en-US" sz="2800" dirty="0"/>
          </a:p>
          <a:p>
            <a:pPr marL="542925" lvl="1" indent="-193675"/>
            <a:r>
              <a:rPr lang="tr-TR" sz="2800" dirty="0"/>
              <a:t>"Eğitim Bilgilerim" başlığı altında; Okul Adı, Bölüm ve Yıl bilgilerini içeren bir tablo (&lt;</a:t>
            </a:r>
            <a:r>
              <a:rPr lang="tr-TR" sz="2800" dirty="0" err="1"/>
              <a:t>table</a:t>
            </a:r>
            <a:r>
              <a:rPr lang="tr-TR" sz="2800" dirty="0"/>
              <a:t>&gt;) yapın.</a:t>
            </a:r>
            <a:endParaRPr lang="en-US" sz="2800" dirty="0"/>
          </a:p>
          <a:p>
            <a:pPr marL="180975" indent="-180975"/>
            <a:r>
              <a:rPr lang="tr-TR" sz="3500" dirty="0"/>
              <a:t>2. Bölüm:</a:t>
            </a:r>
            <a:r>
              <a:rPr lang="en-US" sz="3500" dirty="0"/>
              <a:t> </a:t>
            </a:r>
            <a:r>
              <a:rPr lang="tr-TR" sz="3500" dirty="0"/>
              <a:t>İletişim Formu</a:t>
            </a:r>
            <a:r>
              <a:rPr lang="en-US" sz="3500" dirty="0"/>
              <a:t>; Bir form (&lt;form&gt;) </a:t>
            </a:r>
            <a:r>
              <a:rPr lang="en-US" sz="3500" dirty="0" err="1"/>
              <a:t>oluşturun</a:t>
            </a:r>
            <a:r>
              <a:rPr lang="en-US" sz="3500" dirty="0"/>
              <a:t>. </a:t>
            </a:r>
            <a:r>
              <a:rPr lang="en-US" sz="3500" dirty="0" err="1"/>
              <a:t>İçinde</a:t>
            </a:r>
            <a:r>
              <a:rPr lang="en-US" sz="3500" dirty="0"/>
              <a:t> </a:t>
            </a:r>
            <a:r>
              <a:rPr lang="en-US" sz="3500" dirty="0" err="1"/>
              <a:t>şunlar</a:t>
            </a:r>
            <a:r>
              <a:rPr lang="en-US" sz="3500" dirty="0"/>
              <a:t> </a:t>
            </a:r>
            <a:r>
              <a:rPr lang="en-US" sz="3500" dirty="0" err="1"/>
              <a:t>olmalı</a:t>
            </a:r>
            <a:r>
              <a:rPr lang="en-US" sz="3500" dirty="0"/>
              <a:t>:</a:t>
            </a:r>
          </a:p>
          <a:p>
            <a:pPr marL="542925" lvl="1" indent="-193675"/>
            <a:r>
              <a:rPr lang="en-US" sz="2800" dirty="0" err="1"/>
              <a:t>Adınız</a:t>
            </a:r>
            <a:r>
              <a:rPr lang="en-US" sz="2800" dirty="0"/>
              <a:t> </a:t>
            </a:r>
            <a:r>
              <a:rPr lang="en-US" sz="2800" dirty="0" err="1"/>
              <a:t>için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metin</a:t>
            </a:r>
            <a:r>
              <a:rPr lang="en-US" sz="2800" dirty="0"/>
              <a:t> </a:t>
            </a:r>
            <a:r>
              <a:rPr lang="en-US" sz="2800" dirty="0" err="1"/>
              <a:t>kutusu</a:t>
            </a:r>
            <a:r>
              <a:rPr lang="en-US" sz="2800" dirty="0"/>
              <a:t> (type="text").</a:t>
            </a:r>
          </a:p>
          <a:p>
            <a:pPr marL="542925" lvl="1" indent="-193675"/>
            <a:r>
              <a:rPr lang="en-US" sz="2800" dirty="0" err="1"/>
              <a:t>Şifre</a:t>
            </a:r>
            <a:r>
              <a:rPr lang="en-US" sz="2800" dirty="0"/>
              <a:t> </a:t>
            </a:r>
            <a:r>
              <a:rPr lang="en-US" sz="2800" dirty="0" err="1"/>
              <a:t>için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şifre</a:t>
            </a:r>
            <a:r>
              <a:rPr lang="en-US" sz="2800" dirty="0"/>
              <a:t> </a:t>
            </a:r>
            <a:r>
              <a:rPr lang="en-US" sz="2800" dirty="0" err="1"/>
              <a:t>alanı</a:t>
            </a:r>
            <a:r>
              <a:rPr lang="en-US" sz="2800" dirty="0"/>
              <a:t> (type="password").</a:t>
            </a:r>
          </a:p>
          <a:p>
            <a:pPr marL="542925" lvl="1" indent="-193675"/>
            <a:r>
              <a:rPr lang="en-US" sz="2800" dirty="0" err="1"/>
              <a:t>Şehir</a:t>
            </a:r>
            <a:r>
              <a:rPr lang="en-US" sz="2800" dirty="0"/>
              <a:t> </a:t>
            </a:r>
            <a:r>
              <a:rPr lang="en-US" sz="2800" dirty="0" err="1"/>
              <a:t>seçimi</a:t>
            </a:r>
            <a:r>
              <a:rPr lang="en-US" sz="2800" dirty="0"/>
              <a:t> </a:t>
            </a:r>
            <a:r>
              <a:rPr lang="en-US" sz="2800" dirty="0" err="1"/>
              <a:t>için</a:t>
            </a:r>
            <a:r>
              <a:rPr lang="en-US" sz="2800" dirty="0"/>
              <a:t> radio </a:t>
            </a:r>
            <a:r>
              <a:rPr lang="en-US" sz="2800" dirty="0" err="1"/>
              <a:t>butonları</a:t>
            </a:r>
            <a:r>
              <a:rPr lang="en-US" sz="2800" dirty="0"/>
              <a:t> </a:t>
            </a:r>
            <a:r>
              <a:rPr lang="en-US" sz="2800" dirty="0" err="1"/>
              <a:t>veya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date (</a:t>
            </a:r>
            <a:r>
              <a:rPr lang="en-US" sz="2800" dirty="0" err="1"/>
              <a:t>tarih</a:t>
            </a:r>
            <a:r>
              <a:rPr lang="en-US" sz="2800" dirty="0"/>
              <a:t>) </a:t>
            </a:r>
            <a:r>
              <a:rPr lang="en-US" sz="2800" dirty="0" err="1"/>
              <a:t>seçici</a:t>
            </a:r>
            <a:r>
              <a:rPr lang="en-US" sz="2800" dirty="0"/>
              <a:t>.</a:t>
            </a:r>
          </a:p>
          <a:p>
            <a:pPr marL="542925" lvl="1" indent="-193675"/>
            <a:r>
              <a:rPr lang="en-US" sz="2800" dirty="0" err="1"/>
              <a:t>Formu</a:t>
            </a:r>
            <a:r>
              <a:rPr lang="en-US" sz="2800" dirty="0"/>
              <a:t> </a:t>
            </a:r>
            <a:r>
              <a:rPr lang="en-US" sz="2800" dirty="0" err="1"/>
              <a:t>temizlemek</a:t>
            </a:r>
            <a:r>
              <a:rPr lang="en-US" sz="2800" dirty="0"/>
              <a:t> </a:t>
            </a:r>
            <a:r>
              <a:rPr lang="en-US" sz="2800" dirty="0" err="1"/>
              <a:t>için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reset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göndermek</a:t>
            </a:r>
            <a:r>
              <a:rPr lang="en-US" sz="2800" dirty="0"/>
              <a:t> </a:t>
            </a:r>
            <a:r>
              <a:rPr lang="en-US" sz="2800" dirty="0" err="1"/>
              <a:t>için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submit </a:t>
            </a:r>
            <a:r>
              <a:rPr lang="en-US" sz="2800" dirty="0" err="1"/>
              <a:t>butonu</a:t>
            </a:r>
            <a:r>
              <a:rPr lang="en-US" sz="2800" dirty="0"/>
              <a:t>.</a:t>
            </a:r>
          </a:p>
          <a:p>
            <a:pPr marL="180975" indent="-180975"/>
            <a:r>
              <a:rPr lang="en-US" sz="3500" dirty="0"/>
              <a:t>3. </a:t>
            </a:r>
            <a:r>
              <a:rPr lang="en-US" sz="3500" dirty="0" err="1"/>
              <a:t>Bölüm</a:t>
            </a:r>
            <a:r>
              <a:rPr lang="en-US" sz="3500" dirty="0"/>
              <a:t>: </a:t>
            </a:r>
            <a:r>
              <a:rPr lang="tr-TR" sz="3500" dirty="0"/>
              <a:t>Tasarım ve </a:t>
            </a:r>
            <a:r>
              <a:rPr lang="tr-TR" sz="3500" dirty="0" err="1"/>
              <a:t>Responsive</a:t>
            </a:r>
            <a:endParaRPr lang="en-US" sz="3500" dirty="0"/>
          </a:p>
          <a:p>
            <a:pPr marL="542925" lvl="1" indent="-193675"/>
            <a:r>
              <a:rPr lang="tr-TR" sz="2800" dirty="0"/>
              <a:t>Tüm sayfaya uygulanacak bir </a:t>
            </a:r>
            <a:r>
              <a:rPr lang="tr-TR" sz="2800" b="1" dirty="0"/>
              <a:t>evrensel seçici</a:t>
            </a:r>
            <a:r>
              <a:rPr lang="tr-TR" sz="2800" dirty="0"/>
              <a:t> (*) ile </a:t>
            </a:r>
            <a:r>
              <a:rPr lang="tr-TR" sz="2800" dirty="0" err="1"/>
              <a:t>margin</a:t>
            </a:r>
            <a:r>
              <a:rPr lang="tr-TR" sz="2800" dirty="0"/>
              <a:t> ve </a:t>
            </a:r>
            <a:r>
              <a:rPr lang="tr-TR" sz="2800" dirty="0" err="1"/>
              <a:t>padding</a:t>
            </a:r>
            <a:r>
              <a:rPr lang="tr-TR" sz="2800" dirty="0"/>
              <a:t> değerlerini sıfırlayın.</a:t>
            </a:r>
            <a:endParaRPr lang="en-US" sz="2800" dirty="0"/>
          </a:p>
          <a:p>
            <a:pPr marL="542925" lvl="1" indent="-193675"/>
            <a:r>
              <a:rPr lang="tr-TR" sz="2800" dirty="0"/>
              <a:t>Bir </a:t>
            </a:r>
            <a:r>
              <a:rPr lang="tr-TR" sz="2800" b="1" dirty="0"/>
              <a:t>ID seçicisi</a:t>
            </a:r>
            <a:r>
              <a:rPr lang="tr-TR" sz="2800" dirty="0"/>
              <a:t> kullanarak ana başlığın rengini değiştirin.</a:t>
            </a:r>
            <a:endParaRPr lang="en-US" sz="2800" dirty="0"/>
          </a:p>
          <a:p>
            <a:pPr marL="542925" lvl="1" indent="-193675"/>
            <a:r>
              <a:rPr lang="tr-TR" sz="2800" dirty="0"/>
              <a:t>Form butonuna bir </a:t>
            </a:r>
            <a:r>
              <a:rPr lang="tr-TR" sz="2800" b="1" dirty="0"/>
              <a:t>Class</a:t>
            </a:r>
            <a:r>
              <a:rPr lang="tr-TR" sz="2800" dirty="0"/>
              <a:t> atayın ve farenin üzerine gelindiğinde (:</a:t>
            </a:r>
            <a:r>
              <a:rPr lang="tr-TR" sz="2800" dirty="0" err="1"/>
              <a:t>hover</a:t>
            </a:r>
            <a:r>
              <a:rPr lang="tr-TR" sz="2800" dirty="0"/>
              <a:t>) renginin değişmesini sağlayın.</a:t>
            </a:r>
            <a:endParaRPr lang="en-US" sz="2800" dirty="0"/>
          </a:p>
          <a:p>
            <a:pPr marL="542925" lvl="1" indent="-193675"/>
            <a:r>
              <a:rPr lang="tr-TR" sz="2800" b="1" dirty="0"/>
              <a:t>Media Query</a:t>
            </a:r>
            <a:r>
              <a:rPr lang="tr-TR" sz="2800" dirty="0"/>
              <a:t> kullanarak, sayfa genişliği 768px'den küçük olduğunda (mobil görünüm) yazı boyutlarını küçültün</a:t>
            </a:r>
            <a:endParaRPr lang="en-US" sz="2800" dirty="0"/>
          </a:p>
          <a:p>
            <a:pPr marL="542925" lvl="1" indent="-193675"/>
            <a:r>
              <a:rPr lang="tr-TR" sz="2800" dirty="0"/>
              <a:t>HTML dosyanızın &lt;</a:t>
            </a:r>
            <a:r>
              <a:rPr lang="tr-TR" sz="2800" dirty="0" err="1"/>
              <a:t>head</a:t>
            </a:r>
            <a:r>
              <a:rPr lang="tr-TR" sz="2800" dirty="0"/>
              <a:t>&gt; kısmına mutlaka </a:t>
            </a:r>
            <a:r>
              <a:rPr lang="tr-TR" sz="2800" b="1" dirty="0" err="1"/>
              <a:t>Viewport</a:t>
            </a:r>
            <a:r>
              <a:rPr lang="tr-TR" sz="2800" dirty="0"/>
              <a:t> meta etiketini ekleyin.</a:t>
            </a:r>
            <a:endParaRPr lang="en-US" sz="2800" dirty="0"/>
          </a:p>
          <a:p>
            <a:pPr marL="193675" indent="-193675"/>
            <a:r>
              <a:rPr lang="en-US" sz="3500" dirty="0"/>
              <a:t>4. </a:t>
            </a:r>
            <a:r>
              <a:rPr lang="en-US" sz="3500" dirty="0" err="1"/>
              <a:t>Bölüm</a:t>
            </a:r>
            <a:r>
              <a:rPr lang="en-US" sz="3500" dirty="0"/>
              <a:t>: </a:t>
            </a:r>
            <a:r>
              <a:rPr lang="tr-TR" sz="3500" dirty="0"/>
              <a:t>Multimedya ve Etkileşim</a:t>
            </a:r>
            <a:endParaRPr lang="en-US" sz="3500" dirty="0"/>
          </a:p>
          <a:p>
            <a:pPr marL="542925" lvl="1" indent="-193675"/>
            <a:r>
              <a:rPr lang="tr-TR" sz="2800" dirty="0"/>
              <a:t>Sayfaya bir </a:t>
            </a:r>
            <a:r>
              <a:rPr lang="tr-TR" sz="2800" b="1" dirty="0"/>
              <a:t>ses dosyası</a:t>
            </a:r>
            <a:r>
              <a:rPr lang="tr-TR" sz="2800" dirty="0"/>
              <a:t> (&lt;</a:t>
            </a:r>
            <a:r>
              <a:rPr lang="tr-TR" sz="2800" dirty="0" err="1"/>
              <a:t>audio</a:t>
            </a:r>
            <a:r>
              <a:rPr lang="tr-TR" sz="2800" dirty="0"/>
              <a:t>&gt;) ekleyin ve kontrolleri görünür yapın.</a:t>
            </a:r>
            <a:r>
              <a:rPr lang="en-US" sz="2800" dirty="0"/>
              <a:t> </a:t>
            </a:r>
            <a:r>
              <a:rPr lang="en-US" sz="2800" b="1" dirty="0"/>
              <a:t>VEYA</a:t>
            </a:r>
          </a:p>
          <a:p>
            <a:pPr marL="542925" lvl="1" indent="-193675"/>
            <a:r>
              <a:rPr lang="tr-TR" sz="2800" dirty="0"/>
              <a:t>Bir </a:t>
            </a:r>
            <a:r>
              <a:rPr lang="tr-TR" sz="2800" b="1" dirty="0"/>
              <a:t>YouTube videosunu</a:t>
            </a:r>
            <a:r>
              <a:rPr lang="tr-TR" sz="2800" dirty="0"/>
              <a:t> </a:t>
            </a:r>
            <a:r>
              <a:rPr lang="tr-TR" sz="2800" dirty="0" err="1"/>
              <a:t>iframe</a:t>
            </a:r>
            <a:r>
              <a:rPr lang="tr-TR" sz="2800" dirty="0"/>
              <a:t> kullanarak sayfaya gömün (Daha önce öğrendiğimiz gibi &lt;video&gt; etiketi YouTube linklerini doğrudan açmaz).</a:t>
            </a:r>
            <a:endParaRPr lang="en-US" sz="2800" dirty="0"/>
          </a:p>
          <a:p>
            <a:pPr marL="542925" lvl="1" indent="-193675"/>
            <a:r>
              <a:rPr lang="tr-TR" sz="2800" dirty="0"/>
              <a:t>Bir buton oluşturun ve bu butona tıklandığında (</a:t>
            </a:r>
            <a:r>
              <a:rPr lang="tr-TR" sz="2800" dirty="0" err="1"/>
              <a:t>onclick</a:t>
            </a:r>
            <a:r>
              <a:rPr lang="tr-TR" sz="2800" dirty="0"/>
              <a:t>) ekrana "Hoş geldiniz!" yazan bir </a:t>
            </a:r>
            <a:r>
              <a:rPr lang="tr-TR" sz="2800" b="1" dirty="0"/>
              <a:t>JavaScript uyarısı</a:t>
            </a:r>
            <a:r>
              <a:rPr lang="tr-TR" sz="2800" dirty="0"/>
              <a:t> (</a:t>
            </a:r>
            <a:r>
              <a:rPr lang="tr-TR" sz="2800" dirty="0" err="1"/>
              <a:t>alert</a:t>
            </a:r>
            <a:r>
              <a:rPr lang="tr-TR" sz="2800" dirty="0"/>
              <a:t>) verdirin.</a:t>
            </a:r>
            <a:endParaRPr lang="en-US" sz="2800" dirty="0"/>
          </a:p>
          <a:p>
            <a:pPr marL="863600" lvl="1" indent="-514350"/>
            <a:endParaRPr lang="en-US" sz="2800" dirty="0"/>
          </a:p>
          <a:p>
            <a:pPr marL="0" lvl="1" indent="0">
              <a:buNone/>
            </a:pPr>
            <a:r>
              <a:rPr lang="en-US" sz="2800" dirty="0"/>
              <a:t>ZORUNLU NOT: </a:t>
            </a:r>
            <a:r>
              <a:rPr lang="tr-TR" sz="2800" dirty="0"/>
              <a:t>Kodlarını yazarken her bölümün başına ne yaptığını anlatan Türkçe yorum satırları eklemeyi unutma!</a:t>
            </a:r>
            <a:r>
              <a:rPr lang="en-US" sz="2800" dirty="0"/>
              <a:t> En </a:t>
            </a:r>
            <a:r>
              <a:rPr lang="en-US" sz="2800" dirty="0" err="1"/>
              <a:t>azından</a:t>
            </a:r>
            <a:r>
              <a:rPr lang="en-US" sz="2800" dirty="0"/>
              <a:t> </a:t>
            </a:r>
            <a:r>
              <a:rPr lang="en-US" sz="2800" dirty="0" err="1"/>
              <a:t>blok</a:t>
            </a:r>
            <a:r>
              <a:rPr lang="en-US" sz="2800" dirty="0"/>
              <a:t> </a:t>
            </a:r>
            <a:r>
              <a:rPr lang="en-US" sz="2800" dirty="0" err="1"/>
              <a:t>başına</a:t>
            </a:r>
            <a:endParaRPr lang="en-US" sz="2800" dirty="0"/>
          </a:p>
          <a:p>
            <a:pPr marL="514350" indent="-514350"/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99B26-03F8-5958-017B-A47AD9E2D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29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941880843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Custom 1">
      <a:majorFont>
        <a:latin typeface="Raleway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1590</TotalTime>
  <Words>3945</Words>
  <Application>Microsoft Office PowerPoint</Application>
  <PresentationFormat>On-screen Show (4:3)</PresentationFormat>
  <Paragraphs>452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Calibri</vt:lpstr>
      <vt:lpstr>Consolas</vt:lpstr>
      <vt:lpstr>Raleway</vt:lpstr>
      <vt:lpstr>SegoeUI</vt:lpstr>
      <vt:lpstr>SegoeUI-BoldItalic</vt:lpstr>
      <vt:lpstr>SegoeUI-Italic</vt:lpstr>
      <vt:lpstr>Wingdings</vt:lpstr>
      <vt:lpstr>Network</vt:lpstr>
      <vt:lpstr>HTML / CSS – DUYARLI(RESPONSİVE)</vt:lpstr>
      <vt:lpstr>HTML – Hyper Text Markup Language (Yüksek Metin İşaretleme Dili) </vt:lpstr>
      <vt:lpstr>HTML Sayfası Temel Yapısı</vt:lpstr>
      <vt:lpstr>HTML Etiketleri</vt:lpstr>
      <vt:lpstr>HTML Etiketleri</vt:lpstr>
      <vt:lpstr>HTML Etiketleri</vt:lpstr>
      <vt:lpstr>HTML Etiketleri</vt:lpstr>
      <vt:lpstr>HTML Etiketleri</vt:lpstr>
      <vt:lpstr>HTML Etiketleri</vt:lpstr>
      <vt:lpstr>HTML for action – Javascript Olaylar (Events) bağlantısı</vt:lpstr>
      <vt:lpstr>HTML for action – Javascript Olaylar (Events) bağlantısı - Örnek</vt:lpstr>
      <vt:lpstr>HTML for action – Javascript Olaylar (Events) bağlantısı - Örnek</vt:lpstr>
      <vt:lpstr>HTML Etiketleri</vt:lpstr>
      <vt:lpstr>CSS – Cascade Style Sheet (Basamaklı Stil Sayfaları)</vt:lpstr>
      <vt:lpstr>CSS – Cascade Style Sheet</vt:lpstr>
      <vt:lpstr>CSS Nasıl Uygulanır?</vt:lpstr>
      <vt:lpstr>CSS Nasıl Uygulanır?</vt:lpstr>
      <vt:lpstr>CSS Yazım Kuralı (Sözdizimi)</vt:lpstr>
      <vt:lpstr>CSS Seçicileri: ID ve Class (Sınıf) </vt:lpstr>
      <vt:lpstr>CSS Özel Seçicileri: Evrensel Seçici (*) ve Pseudo-class (:atribute)</vt:lpstr>
      <vt:lpstr>CSS Özel Seçicileri: Neden Önemliler?</vt:lpstr>
      <vt:lpstr>Temel CSS özellikleri</vt:lpstr>
      <vt:lpstr>Duyarlı (Responsive) Tasarım</vt:lpstr>
      <vt:lpstr>Duyarlı (Responsive) Tasarım avantajları</vt:lpstr>
      <vt:lpstr>Esnek Izgara Yapısı  (Fluid Grids)</vt:lpstr>
      <vt:lpstr>Esnek Görseller (Flexible Images)</vt:lpstr>
      <vt:lpstr>Okuma Listesi ve Linkler</vt:lpstr>
      <vt:lpstr>GİTHUB</vt:lpstr>
      <vt:lpstr>Derste Proje</vt:lpstr>
    </vt:vector>
  </TitlesOfParts>
  <Company>METUCC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Teknolojileri ve Programla</dc:title>
  <dc:creator>Erman</dc:creator>
  <cp:lastModifiedBy>mustafa volkan gungor</cp:lastModifiedBy>
  <cp:revision>102</cp:revision>
  <dcterms:created xsi:type="dcterms:W3CDTF">2010-04-13T12:22:36Z</dcterms:created>
  <dcterms:modified xsi:type="dcterms:W3CDTF">2026-02-18T08:26:47Z</dcterms:modified>
</cp:coreProperties>
</file>